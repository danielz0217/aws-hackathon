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Daniel" userId="d60262cc-cf4e-4422-9f72-773620537843" providerId="ADAL" clId="{5DFE184C-6C8F-4B02-9190-4EB1D45E8ABC}"/>
    <pc:docChg chg="modSld sldOrd">
      <pc:chgData name="Zhu, Daniel" userId="d60262cc-cf4e-4422-9f72-773620537843" providerId="ADAL" clId="{5DFE184C-6C8F-4B02-9190-4EB1D45E8ABC}" dt="2026-10-23T15:44:45.785" v="1"/>
      <pc:docMkLst>
        <pc:docMk/>
      </pc:docMkLst>
      <pc:sldChg chg="ord">
        <pc:chgData name="Zhu, Daniel" userId="d60262cc-cf4e-4422-9f72-773620537843" providerId="ADAL" clId="{5DFE184C-6C8F-4B02-9190-4EB1D45E8ABC}" dt="2026-10-23T15:44:45.785" v="1"/>
        <pc:sldMkLst>
          <pc:docMk/>
          <pc:sldMk cId="186092396"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proposal, 23 October 2026. No models or AWS services are claimed deployed. The synthetic/report baseline differs from unvalidated independent image analysis. Source: project README and architecture/00–05.</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Layer 2 orchestrates all runtime stages; these bands describe responsibilities rather than independently deployed services. Layer 00 is primarily offline. Nutrition/physio execute after Doctor review and before final generation. Tracing spans all layers. Sources: architecture/00–05.</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diagnostic workers execute in parallel only when relevant. Doctor synthesis checks combined support. Nutrition/physio run only when requested and permitted, then their outputs receive a support check. All workers use the common EvidencePackage. MedGemma and ECG-FM are candidate adapters, not verified deployed models. Sources: architecture/02,03,04.</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allowlisted MedlinePlus/NHLBI reference pages cover BNP, BMP, potassium, ECG, heart-failure diagnosis/symptoms/living, food and activity. Optional MultiCaRe and PTB-XL artifacts need record selection and license review. No datasets downloaded. Textract is optional for scanned tables. Sources: architecture/00; https://docs.aws.amazon.com/textract/latest/dg/how-it-works-analyzing.html</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Accepted initial inputs are text, PNG/JPEG or both. Upload category identifies lab/radiology/ECG; unknown images can use a bounded vision classifier or clarification. Layer 1 does not diagnose or assign executable workers. Sonnet is selected subject to Bedrock account/Region access. Source: architecture/01.</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LangGraph Graph API, one structured Sonnet routing call, fixed worker registry, deterministic fallback. One worker invocation per selected role after batching needs. Explicit gather barriers precede synthesis. Sources: architecture/02; https://github.com/langchain-ai/docs/blob/main/src/oss/langgraph/graph-api.mdx</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Annotated custom reducers for maps keyed by stable record IDs. Pure, deterministic, idempotent merges accept identical replay and reject conflicting payloads under one ID. Clinical disagreements use distinct claim IDs and go to Doctor review. Recovery grant is single-writer. Source: architecture/02 state contract; https://github.com/langchain-ai/docs/blob/main/src/oss/langgraph/graph-api.mdx</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Specialist analysis precedes reference retrieval. Shared OpenSearch hybrid search/RRF, graph traversal and Cohere reranking. Parent expansion preserves contextual qualifications. Retrieval relevance is not clinical confidence. Sources: architecture/03; https://aws.amazon.com/about-aws/whats-new/2025/04/amazon-opensearch-service-opensearch-version-2-19/ https://docs.aws.amazon.com/bedrock/latest/userguide/rerank-supported.html</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hops is a maximum, not a minimum. Supported associations do not imply causation or transitive diagnosis. Only one run-wide recovery grant. One structured call creates paraphrase, step-back and &lt;=150-word HyDE text. HyDE goes only to vector retrieval and never counts as evidence. Sources: architecture/03,05; https://arxiv.org/abs/2212.10496</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is per claim and information need. Runtime preserves existing flags. Decisions: proceed, retrieve_more, clarify, human_review. One initial review and at most one revision after granted retrieval; one conditional later guidance check. Source: architecture/04.</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logical scopes in one shared reference corpus, not separate database services. Primary sources: NHLBI healthy-foods, physical-activity, heart-failure/living-with. General education only until applicable sources and patient context support more. Sources: architecture/00,04; https://www.nhlbi.nih.gov/health/heart-healthy-living/healthy-foods ; https://www.nhlbi.nih.gov/health/heart-healthy-living/physical-activity</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generation receives ReviewedContentBundle only. It introduces no new retrieval or clinical conclusions. Buffer and validate sections before patient-facing delivery; do not present this as unfiltered token streaming. Bedrock ConverseStream supports internal streaming. Sources: architecture/05; https://docs.aws.amazon.com/bedrock/latest/APIReference/API_runtime_ConverseStream.html</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SSE events persist before publish. SQLite journal assigns per-run sequence; reconnect resumes after Last-Event-ID and deduplicates. Node/tool wrappers capture spans; reducers remain pure. Do not claim exactly-once calls. Sources: architecture/05; https://docs.langchain.com/oss/python/langgraph/streaming</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OpenSearch 2.19+ managed domains support configured RRF. Distinguish from Serverless feature availability. Bedrock model access is account/Region dependent. Local graph and SQLite avoid mandatory additional services. Sources: architecture/03; https://aws.amazon.com/about-aws/whats-new/2025/04/amazon-opensearch-service-opensearch-version-2-19/ https://docs.aws.amazon.com/bedrock/latest/userguide/model-card-amazon-titan-text-embeddings-v2.html https://docs.aws.amazon.com/bedrock/latest/userguide/rerank-supported.html https://huggingface.co/google/medgemma-1.5-4b-it https://github.com/bowang-lab/ECG-FM</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data has not yet been generated or downloaded. Architecture is documented, harness is not implemented. Do not imply independent diagnostic image/waveform analysis from report explanation. Sources: project README and architecture/00–05.</a:t>
            </a:r>
          </a:p>
          <a:p>
            <a:endParaRPr/>
          </a:p>
          <a:p>
            <a:r>
              <a:t>Visual key: purple requires a model call; blue is deterministic runtime; teal is data/storage; green is a gate or supported output; amber is optional or paused. All components are proposed architecture unless explicitly stated otherwise.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37D03E3-094A-45E9-B1A8-CF7B6B428AC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A0B8A2F-0773-446F-8522-A731CA04D80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8D810CD-389F-4374-9F17-72603B0EE64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E946D7-774E-4C2A-B66E-7FAF4058976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148E555-14BC-4242-8404-F4D96955101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5D64217-69CC-4601-8D8A-FB60ADC9C72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18862D9-9347-49E5-8010-46FF952B827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EB49A824-70B9-46D5-AD27-0A8BB7E450E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5B8AE0-B759-4EB8-9CD8-DD12E9BE3B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6D65214-45DF-4925-99A5-744CA45006A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852BD7E6-1524-4743-BF7F-9B087E5D4BA3}"/>
              </a:ext>
            </a:extLst>
          </p:cNvPr>
          <p:cNvCxnSpPr>
            <a:stCxn id="4" idx="3"/>
            <a:endCxn id="5" idx="1"/>
          </p:cNvCxnSpPr>
          <p:nvPr/>
        </p:nvCxnSpPr>
        <p:spPr>
          <a:xfrm>
            <a:off x="7620000" y="3238500"/>
            <a:ext cx="1381125" cy="0"/>
          </a:xfrm>
          <a:prstGeom prst="straightConnector1">
            <a:avLst/>
          </a:prstGeom>
          <a:ln w="16193">
            <a:solidFill>
              <a:srgbClr val="66758A"/>
            </a:solidFill>
            <a:prstDash val="solid"/>
            <a:tailEnd type="triangle" w="sm" len="sm"/>
          </a:ln>
        </p:spPr>
      </p:cxnSp>
      <p:cxnSp>
        <p:nvCxnSpPr>
          <p:cNvPr id="6" name="Straight Arrow Connector 5">
            <a:extLst>
              <a:ext uri="{FF2B5EF4-FFF2-40B4-BE49-F238E27FC236}">
                <a16:creationId xmlns:a16="http://schemas.microsoft.com/office/drawing/2014/main" id="{65CFFCA7-0F2A-48AD-90B4-EEDD3DE45268}"/>
              </a:ext>
            </a:extLst>
          </p:cNvPr>
          <p:cNvCxnSpPr>
            <a:stCxn id="3" idx="3"/>
            <a:endCxn id="4" idx="1"/>
          </p:cNvCxnSpPr>
          <p:nvPr/>
        </p:nvCxnSpPr>
        <p:spPr>
          <a:xfrm>
            <a:off x="3190875" y="3238500"/>
            <a:ext cx="1381125" cy="0"/>
          </a:xfrm>
          <a:prstGeom prst="straightConnector1">
            <a:avLst/>
          </a:prstGeom>
          <a:ln w="16193">
            <a:solidFill>
              <a:srgbClr val="66758A"/>
            </a:solidFill>
            <a:prstDash val="solid"/>
            <a:tailEnd type="triangle" w="sm" len="sm"/>
          </a:ln>
        </p:spPr>
      </p:cxnSp>
      <p:sp>
        <p:nvSpPr>
          <p:cNvPr id="22" name="Rectangle 21">
            <a:extLst>
              <a:ext uri="{FF2B5EF4-FFF2-40B4-BE49-F238E27FC236}">
                <a16:creationId xmlns:a16="http://schemas.microsoft.com/office/drawing/2014/main" id="{ED5DA7CB-9123-45D9-A3A4-8B830A824F3E}"/>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Make complex signals feel human</a:t>
            </a:r>
          </a:p>
        </p:txBody>
      </p:sp>
      <p:sp>
        <p:nvSpPr>
          <p:cNvPr id="2" name="Rectangle 1">
            <a:extLst>
              <a:ext uri="{FF2B5EF4-FFF2-40B4-BE49-F238E27FC236}">
                <a16:creationId xmlns:a16="http://schemas.microsoft.com/office/drawing/2014/main" id="{136D5339-C3B7-4902-B9A2-E2B86287EC8E}"/>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Healthcare agent architecture for the AWS hackathon</a:t>
            </a:r>
          </a:p>
        </p:txBody>
      </p:sp>
      <p:sp>
        <p:nvSpPr>
          <p:cNvPr id="3" name="Rectangle: Rounded Corners 2">
            <a:extLst>
              <a:ext uri="{FF2B5EF4-FFF2-40B4-BE49-F238E27FC236}">
                <a16:creationId xmlns:a16="http://schemas.microsoft.com/office/drawing/2014/main" id="{3AEFEE9F-30DE-486C-B7F2-3B9C41F4D6AB}"/>
              </a:ext>
            </a:extLst>
          </p:cNvPr>
          <p:cNvSpPr>
            <a:spLocks noGrp="1"/>
          </p:cNvSpPr>
          <p:nvPr/>
        </p:nvSpPr>
        <p:spPr>
          <a:xfrm>
            <a:off x="619125" y="2714625"/>
            <a:ext cx="2571750" cy="1047750"/>
          </a:xfrm>
          <a:prstGeom prst="roundRect">
            <a:avLst>
              <a:gd name="adj" fmla="val 9091"/>
            </a:avLst>
          </a:prstGeom>
          <a:solidFill>
            <a:srgbClr val="E6F3F1"/>
          </a:solidFill>
          <a:ln w="14288">
            <a:solidFill>
              <a:srgbClr val="4D978E"/>
            </a:solidFill>
          </a:ln>
        </p:spPr>
        <p:txBody>
          <a:bodyPr wrap="square" lIns="95250" tIns="95250" rIns="95250" bIns="95250" anchor="ctr">
            <a:noAutofit/>
          </a:bodyPr>
          <a:lstStyle>
            <a:defPPr algn="ctr">
              <a:defRPr sz="1950" b="0">
                <a:solidFill>
                  <a:srgbClr val="17243A"/>
                </a:solidFill>
                <a:latin typeface="Arial"/>
                <a:ea typeface="Arial"/>
                <a:cs typeface="Arial"/>
              </a:defRPr>
            </a:defPPr>
            <a:lvl1pPr algn="ctr">
              <a:defRPr sz="1950" b="0">
                <a:solidFill>
                  <a:srgbClr val="17243A"/>
                </a:solidFill>
                <a:latin typeface="Arial"/>
                <a:ea typeface="Arial"/>
                <a:cs typeface="Arial"/>
              </a:defRPr>
            </a:lvl1pPr>
            <a:lvl2pPr algn="ctr">
              <a:defRPr sz="1950" b="0">
                <a:solidFill>
                  <a:srgbClr val="17243A"/>
                </a:solidFill>
                <a:latin typeface="Arial"/>
                <a:ea typeface="Arial"/>
                <a:cs typeface="Arial"/>
              </a:defRPr>
            </a:lvl2pPr>
            <a:lvl3pPr algn="ctr">
              <a:defRPr sz="1950" b="0">
                <a:solidFill>
                  <a:srgbClr val="17243A"/>
                </a:solidFill>
                <a:latin typeface="Arial"/>
                <a:ea typeface="Arial"/>
                <a:cs typeface="Arial"/>
              </a:defRPr>
            </a:lvl3pPr>
            <a:lvl4pPr algn="ctr">
              <a:defRPr sz="1950" b="0">
                <a:solidFill>
                  <a:srgbClr val="17243A"/>
                </a:solidFill>
                <a:latin typeface="Arial"/>
                <a:ea typeface="Arial"/>
                <a:cs typeface="Arial"/>
              </a:defRPr>
            </a:lvl4pPr>
            <a:lvl5pPr algn="ctr">
              <a:defRPr sz="1950" b="0">
                <a:solidFill>
                  <a:srgbClr val="17243A"/>
                </a:solidFill>
                <a:latin typeface="Arial"/>
                <a:ea typeface="Arial"/>
                <a:cs typeface="Arial"/>
              </a:defRPr>
            </a:lvl5pPr>
            <a:lvl6pPr algn="ctr">
              <a:defRPr sz="1950" b="0">
                <a:solidFill>
                  <a:srgbClr val="17243A"/>
                </a:solidFill>
                <a:latin typeface="Arial"/>
                <a:ea typeface="Arial"/>
                <a:cs typeface="Arial"/>
              </a:defRPr>
            </a:lvl6pPr>
            <a:lvl7pPr algn="ctr">
              <a:defRPr sz="1950" b="0">
                <a:solidFill>
                  <a:srgbClr val="17243A"/>
                </a:solidFill>
                <a:latin typeface="Arial"/>
                <a:ea typeface="Arial"/>
                <a:cs typeface="Arial"/>
              </a:defRPr>
            </a:lvl7pPr>
            <a:lvl8pPr algn="ctr">
              <a:defRPr sz="1950" b="0">
                <a:solidFill>
                  <a:srgbClr val="17243A"/>
                </a:solidFill>
                <a:latin typeface="Arial"/>
                <a:ea typeface="Arial"/>
                <a:cs typeface="Arial"/>
              </a:defRPr>
            </a:lvl8pPr>
            <a:lvl9pPr algn="ctr">
              <a:defRPr sz="1950" b="0">
                <a:solidFill>
                  <a:srgbClr val="17243A"/>
                </a:solidFill>
                <a:latin typeface="Arial"/>
                <a:ea typeface="Arial"/>
                <a:cs typeface="Arial"/>
              </a:defRPr>
            </a:lvl9pPr>
          </a:lstStyle>
          <a:p>
            <a:pPr algn="ctr">
              <a:defRPr sz="1950" b="0">
                <a:solidFill>
                  <a:srgbClr val="17243A"/>
                </a:solidFill>
                <a:latin typeface="Arial"/>
                <a:ea typeface="Arial"/>
                <a:cs typeface="Arial"/>
              </a:defRPr>
            </a:pPr>
            <a:r>
              <a:rPr sz="1950" b="0">
                <a:solidFill>
                  <a:srgbClr val="17243A"/>
                </a:solidFill>
                <a:latin typeface="Arial"/>
                <a:ea typeface="Arial"/>
                <a:cs typeface="Arial"/>
              </a:rPr>
              <a:t>Patient text</a:t>
            </a:r>
          </a:p>
          <a:p>
            <a:pPr algn="ctr">
              <a:defRPr sz="1950" b="0">
                <a:solidFill>
                  <a:srgbClr val="17243A"/>
                </a:solidFill>
                <a:latin typeface="Arial"/>
                <a:ea typeface="Arial"/>
                <a:cs typeface="Arial"/>
              </a:defRPr>
            </a:pPr>
            <a:r>
              <a:rPr sz="1950" b="0">
                <a:solidFill>
                  <a:srgbClr val="17243A"/>
                </a:solidFill>
                <a:latin typeface="Arial"/>
                <a:ea typeface="Arial"/>
                <a:cs typeface="Arial"/>
              </a:rPr>
              <a:t>Lab / image / ECG</a:t>
            </a:r>
          </a:p>
        </p:txBody>
      </p:sp>
      <p:sp>
        <p:nvSpPr>
          <p:cNvPr id="4" name="Rectangle: Rounded Corners 3">
            <a:extLst>
              <a:ext uri="{FF2B5EF4-FFF2-40B4-BE49-F238E27FC236}">
                <a16:creationId xmlns:a16="http://schemas.microsoft.com/office/drawing/2014/main" id="{489E79B3-1C9F-43D7-86CA-FE0210434D44}"/>
              </a:ext>
            </a:extLst>
          </p:cNvPr>
          <p:cNvSpPr>
            <a:spLocks noGrp="1"/>
          </p:cNvSpPr>
          <p:nvPr/>
        </p:nvSpPr>
        <p:spPr>
          <a:xfrm>
            <a:off x="4572000" y="2714625"/>
            <a:ext cx="3048000" cy="1047750"/>
          </a:xfrm>
          <a:prstGeom prst="roundRect">
            <a:avLst>
              <a:gd name="adj" fmla="val 9091"/>
            </a:avLst>
          </a:prstGeom>
          <a:solidFill>
            <a:srgbClr val="F0E8FC"/>
          </a:solidFill>
          <a:ln w="14288">
            <a:solidFill>
              <a:srgbClr val="8B5FC7"/>
            </a:solidFill>
          </a:ln>
        </p:spPr>
        <p:txBody>
          <a:bodyPr wrap="square" lIns="95250" tIns="95250" rIns="95250" bIns="95250" anchor="ctr">
            <a:noAutofit/>
          </a:bodyPr>
          <a:lstStyle>
            <a:defPPr algn="ctr">
              <a:defRPr sz="1950" b="0">
                <a:solidFill>
                  <a:srgbClr val="17243A"/>
                </a:solidFill>
                <a:latin typeface="Arial"/>
                <a:ea typeface="Arial"/>
                <a:cs typeface="Arial"/>
              </a:defRPr>
            </a:defPPr>
            <a:lvl1pPr algn="ctr">
              <a:defRPr sz="1950" b="0">
                <a:solidFill>
                  <a:srgbClr val="17243A"/>
                </a:solidFill>
                <a:latin typeface="Arial"/>
                <a:ea typeface="Arial"/>
                <a:cs typeface="Arial"/>
              </a:defRPr>
            </a:lvl1pPr>
            <a:lvl2pPr algn="ctr">
              <a:defRPr sz="1950" b="0">
                <a:solidFill>
                  <a:srgbClr val="17243A"/>
                </a:solidFill>
                <a:latin typeface="Arial"/>
                <a:ea typeface="Arial"/>
                <a:cs typeface="Arial"/>
              </a:defRPr>
            </a:lvl2pPr>
            <a:lvl3pPr algn="ctr">
              <a:defRPr sz="1950" b="0">
                <a:solidFill>
                  <a:srgbClr val="17243A"/>
                </a:solidFill>
                <a:latin typeface="Arial"/>
                <a:ea typeface="Arial"/>
                <a:cs typeface="Arial"/>
              </a:defRPr>
            </a:lvl3pPr>
            <a:lvl4pPr algn="ctr">
              <a:defRPr sz="1950" b="0">
                <a:solidFill>
                  <a:srgbClr val="17243A"/>
                </a:solidFill>
                <a:latin typeface="Arial"/>
                <a:ea typeface="Arial"/>
                <a:cs typeface="Arial"/>
              </a:defRPr>
            </a:lvl4pPr>
            <a:lvl5pPr algn="ctr">
              <a:defRPr sz="1950" b="0">
                <a:solidFill>
                  <a:srgbClr val="17243A"/>
                </a:solidFill>
                <a:latin typeface="Arial"/>
                <a:ea typeface="Arial"/>
                <a:cs typeface="Arial"/>
              </a:defRPr>
            </a:lvl5pPr>
            <a:lvl6pPr algn="ctr">
              <a:defRPr sz="1950" b="0">
                <a:solidFill>
                  <a:srgbClr val="17243A"/>
                </a:solidFill>
                <a:latin typeface="Arial"/>
                <a:ea typeface="Arial"/>
                <a:cs typeface="Arial"/>
              </a:defRPr>
            </a:lvl6pPr>
            <a:lvl7pPr algn="ctr">
              <a:defRPr sz="1950" b="0">
                <a:solidFill>
                  <a:srgbClr val="17243A"/>
                </a:solidFill>
                <a:latin typeface="Arial"/>
                <a:ea typeface="Arial"/>
                <a:cs typeface="Arial"/>
              </a:defRPr>
            </a:lvl7pPr>
            <a:lvl8pPr algn="ctr">
              <a:defRPr sz="1950" b="0">
                <a:solidFill>
                  <a:srgbClr val="17243A"/>
                </a:solidFill>
                <a:latin typeface="Arial"/>
                <a:ea typeface="Arial"/>
                <a:cs typeface="Arial"/>
              </a:defRPr>
            </a:lvl8pPr>
            <a:lvl9pPr algn="ctr">
              <a:defRPr sz="1950" b="0">
                <a:solidFill>
                  <a:srgbClr val="17243A"/>
                </a:solidFill>
                <a:latin typeface="Arial"/>
                <a:ea typeface="Arial"/>
                <a:cs typeface="Arial"/>
              </a:defRPr>
            </a:lvl9pPr>
          </a:lstStyle>
          <a:p>
            <a:pPr algn="ctr">
              <a:defRPr sz="1950" b="0">
                <a:solidFill>
                  <a:srgbClr val="17243A"/>
                </a:solidFill>
                <a:latin typeface="Arial"/>
                <a:ea typeface="Arial"/>
                <a:cs typeface="Arial"/>
              </a:defRPr>
            </a:pPr>
            <a:r>
              <a:rPr sz="1950" b="0">
                <a:solidFill>
                  <a:srgbClr val="17243A"/>
                </a:solidFill>
                <a:latin typeface="Arial"/>
                <a:ea typeface="Arial"/>
                <a:cs typeface="Arial"/>
              </a:rPr>
              <a:t>Specialist analysis</a:t>
            </a:r>
          </a:p>
          <a:p>
            <a:pPr algn="ctr">
              <a:defRPr sz="1950" b="0">
                <a:solidFill>
                  <a:srgbClr val="17243A"/>
                </a:solidFill>
                <a:latin typeface="Arial"/>
                <a:ea typeface="Arial"/>
                <a:cs typeface="Arial"/>
              </a:defRPr>
            </a:pPr>
            <a:r>
              <a:rPr sz="1950" b="0">
                <a:solidFill>
                  <a:srgbClr val="17243A"/>
                </a:solidFill>
                <a:latin typeface="Arial"/>
                <a:ea typeface="Arial"/>
                <a:cs typeface="Arial"/>
              </a:rPr>
              <a:t>and Doctor review</a:t>
            </a:r>
          </a:p>
        </p:txBody>
      </p:sp>
      <p:sp>
        <p:nvSpPr>
          <p:cNvPr id="5" name="Rectangle: Rounded Corners 4">
            <a:extLst>
              <a:ext uri="{FF2B5EF4-FFF2-40B4-BE49-F238E27FC236}">
                <a16:creationId xmlns:a16="http://schemas.microsoft.com/office/drawing/2014/main" id="{6472036D-165F-431F-9093-7A31092DAC7F}"/>
              </a:ext>
            </a:extLst>
          </p:cNvPr>
          <p:cNvSpPr>
            <a:spLocks noGrp="1"/>
          </p:cNvSpPr>
          <p:nvPr/>
        </p:nvSpPr>
        <p:spPr>
          <a:xfrm>
            <a:off x="9001125" y="2714625"/>
            <a:ext cx="2571750" cy="1047750"/>
          </a:xfrm>
          <a:prstGeom prst="roundRect">
            <a:avLst>
              <a:gd name="adj" fmla="val 9091"/>
            </a:avLst>
          </a:prstGeom>
          <a:solidFill>
            <a:srgbClr val="EDF5E8"/>
          </a:solidFill>
          <a:ln w="14288">
            <a:solidFill>
              <a:srgbClr val="71A266"/>
            </a:solidFill>
          </a:ln>
        </p:spPr>
        <p:txBody>
          <a:bodyPr wrap="square" lIns="95250" tIns="95250" rIns="95250" bIns="95250" anchor="ctr">
            <a:noAutofit/>
          </a:bodyPr>
          <a:lstStyle>
            <a:defPPr algn="ctr">
              <a:defRPr sz="1875" b="0">
                <a:solidFill>
                  <a:srgbClr val="17243A"/>
                </a:solidFill>
                <a:latin typeface="Arial"/>
                <a:ea typeface="Arial"/>
                <a:cs typeface="Arial"/>
              </a:defRPr>
            </a:defPPr>
            <a:lvl1pPr algn="ctr">
              <a:defRPr sz="1875" b="0">
                <a:solidFill>
                  <a:srgbClr val="17243A"/>
                </a:solidFill>
                <a:latin typeface="Arial"/>
                <a:ea typeface="Arial"/>
                <a:cs typeface="Arial"/>
              </a:defRPr>
            </a:lvl1pPr>
            <a:lvl2pPr algn="ctr">
              <a:defRPr sz="1875" b="0">
                <a:solidFill>
                  <a:srgbClr val="17243A"/>
                </a:solidFill>
                <a:latin typeface="Arial"/>
                <a:ea typeface="Arial"/>
                <a:cs typeface="Arial"/>
              </a:defRPr>
            </a:lvl2pPr>
            <a:lvl3pPr algn="ctr">
              <a:defRPr sz="1875" b="0">
                <a:solidFill>
                  <a:srgbClr val="17243A"/>
                </a:solidFill>
                <a:latin typeface="Arial"/>
                <a:ea typeface="Arial"/>
                <a:cs typeface="Arial"/>
              </a:defRPr>
            </a:lvl3pPr>
            <a:lvl4pPr algn="ctr">
              <a:defRPr sz="1875" b="0">
                <a:solidFill>
                  <a:srgbClr val="17243A"/>
                </a:solidFill>
                <a:latin typeface="Arial"/>
                <a:ea typeface="Arial"/>
                <a:cs typeface="Arial"/>
              </a:defRPr>
            </a:lvl4pPr>
            <a:lvl5pPr algn="ctr">
              <a:defRPr sz="1875" b="0">
                <a:solidFill>
                  <a:srgbClr val="17243A"/>
                </a:solidFill>
                <a:latin typeface="Arial"/>
                <a:ea typeface="Arial"/>
                <a:cs typeface="Arial"/>
              </a:defRPr>
            </a:lvl5pPr>
            <a:lvl6pPr algn="ctr">
              <a:defRPr sz="1875" b="0">
                <a:solidFill>
                  <a:srgbClr val="17243A"/>
                </a:solidFill>
                <a:latin typeface="Arial"/>
                <a:ea typeface="Arial"/>
                <a:cs typeface="Arial"/>
              </a:defRPr>
            </a:lvl6pPr>
            <a:lvl7pPr algn="ctr">
              <a:defRPr sz="1875" b="0">
                <a:solidFill>
                  <a:srgbClr val="17243A"/>
                </a:solidFill>
                <a:latin typeface="Arial"/>
                <a:ea typeface="Arial"/>
                <a:cs typeface="Arial"/>
              </a:defRPr>
            </a:lvl7pPr>
            <a:lvl8pPr algn="ctr">
              <a:defRPr sz="1875" b="0">
                <a:solidFill>
                  <a:srgbClr val="17243A"/>
                </a:solidFill>
                <a:latin typeface="Arial"/>
                <a:ea typeface="Arial"/>
                <a:cs typeface="Arial"/>
              </a:defRPr>
            </a:lvl8pPr>
            <a:lvl9pPr algn="ctr">
              <a:defRPr sz="1875" b="0">
                <a:solidFill>
                  <a:srgbClr val="17243A"/>
                </a:solidFill>
                <a:latin typeface="Arial"/>
                <a:ea typeface="Arial"/>
                <a:cs typeface="Arial"/>
              </a:defRPr>
            </a:lvl9pPr>
          </a:lstStyle>
          <a:p>
            <a:pPr algn="ctr">
              <a:defRPr sz="1875" b="0">
                <a:solidFill>
                  <a:srgbClr val="17243A"/>
                </a:solidFill>
                <a:latin typeface="Arial"/>
                <a:ea typeface="Arial"/>
                <a:cs typeface="Arial"/>
              </a:defRPr>
            </a:pPr>
            <a:r>
              <a:rPr sz="1875" b="0">
                <a:solidFill>
                  <a:srgbClr val="17243A"/>
                </a:solidFill>
                <a:latin typeface="Arial"/>
                <a:ea typeface="Arial"/>
                <a:cs typeface="Arial"/>
              </a:rPr>
              <a:t>Clear explanation</a:t>
            </a:r>
          </a:p>
          <a:p>
            <a:pPr algn="ctr">
              <a:defRPr sz="1875" b="0">
                <a:solidFill>
                  <a:srgbClr val="17243A"/>
                </a:solidFill>
                <a:latin typeface="Arial"/>
                <a:ea typeface="Arial"/>
                <a:cs typeface="Arial"/>
              </a:defRPr>
            </a:pPr>
            <a:r>
              <a:rPr sz="1875" b="0">
                <a:solidFill>
                  <a:srgbClr val="17243A"/>
                </a:solidFill>
                <a:latin typeface="Arial"/>
                <a:ea typeface="Arial"/>
                <a:cs typeface="Arial"/>
              </a:rPr>
              <a:t>Sources + limits</a:t>
            </a:r>
          </a:p>
        </p:txBody>
      </p:sp>
      <p:sp>
        <p:nvSpPr>
          <p:cNvPr id="8" name="Rectangle 7">
            <a:extLst>
              <a:ext uri="{FF2B5EF4-FFF2-40B4-BE49-F238E27FC236}">
                <a16:creationId xmlns:a16="http://schemas.microsoft.com/office/drawing/2014/main" id="{6666759B-FDBD-444F-8046-303EB1975CE7}"/>
              </a:ext>
            </a:extLst>
          </p:cNvPr>
          <p:cNvSpPr>
            <a:spLocks noGrp="1"/>
          </p:cNvSpPr>
          <p:nvPr/>
        </p:nvSpPr>
        <p:spPr>
          <a:xfrm>
            <a:off x="619125" y="1571625"/>
            <a:ext cx="10477500" cy="666750"/>
          </a:xfrm>
          <a:prstGeom prst="rect">
            <a:avLst/>
          </a:prstGeom>
          <a:noFill/>
          <a:ln w="0">
            <a:noFill/>
          </a:ln>
        </p:spPr>
        <p:txBody>
          <a:bodyPr wrap="square" lIns="0" tIns="0" rIns="0" bIns="0" anchor="ctr">
            <a:noAutofit/>
          </a:bodyPr>
          <a:lstStyle>
            <a:defPPr algn="l">
              <a:defRPr sz="2850" b="1">
                <a:solidFill>
                  <a:srgbClr val="17243A"/>
                </a:solidFill>
                <a:latin typeface="Arial"/>
                <a:ea typeface="Arial"/>
                <a:cs typeface="Arial"/>
              </a:defRPr>
            </a:defPPr>
            <a:lvl1pPr algn="l">
              <a:defRPr sz="2850" b="1">
                <a:solidFill>
                  <a:srgbClr val="17243A"/>
                </a:solidFill>
                <a:latin typeface="Arial"/>
                <a:ea typeface="Arial"/>
                <a:cs typeface="Arial"/>
              </a:defRPr>
            </a:lvl1pPr>
            <a:lvl2pPr algn="l">
              <a:defRPr sz="2850" b="1">
                <a:solidFill>
                  <a:srgbClr val="17243A"/>
                </a:solidFill>
                <a:latin typeface="Arial"/>
                <a:ea typeface="Arial"/>
                <a:cs typeface="Arial"/>
              </a:defRPr>
            </a:lvl2pPr>
            <a:lvl3pPr algn="l">
              <a:defRPr sz="2850" b="1">
                <a:solidFill>
                  <a:srgbClr val="17243A"/>
                </a:solidFill>
                <a:latin typeface="Arial"/>
                <a:ea typeface="Arial"/>
                <a:cs typeface="Arial"/>
              </a:defRPr>
            </a:lvl3pPr>
            <a:lvl4pPr algn="l">
              <a:defRPr sz="2850" b="1">
                <a:solidFill>
                  <a:srgbClr val="17243A"/>
                </a:solidFill>
                <a:latin typeface="Arial"/>
                <a:ea typeface="Arial"/>
                <a:cs typeface="Arial"/>
              </a:defRPr>
            </a:lvl4pPr>
            <a:lvl5pPr algn="l">
              <a:defRPr sz="2850" b="1">
                <a:solidFill>
                  <a:srgbClr val="17243A"/>
                </a:solidFill>
                <a:latin typeface="Arial"/>
                <a:ea typeface="Arial"/>
                <a:cs typeface="Arial"/>
              </a:defRPr>
            </a:lvl5pPr>
            <a:lvl6pPr algn="l">
              <a:defRPr sz="2850" b="1">
                <a:solidFill>
                  <a:srgbClr val="17243A"/>
                </a:solidFill>
                <a:latin typeface="Arial"/>
                <a:ea typeface="Arial"/>
                <a:cs typeface="Arial"/>
              </a:defRPr>
            </a:lvl6pPr>
            <a:lvl7pPr algn="l">
              <a:defRPr sz="2850" b="1">
                <a:solidFill>
                  <a:srgbClr val="17243A"/>
                </a:solidFill>
                <a:latin typeface="Arial"/>
                <a:ea typeface="Arial"/>
                <a:cs typeface="Arial"/>
              </a:defRPr>
            </a:lvl7pPr>
            <a:lvl8pPr algn="l">
              <a:defRPr sz="2850" b="1">
                <a:solidFill>
                  <a:srgbClr val="17243A"/>
                </a:solidFill>
                <a:latin typeface="Arial"/>
                <a:ea typeface="Arial"/>
                <a:cs typeface="Arial"/>
              </a:defRPr>
            </a:lvl8pPr>
            <a:lvl9pPr algn="l">
              <a:defRPr sz="2850" b="1">
                <a:solidFill>
                  <a:srgbClr val="17243A"/>
                </a:solidFill>
                <a:latin typeface="Arial"/>
                <a:ea typeface="Arial"/>
                <a:cs typeface="Arial"/>
              </a:defRPr>
            </a:lvl9pPr>
          </a:lstStyle>
          <a:p>
            <a:pPr algn="l">
              <a:defRPr sz="2850" b="1">
                <a:solidFill>
                  <a:srgbClr val="17243A"/>
                </a:solidFill>
                <a:latin typeface="Arial"/>
                <a:ea typeface="Arial"/>
                <a:cs typeface="Arial"/>
              </a:defRPr>
            </a:pPr>
            <a:r>
              <a:rPr sz="2850" b="1">
                <a:solidFill>
                  <a:srgbClr val="17243A"/>
                </a:solidFill>
                <a:latin typeface="Arial"/>
                <a:ea typeface="Arial"/>
                <a:cs typeface="Arial"/>
              </a:rPr>
              <a:t>One patient. One understandable explanation.</a:t>
            </a:r>
          </a:p>
        </p:txBody>
      </p:sp>
      <p:sp>
        <p:nvSpPr>
          <p:cNvPr id="9" name="Rectangle 8">
            <a:extLst>
              <a:ext uri="{FF2B5EF4-FFF2-40B4-BE49-F238E27FC236}">
                <a16:creationId xmlns:a16="http://schemas.microsoft.com/office/drawing/2014/main" id="{8355F9D0-894A-447C-A9AE-0BF4317D7786}"/>
              </a:ext>
            </a:extLst>
          </p:cNvPr>
          <p:cNvSpPr>
            <a:spLocks noGrp="1"/>
          </p:cNvSpPr>
          <p:nvPr/>
        </p:nvSpPr>
        <p:spPr>
          <a:xfrm>
            <a:off x="619125" y="4286250"/>
            <a:ext cx="10477500" cy="428625"/>
          </a:xfrm>
          <a:prstGeom prst="rect">
            <a:avLst/>
          </a:prstGeom>
          <a:noFill/>
          <a:ln w="0">
            <a:noFill/>
          </a:ln>
        </p:spPr>
        <p:txBody>
          <a:bodyPr wrap="square" lIns="0" tIns="0" rIns="0" bIns="0" anchor="ctr">
            <a:noAutofit/>
          </a:bodyPr>
          <a:lstStyle>
            <a:defPPr algn="l">
              <a:defRPr sz="2025" b="0">
                <a:solidFill>
                  <a:srgbClr val="17243A"/>
                </a:solidFill>
                <a:latin typeface="Arial"/>
                <a:ea typeface="Arial"/>
                <a:cs typeface="Arial"/>
              </a:defRPr>
            </a:defPPr>
            <a:lvl1pPr algn="l">
              <a:defRPr sz="2025" b="0">
                <a:solidFill>
                  <a:srgbClr val="17243A"/>
                </a:solidFill>
                <a:latin typeface="Arial"/>
                <a:ea typeface="Arial"/>
                <a:cs typeface="Arial"/>
              </a:defRPr>
            </a:lvl1pPr>
            <a:lvl2pPr algn="l">
              <a:defRPr sz="2025" b="0">
                <a:solidFill>
                  <a:srgbClr val="17243A"/>
                </a:solidFill>
                <a:latin typeface="Arial"/>
                <a:ea typeface="Arial"/>
                <a:cs typeface="Arial"/>
              </a:defRPr>
            </a:lvl2pPr>
            <a:lvl3pPr algn="l">
              <a:defRPr sz="2025" b="0">
                <a:solidFill>
                  <a:srgbClr val="17243A"/>
                </a:solidFill>
                <a:latin typeface="Arial"/>
                <a:ea typeface="Arial"/>
                <a:cs typeface="Arial"/>
              </a:defRPr>
            </a:lvl3pPr>
            <a:lvl4pPr algn="l">
              <a:defRPr sz="2025" b="0">
                <a:solidFill>
                  <a:srgbClr val="17243A"/>
                </a:solidFill>
                <a:latin typeface="Arial"/>
                <a:ea typeface="Arial"/>
                <a:cs typeface="Arial"/>
              </a:defRPr>
            </a:lvl4pPr>
            <a:lvl5pPr algn="l">
              <a:defRPr sz="2025" b="0">
                <a:solidFill>
                  <a:srgbClr val="17243A"/>
                </a:solidFill>
                <a:latin typeface="Arial"/>
                <a:ea typeface="Arial"/>
                <a:cs typeface="Arial"/>
              </a:defRPr>
            </a:lvl5pPr>
            <a:lvl6pPr algn="l">
              <a:defRPr sz="2025" b="0">
                <a:solidFill>
                  <a:srgbClr val="17243A"/>
                </a:solidFill>
                <a:latin typeface="Arial"/>
                <a:ea typeface="Arial"/>
                <a:cs typeface="Arial"/>
              </a:defRPr>
            </a:lvl6pPr>
            <a:lvl7pPr algn="l">
              <a:defRPr sz="2025" b="0">
                <a:solidFill>
                  <a:srgbClr val="17243A"/>
                </a:solidFill>
                <a:latin typeface="Arial"/>
                <a:ea typeface="Arial"/>
                <a:cs typeface="Arial"/>
              </a:defRPr>
            </a:lvl7pPr>
            <a:lvl8pPr algn="l">
              <a:defRPr sz="2025" b="0">
                <a:solidFill>
                  <a:srgbClr val="17243A"/>
                </a:solidFill>
                <a:latin typeface="Arial"/>
                <a:ea typeface="Arial"/>
                <a:cs typeface="Arial"/>
              </a:defRPr>
            </a:lvl8pPr>
            <a:lvl9pPr algn="l">
              <a:defRPr sz="2025" b="0">
                <a:solidFill>
                  <a:srgbClr val="17243A"/>
                </a:solidFill>
                <a:latin typeface="Arial"/>
                <a:ea typeface="Arial"/>
                <a:cs typeface="Arial"/>
              </a:defRPr>
            </a:lvl9pPr>
          </a:lstStyle>
          <a:p>
            <a:pPr algn="l">
              <a:defRPr sz="2025" b="0">
                <a:solidFill>
                  <a:srgbClr val="17243A"/>
                </a:solidFill>
                <a:latin typeface="Arial"/>
                <a:ea typeface="Arial"/>
                <a:cs typeface="Arial"/>
              </a:defRPr>
            </a:pPr>
            <a:r>
              <a:rPr sz="2025" b="0">
                <a:solidFill>
                  <a:srgbClr val="17243A"/>
                </a:solidFill>
                <a:latin typeface="Arial"/>
                <a:ea typeface="Arial"/>
                <a:cs typeface="Arial"/>
              </a:rPr>
              <a:t>Six layers: 00 ingestion through 05 presentation</a:t>
            </a:r>
          </a:p>
        </p:txBody>
      </p:sp>
      <p:sp>
        <p:nvSpPr>
          <p:cNvPr id="10" name="Rectangle 9">
            <a:extLst>
              <a:ext uri="{FF2B5EF4-FFF2-40B4-BE49-F238E27FC236}">
                <a16:creationId xmlns:a16="http://schemas.microsoft.com/office/drawing/2014/main" id="{73F12682-E999-4E56-97AD-F3185A97988B}"/>
              </a:ext>
            </a:extLst>
          </p:cNvPr>
          <p:cNvSpPr>
            <a:spLocks noGrp="1"/>
          </p:cNvSpPr>
          <p:nvPr/>
        </p:nvSpPr>
        <p:spPr>
          <a:xfrm>
            <a:off x="619125" y="5000625"/>
            <a:ext cx="10477500" cy="428625"/>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Synthetic or permitted public data. Prototype, not medical advice.</a:t>
            </a:r>
          </a:p>
        </p:txBody>
      </p:sp>
      <p:sp>
        <p:nvSpPr>
          <p:cNvPr id="11" name="Rectangle: Rounded Corners 10">
            <a:extLst>
              <a:ext uri="{FF2B5EF4-FFF2-40B4-BE49-F238E27FC236}">
                <a16:creationId xmlns:a16="http://schemas.microsoft.com/office/drawing/2014/main" id="{51F6E604-B5CD-48BE-B218-CF5099054353}"/>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2" name="Rectangle 11">
            <a:extLst>
              <a:ext uri="{FF2B5EF4-FFF2-40B4-BE49-F238E27FC236}">
                <a16:creationId xmlns:a16="http://schemas.microsoft.com/office/drawing/2014/main" id="{461246B9-6A66-4442-8FAE-E1D505326DCF}"/>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3" name="Rectangle: Rounded Corners 12">
            <a:extLst>
              <a:ext uri="{FF2B5EF4-FFF2-40B4-BE49-F238E27FC236}">
                <a16:creationId xmlns:a16="http://schemas.microsoft.com/office/drawing/2014/main" id="{368C1C71-BC33-44D3-BF8E-34338B78F3B9}"/>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14" name="Rectangle 13">
            <a:extLst>
              <a:ext uri="{FF2B5EF4-FFF2-40B4-BE49-F238E27FC236}">
                <a16:creationId xmlns:a16="http://schemas.microsoft.com/office/drawing/2014/main" id="{0FB3A4AB-50BD-4E63-A7D2-CE5B1FBCFE4B}"/>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15" name="Rectangle: Rounded Corners 14">
            <a:extLst>
              <a:ext uri="{FF2B5EF4-FFF2-40B4-BE49-F238E27FC236}">
                <a16:creationId xmlns:a16="http://schemas.microsoft.com/office/drawing/2014/main" id="{94141842-5C8F-4EED-9018-E6BF9C084E89}"/>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16" name="Rectangle 15">
            <a:extLst>
              <a:ext uri="{FF2B5EF4-FFF2-40B4-BE49-F238E27FC236}">
                <a16:creationId xmlns:a16="http://schemas.microsoft.com/office/drawing/2014/main" id="{DB888ACF-C660-4FED-A363-75AC18CE3E82}"/>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17" name="Rectangle: Rounded Corners 16">
            <a:extLst>
              <a:ext uri="{FF2B5EF4-FFF2-40B4-BE49-F238E27FC236}">
                <a16:creationId xmlns:a16="http://schemas.microsoft.com/office/drawing/2014/main" id="{CFA0B569-7EB5-4580-9096-F4DFC85C2277}"/>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18" name="Rectangle 17">
            <a:extLst>
              <a:ext uri="{FF2B5EF4-FFF2-40B4-BE49-F238E27FC236}">
                <a16:creationId xmlns:a16="http://schemas.microsoft.com/office/drawing/2014/main" id="{C90A8E4E-A9AC-49DB-BAE2-C1D5BA649323}"/>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19" name="Rectangle: Rounded Corners 18">
            <a:extLst>
              <a:ext uri="{FF2B5EF4-FFF2-40B4-BE49-F238E27FC236}">
                <a16:creationId xmlns:a16="http://schemas.microsoft.com/office/drawing/2014/main" id="{FD431212-D45E-4FB7-88F2-66D661AA6B33}"/>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0" name="Rectangle 19">
            <a:extLst>
              <a:ext uri="{FF2B5EF4-FFF2-40B4-BE49-F238E27FC236}">
                <a16:creationId xmlns:a16="http://schemas.microsoft.com/office/drawing/2014/main" id="{B7353D10-544E-4E8B-90C5-25573390A98F}"/>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1" name="Rectangle 20">
            <a:extLst>
              <a:ext uri="{FF2B5EF4-FFF2-40B4-BE49-F238E27FC236}">
                <a16:creationId xmlns:a16="http://schemas.microsoft.com/office/drawing/2014/main" id="{E9E9759B-AA72-448C-AC14-B498E0E73526}"/>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01</a:t>
            </a:r>
          </a:p>
        </p:txBody>
      </p:sp>
    </p:spTree>
    <p:extLst>
      <p:ext uri="{BB962C8B-B14F-4D97-AF65-F5344CB8AC3E}">
        <p14:creationId xmlns:p14="http://schemas.microsoft.com/office/powerpoint/2010/main" val="1037238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4" name="Straight Arrow Connector 43">
            <a:extLst>
              <a:ext uri="{FF2B5EF4-FFF2-40B4-BE49-F238E27FC236}">
                <a16:creationId xmlns:a16="http://schemas.microsoft.com/office/drawing/2014/main" id="{C2464900-D06B-4CBF-899A-508F16260127}"/>
              </a:ext>
            </a:extLst>
          </p:cNvPr>
          <p:cNvCxnSpPr>
            <a:stCxn id="31" idx="3"/>
            <a:endCxn id="32" idx="1"/>
          </p:cNvCxnSpPr>
          <p:nvPr/>
        </p:nvCxnSpPr>
        <p:spPr>
          <a:xfrm>
            <a:off x="7762875" y="5114925"/>
            <a:ext cx="476250" cy="0"/>
          </a:xfrm>
          <a:prstGeom prst="straightConnector1">
            <a:avLst/>
          </a:prstGeom>
          <a:ln w="16193">
            <a:solidFill>
              <a:srgbClr val="66758A"/>
            </a:solidFill>
            <a:prstDash val="solid"/>
            <a:tailEnd type="triangle" w="sm" len="sm"/>
          </a:ln>
        </p:spPr>
      </p:cxnSp>
      <p:cxnSp>
        <p:nvCxnSpPr>
          <p:cNvPr id="43" name="Straight Arrow Connector 42">
            <a:extLst>
              <a:ext uri="{FF2B5EF4-FFF2-40B4-BE49-F238E27FC236}">
                <a16:creationId xmlns:a16="http://schemas.microsoft.com/office/drawing/2014/main" id="{D99B8291-7E88-46C8-97F0-A3A9F7777D0D}"/>
              </a:ext>
            </a:extLst>
          </p:cNvPr>
          <p:cNvCxnSpPr>
            <a:stCxn id="30" idx="3"/>
            <a:endCxn id="31" idx="1"/>
          </p:cNvCxnSpPr>
          <p:nvPr/>
        </p:nvCxnSpPr>
        <p:spPr>
          <a:xfrm>
            <a:off x="4714875" y="5114925"/>
            <a:ext cx="476250" cy="0"/>
          </a:xfrm>
          <a:prstGeom prst="straightConnector1">
            <a:avLst/>
          </a:prstGeom>
          <a:ln w="16193">
            <a:solidFill>
              <a:srgbClr val="66758A"/>
            </a:solidFill>
            <a:prstDash val="solid"/>
            <a:tailEnd type="triangle" w="sm" len="sm"/>
          </a:ln>
        </p:spPr>
      </p:cxnSp>
      <p:cxnSp>
        <p:nvCxnSpPr>
          <p:cNvPr id="42" name="Straight Arrow Connector 41">
            <a:extLst>
              <a:ext uri="{FF2B5EF4-FFF2-40B4-BE49-F238E27FC236}">
                <a16:creationId xmlns:a16="http://schemas.microsoft.com/office/drawing/2014/main" id="{418EBC25-71DB-4E1D-9D89-2637BA42586D}"/>
              </a:ext>
            </a:extLst>
          </p:cNvPr>
          <p:cNvCxnSpPr>
            <a:stCxn id="28" idx="3"/>
            <a:endCxn id="29" idx="1"/>
          </p:cNvCxnSpPr>
          <p:nvPr/>
        </p:nvCxnSpPr>
        <p:spPr>
          <a:xfrm>
            <a:off x="7762875" y="4429125"/>
            <a:ext cx="476250" cy="0"/>
          </a:xfrm>
          <a:prstGeom prst="straightConnector1">
            <a:avLst/>
          </a:prstGeom>
          <a:ln w="16193">
            <a:solidFill>
              <a:srgbClr val="66758A"/>
            </a:solidFill>
            <a:prstDash val="solid"/>
            <a:tailEnd type="triangle" w="sm" len="sm"/>
          </a:ln>
        </p:spPr>
      </p:cxnSp>
      <p:cxnSp>
        <p:nvCxnSpPr>
          <p:cNvPr id="41" name="Straight Arrow Connector 40">
            <a:extLst>
              <a:ext uri="{FF2B5EF4-FFF2-40B4-BE49-F238E27FC236}">
                <a16:creationId xmlns:a16="http://schemas.microsoft.com/office/drawing/2014/main" id="{B89C0A25-662F-4633-A735-DCF33F0EE476}"/>
              </a:ext>
            </a:extLst>
          </p:cNvPr>
          <p:cNvCxnSpPr>
            <a:stCxn id="27" idx="3"/>
            <a:endCxn id="28" idx="1"/>
          </p:cNvCxnSpPr>
          <p:nvPr/>
        </p:nvCxnSpPr>
        <p:spPr>
          <a:xfrm>
            <a:off x="4714875" y="4429125"/>
            <a:ext cx="476250" cy="0"/>
          </a:xfrm>
          <a:prstGeom prst="straightConnector1">
            <a:avLst/>
          </a:prstGeom>
          <a:ln w="16193">
            <a:solidFill>
              <a:srgbClr val="66758A"/>
            </a:solidFill>
            <a:prstDash val="solid"/>
            <a:tailEnd type="triangle" w="sm" len="sm"/>
          </a:ln>
        </p:spPr>
      </p:cxnSp>
      <p:cxnSp>
        <p:nvCxnSpPr>
          <p:cNvPr id="40" name="Straight Arrow Connector 39">
            <a:extLst>
              <a:ext uri="{FF2B5EF4-FFF2-40B4-BE49-F238E27FC236}">
                <a16:creationId xmlns:a16="http://schemas.microsoft.com/office/drawing/2014/main" id="{813D7EE9-F211-4B40-AC8D-48AAA979CE6C}"/>
              </a:ext>
            </a:extLst>
          </p:cNvPr>
          <p:cNvCxnSpPr>
            <a:stCxn id="25" idx="3"/>
            <a:endCxn id="26" idx="1"/>
          </p:cNvCxnSpPr>
          <p:nvPr/>
        </p:nvCxnSpPr>
        <p:spPr>
          <a:xfrm>
            <a:off x="7762875" y="3743325"/>
            <a:ext cx="476250" cy="0"/>
          </a:xfrm>
          <a:prstGeom prst="straightConnector1">
            <a:avLst/>
          </a:prstGeom>
          <a:ln w="16193">
            <a:solidFill>
              <a:srgbClr val="66758A"/>
            </a:solidFill>
            <a:prstDash val="solid"/>
            <a:tailEnd type="triangle" w="sm" len="sm"/>
          </a:ln>
        </p:spPr>
      </p:cxnSp>
      <p:cxnSp>
        <p:nvCxnSpPr>
          <p:cNvPr id="39" name="Straight Arrow Connector 38">
            <a:extLst>
              <a:ext uri="{FF2B5EF4-FFF2-40B4-BE49-F238E27FC236}">
                <a16:creationId xmlns:a16="http://schemas.microsoft.com/office/drawing/2014/main" id="{37F0CC61-4F6B-4CE1-85CD-D7E64917BBD1}"/>
              </a:ext>
            </a:extLst>
          </p:cNvPr>
          <p:cNvCxnSpPr>
            <a:stCxn id="24" idx="3"/>
            <a:endCxn id="25" idx="1"/>
          </p:cNvCxnSpPr>
          <p:nvPr/>
        </p:nvCxnSpPr>
        <p:spPr>
          <a:xfrm>
            <a:off x="4714875" y="3743325"/>
            <a:ext cx="476250" cy="0"/>
          </a:xfrm>
          <a:prstGeom prst="straightConnector1">
            <a:avLst/>
          </a:prstGeom>
          <a:ln w="16193">
            <a:solidFill>
              <a:srgbClr val="66758A"/>
            </a:solidFill>
            <a:prstDash val="solid"/>
            <a:tailEnd type="triangle" w="sm" len="sm"/>
          </a:ln>
        </p:spPr>
      </p:cxnSp>
      <p:cxnSp>
        <p:nvCxnSpPr>
          <p:cNvPr id="38" name="Straight Arrow Connector 37">
            <a:extLst>
              <a:ext uri="{FF2B5EF4-FFF2-40B4-BE49-F238E27FC236}">
                <a16:creationId xmlns:a16="http://schemas.microsoft.com/office/drawing/2014/main" id="{5435832A-C59A-4834-A59A-37594517E939}"/>
              </a:ext>
            </a:extLst>
          </p:cNvPr>
          <p:cNvCxnSpPr>
            <a:stCxn id="22" idx="3"/>
            <a:endCxn id="23" idx="1"/>
          </p:cNvCxnSpPr>
          <p:nvPr/>
        </p:nvCxnSpPr>
        <p:spPr>
          <a:xfrm>
            <a:off x="7762875" y="3057525"/>
            <a:ext cx="476250" cy="0"/>
          </a:xfrm>
          <a:prstGeom prst="straightConnector1">
            <a:avLst/>
          </a:prstGeom>
          <a:ln w="16193">
            <a:solidFill>
              <a:srgbClr val="66758A"/>
            </a:solidFill>
            <a:prstDash val="solid"/>
            <a:tailEnd type="triangle" w="sm" len="sm"/>
          </a:ln>
        </p:spPr>
      </p:cxnSp>
      <p:cxnSp>
        <p:nvCxnSpPr>
          <p:cNvPr id="37" name="Straight Arrow Connector 36">
            <a:extLst>
              <a:ext uri="{FF2B5EF4-FFF2-40B4-BE49-F238E27FC236}">
                <a16:creationId xmlns:a16="http://schemas.microsoft.com/office/drawing/2014/main" id="{B6C13F4D-DB5D-4778-9A13-CE181C0CB4BB}"/>
              </a:ext>
            </a:extLst>
          </p:cNvPr>
          <p:cNvCxnSpPr>
            <a:stCxn id="21" idx="3"/>
            <a:endCxn id="22" idx="1"/>
          </p:cNvCxnSpPr>
          <p:nvPr/>
        </p:nvCxnSpPr>
        <p:spPr>
          <a:xfrm>
            <a:off x="4714875" y="3057525"/>
            <a:ext cx="476250" cy="0"/>
          </a:xfrm>
          <a:prstGeom prst="straightConnector1">
            <a:avLst/>
          </a:prstGeom>
          <a:ln w="16193">
            <a:solidFill>
              <a:srgbClr val="66758A"/>
            </a:solidFill>
            <a:prstDash val="solid"/>
            <a:tailEnd type="triangle" w="sm" len="sm"/>
          </a:ln>
        </p:spPr>
      </p:cxnSp>
      <p:cxnSp>
        <p:nvCxnSpPr>
          <p:cNvPr id="36" name="Straight Arrow Connector 35">
            <a:extLst>
              <a:ext uri="{FF2B5EF4-FFF2-40B4-BE49-F238E27FC236}">
                <a16:creationId xmlns:a16="http://schemas.microsoft.com/office/drawing/2014/main" id="{49A53403-687C-4726-997C-F59D57E0E4DB}"/>
              </a:ext>
            </a:extLst>
          </p:cNvPr>
          <p:cNvCxnSpPr>
            <a:stCxn id="19" idx="3"/>
            <a:endCxn id="20" idx="1"/>
          </p:cNvCxnSpPr>
          <p:nvPr/>
        </p:nvCxnSpPr>
        <p:spPr>
          <a:xfrm>
            <a:off x="7762875" y="2371725"/>
            <a:ext cx="476250" cy="0"/>
          </a:xfrm>
          <a:prstGeom prst="straightConnector1">
            <a:avLst/>
          </a:prstGeom>
          <a:ln w="16193">
            <a:solidFill>
              <a:srgbClr val="66758A"/>
            </a:solidFill>
            <a:prstDash val="solid"/>
            <a:tailEnd type="triangle" w="sm" len="sm"/>
          </a:ln>
        </p:spPr>
      </p:cxnSp>
      <p:cxnSp>
        <p:nvCxnSpPr>
          <p:cNvPr id="35" name="Straight Arrow Connector 34">
            <a:extLst>
              <a:ext uri="{FF2B5EF4-FFF2-40B4-BE49-F238E27FC236}">
                <a16:creationId xmlns:a16="http://schemas.microsoft.com/office/drawing/2014/main" id="{4F0259A1-A0FA-4215-9D32-80E63111A0AF}"/>
              </a:ext>
            </a:extLst>
          </p:cNvPr>
          <p:cNvCxnSpPr>
            <a:stCxn id="18" idx="3"/>
            <a:endCxn id="19" idx="1"/>
          </p:cNvCxnSpPr>
          <p:nvPr/>
        </p:nvCxnSpPr>
        <p:spPr>
          <a:xfrm>
            <a:off x="4714875" y="2371725"/>
            <a:ext cx="476250" cy="0"/>
          </a:xfrm>
          <a:prstGeom prst="straightConnector1">
            <a:avLst/>
          </a:prstGeom>
          <a:ln w="16193">
            <a:solidFill>
              <a:srgbClr val="66758A"/>
            </a:solidFill>
            <a:prstDash val="solid"/>
            <a:tailEnd type="triangle" w="sm" len="sm"/>
          </a:ln>
        </p:spPr>
      </p:cxnSp>
      <p:cxnSp>
        <p:nvCxnSpPr>
          <p:cNvPr id="34" name="Straight Arrow Connector 33">
            <a:extLst>
              <a:ext uri="{FF2B5EF4-FFF2-40B4-BE49-F238E27FC236}">
                <a16:creationId xmlns:a16="http://schemas.microsoft.com/office/drawing/2014/main" id="{BA844B00-3B6A-4ADA-A569-A487CE0AC5E1}"/>
              </a:ext>
            </a:extLst>
          </p:cNvPr>
          <p:cNvCxnSpPr>
            <a:stCxn id="16" idx="3"/>
            <a:endCxn id="17" idx="1"/>
          </p:cNvCxnSpPr>
          <p:nvPr/>
        </p:nvCxnSpPr>
        <p:spPr>
          <a:xfrm>
            <a:off x="7762875" y="1685925"/>
            <a:ext cx="476250" cy="0"/>
          </a:xfrm>
          <a:prstGeom prst="straightConnector1">
            <a:avLst/>
          </a:prstGeom>
          <a:ln w="16193">
            <a:solidFill>
              <a:srgbClr val="66758A"/>
            </a:solidFill>
            <a:prstDash val="solid"/>
            <a:tailEnd type="triangle" w="sm" len="sm"/>
          </a:ln>
        </p:spPr>
      </p:cxnSp>
      <p:cxnSp>
        <p:nvCxnSpPr>
          <p:cNvPr id="33" name="Straight Arrow Connector 32">
            <a:extLst>
              <a:ext uri="{FF2B5EF4-FFF2-40B4-BE49-F238E27FC236}">
                <a16:creationId xmlns:a16="http://schemas.microsoft.com/office/drawing/2014/main" id="{BC7F6D06-D2AE-4A81-81D5-3E48D02C0107}"/>
              </a:ext>
            </a:extLst>
          </p:cNvPr>
          <p:cNvCxnSpPr>
            <a:stCxn id="15" idx="3"/>
            <a:endCxn id="16" idx="1"/>
          </p:cNvCxnSpPr>
          <p:nvPr/>
        </p:nvCxnSpPr>
        <p:spPr>
          <a:xfrm>
            <a:off x="4714875" y="1685925"/>
            <a:ext cx="476250" cy="0"/>
          </a:xfrm>
          <a:prstGeom prst="straightConnector1">
            <a:avLst/>
          </a:prstGeom>
          <a:ln w="16193">
            <a:solidFill>
              <a:srgbClr val="66758A"/>
            </a:solidFill>
            <a:prstDash val="solid"/>
            <a:tailEnd type="triangle" w="sm" len="sm"/>
          </a:ln>
        </p:spPr>
      </p:cxnSp>
      <p:sp>
        <p:nvSpPr>
          <p:cNvPr id="58" name="Rectangle 57">
            <a:extLst>
              <a:ext uri="{FF2B5EF4-FFF2-40B4-BE49-F238E27FC236}">
                <a16:creationId xmlns:a16="http://schemas.microsoft.com/office/drawing/2014/main" id="{4B55EC95-BB67-40AE-9D37-647BE2005896}"/>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Overall architecture</a:t>
            </a:r>
          </a:p>
        </p:txBody>
      </p:sp>
      <p:sp>
        <p:nvSpPr>
          <p:cNvPr id="2" name="Rectangle 1">
            <a:extLst>
              <a:ext uri="{FF2B5EF4-FFF2-40B4-BE49-F238E27FC236}">
                <a16:creationId xmlns:a16="http://schemas.microsoft.com/office/drawing/2014/main" id="{DBFC0C02-7B2F-4405-9537-95AFC54527B7}"/>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Six layers with explicit model calls, control flow and evidence state</a:t>
            </a:r>
          </a:p>
        </p:txBody>
      </p:sp>
      <p:sp>
        <p:nvSpPr>
          <p:cNvPr id="3" name="Rectangle: Rounded Corners 2">
            <a:extLst>
              <a:ext uri="{FF2B5EF4-FFF2-40B4-BE49-F238E27FC236}">
                <a16:creationId xmlns:a16="http://schemas.microsoft.com/office/drawing/2014/main" id="{7D100F3B-BA05-4290-B656-D0AB8C91E149}"/>
              </a:ext>
            </a:extLst>
          </p:cNvPr>
          <p:cNvSpPr>
            <a:spLocks noGrp="1"/>
          </p:cNvSpPr>
          <p:nvPr/>
        </p:nvSpPr>
        <p:spPr>
          <a:xfrm>
            <a:off x="381000" y="1381125"/>
            <a:ext cx="11430000" cy="609600"/>
          </a:xfrm>
          <a:prstGeom prst="roundRect">
            <a:avLst>
              <a:gd name="adj" fmla="val 15625"/>
            </a:avLst>
          </a:prstGeom>
          <a:noFill/>
          <a:ln w="14288">
            <a:solidFill>
              <a:srgbClr val="D8E0EB"/>
            </a:solidFill>
          </a:ln>
        </p:spPr>
        <p:txBody>
          <a:bodyPr/>
          <a:lstStyle/>
          <a:p>
            <a:endParaRPr lang="en-US"/>
          </a:p>
        </p:txBody>
      </p:sp>
      <p:sp>
        <p:nvSpPr>
          <p:cNvPr id="4" name="Rectangle 3">
            <a:extLst>
              <a:ext uri="{FF2B5EF4-FFF2-40B4-BE49-F238E27FC236}">
                <a16:creationId xmlns:a16="http://schemas.microsoft.com/office/drawing/2014/main" id="{4A8009ED-CF83-4251-95D6-445D4449376C}"/>
              </a:ext>
            </a:extLst>
          </p:cNvPr>
          <p:cNvSpPr>
            <a:spLocks noGrp="1"/>
          </p:cNvSpPr>
          <p:nvPr/>
        </p:nvSpPr>
        <p:spPr>
          <a:xfrm>
            <a:off x="495300" y="14573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00  INGEST</a:t>
            </a:r>
          </a:p>
        </p:txBody>
      </p:sp>
      <p:sp>
        <p:nvSpPr>
          <p:cNvPr id="5" name="Rectangle: Rounded Corners 4">
            <a:extLst>
              <a:ext uri="{FF2B5EF4-FFF2-40B4-BE49-F238E27FC236}">
                <a16:creationId xmlns:a16="http://schemas.microsoft.com/office/drawing/2014/main" id="{58CDF1C5-DCCB-4410-AD05-F1B27A718848}"/>
              </a:ext>
            </a:extLst>
          </p:cNvPr>
          <p:cNvSpPr>
            <a:spLocks noGrp="1"/>
          </p:cNvSpPr>
          <p:nvPr/>
        </p:nvSpPr>
        <p:spPr>
          <a:xfrm>
            <a:off x="381000" y="2066925"/>
            <a:ext cx="11430000" cy="609600"/>
          </a:xfrm>
          <a:prstGeom prst="roundRect">
            <a:avLst>
              <a:gd name="adj" fmla="val 15625"/>
            </a:avLst>
          </a:prstGeom>
          <a:noFill/>
          <a:ln w="14288">
            <a:solidFill>
              <a:srgbClr val="D8E0EB"/>
            </a:solidFill>
          </a:ln>
        </p:spPr>
        <p:txBody>
          <a:bodyPr/>
          <a:lstStyle/>
          <a:p>
            <a:endParaRPr lang="en-US"/>
          </a:p>
        </p:txBody>
      </p:sp>
      <p:sp>
        <p:nvSpPr>
          <p:cNvPr id="6" name="Rectangle 5">
            <a:extLst>
              <a:ext uri="{FF2B5EF4-FFF2-40B4-BE49-F238E27FC236}">
                <a16:creationId xmlns:a16="http://schemas.microsoft.com/office/drawing/2014/main" id="{1C8DE7A8-FAEE-4146-89F4-45E25F3349D7}"/>
              </a:ext>
            </a:extLst>
          </p:cNvPr>
          <p:cNvSpPr>
            <a:spLocks noGrp="1"/>
          </p:cNvSpPr>
          <p:nvPr/>
        </p:nvSpPr>
        <p:spPr>
          <a:xfrm>
            <a:off x="495300" y="21431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01  INTAKE</a:t>
            </a:r>
          </a:p>
        </p:txBody>
      </p:sp>
      <p:sp>
        <p:nvSpPr>
          <p:cNvPr id="7" name="Rectangle: Rounded Corners 6">
            <a:extLst>
              <a:ext uri="{FF2B5EF4-FFF2-40B4-BE49-F238E27FC236}">
                <a16:creationId xmlns:a16="http://schemas.microsoft.com/office/drawing/2014/main" id="{AFFB2161-CFDC-4ADA-8D19-8032536BA33F}"/>
              </a:ext>
            </a:extLst>
          </p:cNvPr>
          <p:cNvSpPr>
            <a:spLocks noGrp="1"/>
          </p:cNvSpPr>
          <p:nvPr/>
        </p:nvSpPr>
        <p:spPr>
          <a:xfrm>
            <a:off x="381000" y="2752725"/>
            <a:ext cx="11430000" cy="609600"/>
          </a:xfrm>
          <a:prstGeom prst="roundRect">
            <a:avLst>
              <a:gd name="adj" fmla="val 15625"/>
            </a:avLst>
          </a:prstGeom>
          <a:noFill/>
          <a:ln w="14288">
            <a:solidFill>
              <a:srgbClr val="D8E0EB"/>
            </a:solidFill>
          </a:ln>
        </p:spPr>
        <p:txBody>
          <a:bodyPr/>
          <a:lstStyle/>
          <a:p>
            <a:endParaRPr lang="en-US"/>
          </a:p>
        </p:txBody>
      </p:sp>
      <p:sp>
        <p:nvSpPr>
          <p:cNvPr id="8" name="Rectangle 7">
            <a:extLst>
              <a:ext uri="{FF2B5EF4-FFF2-40B4-BE49-F238E27FC236}">
                <a16:creationId xmlns:a16="http://schemas.microsoft.com/office/drawing/2014/main" id="{51746A9C-6521-426E-B18B-F56BA0ACB5BF}"/>
              </a:ext>
            </a:extLst>
          </p:cNvPr>
          <p:cNvSpPr>
            <a:spLocks noGrp="1"/>
          </p:cNvSpPr>
          <p:nvPr/>
        </p:nvSpPr>
        <p:spPr>
          <a:xfrm>
            <a:off x="495300" y="28289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02  ROUTE</a:t>
            </a:r>
          </a:p>
        </p:txBody>
      </p:sp>
      <p:sp>
        <p:nvSpPr>
          <p:cNvPr id="9" name="Rectangle: Rounded Corners 8">
            <a:extLst>
              <a:ext uri="{FF2B5EF4-FFF2-40B4-BE49-F238E27FC236}">
                <a16:creationId xmlns:a16="http://schemas.microsoft.com/office/drawing/2014/main" id="{FCA764A0-E123-45CE-ACAE-896FC4479ABA}"/>
              </a:ext>
            </a:extLst>
          </p:cNvPr>
          <p:cNvSpPr>
            <a:spLocks noGrp="1"/>
          </p:cNvSpPr>
          <p:nvPr/>
        </p:nvSpPr>
        <p:spPr>
          <a:xfrm>
            <a:off x="381000" y="3438525"/>
            <a:ext cx="11430000" cy="609600"/>
          </a:xfrm>
          <a:prstGeom prst="roundRect">
            <a:avLst>
              <a:gd name="adj" fmla="val 15625"/>
            </a:avLst>
          </a:prstGeom>
          <a:noFill/>
          <a:ln w="14288">
            <a:solidFill>
              <a:srgbClr val="D8E0EB"/>
            </a:solidFill>
          </a:ln>
        </p:spPr>
        <p:txBody>
          <a:bodyPr/>
          <a:lstStyle/>
          <a:p>
            <a:endParaRPr lang="en-US"/>
          </a:p>
        </p:txBody>
      </p:sp>
      <p:sp>
        <p:nvSpPr>
          <p:cNvPr id="10" name="Rectangle 9">
            <a:extLst>
              <a:ext uri="{FF2B5EF4-FFF2-40B4-BE49-F238E27FC236}">
                <a16:creationId xmlns:a16="http://schemas.microsoft.com/office/drawing/2014/main" id="{81935B37-28DE-4233-9090-4BFD55B7C3EB}"/>
              </a:ext>
            </a:extLst>
          </p:cNvPr>
          <p:cNvSpPr>
            <a:spLocks noGrp="1"/>
          </p:cNvSpPr>
          <p:nvPr/>
        </p:nvSpPr>
        <p:spPr>
          <a:xfrm>
            <a:off x="495300" y="35147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03  ANALYZE</a:t>
            </a:r>
          </a:p>
        </p:txBody>
      </p:sp>
      <p:sp>
        <p:nvSpPr>
          <p:cNvPr id="11" name="Rectangle: Rounded Corners 10">
            <a:extLst>
              <a:ext uri="{FF2B5EF4-FFF2-40B4-BE49-F238E27FC236}">
                <a16:creationId xmlns:a16="http://schemas.microsoft.com/office/drawing/2014/main" id="{E6478938-BE5A-49C3-8ABD-F4CAF2A8C1AF}"/>
              </a:ext>
            </a:extLst>
          </p:cNvPr>
          <p:cNvSpPr>
            <a:spLocks noGrp="1"/>
          </p:cNvSpPr>
          <p:nvPr/>
        </p:nvSpPr>
        <p:spPr>
          <a:xfrm>
            <a:off x="381000" y="4124325"/>
            <a:ext cx="11430000" cy="609600"/>
          </a:xfrm>
          <a:prstGeom prst="roundRect">
            <a:avLst>
              <a:gd name="adj" fmla="val 15625"/>
            </a:avLst>
          </a:prstGeom>
          <a:noFill/>
          <a:ln w="14288">
            <a:solidFill>
              <a:srgbClr val="D8E0EB"/>
            </a:solidFill>
          </a:ln>
        </p:spPr>
        <p:txBody>
          <a:bodyPr/>
          <a:lstStyle/>
          <a:p>
            <a:endParaRPr lang="en-US"/>
          </a:p>
        </p:txBody>
      </p:sp>
      <p:sp>
        <p:nvSpPr>
          <p:cNvPr id="12" name="Rectangle 11">
            <a:extLst>
              <a:ext uri="{FF2B5EF4-FFF2-40B4-BE49-F238E27FC236}">
                <a16:creationId xmlns:a16="http://schemas.microsoft.com/office/drawing/2014/main" id="{8B132D81-9023-494C-8498-F069D12AA6E8}"/>
              </a:ext>
            </a:extLst>
          </p:cNvPr>
          <p:cNvSpPr>
            <a:spLocks noGrp="1"/>
          </p:cNvSpPr>
          <p:nvPr/>
        </p:nvSpPr>
        <p:spPr>
          <a:xfrm>
            <a:off x="495300" y="42005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04  REVIEW</a:t>
            </a:r>
          </a:p>
        </p:txBody>
      </p:sp>
      <p:sp>
        <p:nvSpPr>
          <p:cNvPr id="13" name="Rectangle: Rounded Corners 12">
            <a:extLst>
              <a:ext uri="{FF2B5EF4-FFF2-40B4-BE49-F238E27FC236}">
                <a16:creationId xmlns:a16="http://schemas.microsoft.com/office/drawing/2014/main" id="{A548271B-52DD-4F92-B223-2354CD9514A2}"/>
              </a:ext>
            </a:extLst>
          </p:cNvPr>
          <p:cNvSpPr>
            <a:spLocks noGrp="1"/>
          </p:cNvSpPr>
          <p:nvPr/>
        </p:nvSpPr>
        <p:spPr>
          <a:xfrm>
            <a:off x="381000" y="4810125"/>
            <a:ext cx="11430000" cy="609600"/>
          </a:xfrm>
          <a:prstGeom prst="roundRect">
            <a:avLst>
              <a:gd name="adj" fmla="val 15625"/>
            </a:avLst>
          </a:prstGeom>
          <a:noFill/>
          <a:ln w="14288">
            <a:solidFill>
              <a:srgbClr val="D8E0EB"/>
            </a:solidFill>
          </a:ln>
        </p:spPr>
        <p:txBody>
          <a:bodyPr/>
          <a:lstStyle/>
          <a:p>
            <a:endParaRPr lang="en-US"/>
          </a:p>
        </p:txBody>
      </p:sp>
      <p:sp>
        <p:nvSpPr>
          <p:cNvPr id="14" name="Rectangle 13">
            <a:extLst>
              <a:ext uri="{FF2B5EF4-FFF2-40B4-BE49-F238E27FC236}">
                <a16:creationId xmlns:a16="http://schemas.microsoft.com/office/drawing/2014/main" id="{1A6EE638-7460-4E0A-8C91-30C12D18433E}"/>
              </a:ext>
            </a:extLst>
          </p:cNvPr>
          <p:cNvSpPr>
            <a:spLocks noGrp="1"/>
          </p:cNvSpPr>
          <p:nvPr/>
        </p:nvSpPr>
        <p:spPr>
          <a:xfrm>
            <a:off x="495300" y="4886325"/>
            <a:ext cx="1504950" cy="457200"/>
          </a:xfrm>
          <a:prstGeom prst="rect">
            <a:avLst/>
          </a:prstGeom>
          <a:noFill/>
          <a:ln w="0">
            <a:noFill/>
          </a:ln>
        </p:spPr>
        <p:txBody>
          <a:bodyPr wrap="square" lIns="0" tIns="0" rIns="0" bIns="0" anchor="ctr">
            <a:noAutofit/>
          </a:bodyPr>
          <a:lstStyle>
            <a:defPPr algn="l">
              <a:defRPr sz="1425" b="1">
                <a:solidFill>
                  <a:srgbClr val="53647B"/>
                </a:solidFill>
                <a:latin typeface="Arial"/>
                <a:ea typeface="Arial"/>
                <a:cs typeface="Arial"/>
              </a:defRPr>
            </a:defPPr>
            <a:lvl1pPr algn="l">
              <a:defRPr sz="1425" b="1">
                <a:solidFill>
                  <a:srgbClr val="53647B"/>
                </a:solidFill>
                <a:latin typeface="Arial"/>
                <a:ea typeface="Arial"/>
                <a:cs typeface="Arial"/>
              </a:defRPr>
            </a:lvl1pPr>
            <a:lvl2pPr algn="l">
              <a:defRPr sz="1425" b="1">
                <a:solidFill>
                  <a:srgbClr val="53647B"/>
                </a:solidFill>
                <a:latin typeface="Arial"/>
                <a:ea typeface="Arial"/>
                <a:cs typeface="Arial"/>
              </a:defRPr>
            </a:lvl2pPr>
            <a:lvl3pPr algn="l">
              <a:defRPr sz="1425" b="1">
                <a:solidFill>
                  <a:srgbClr val="53647B"/>
                </a:solidFill>
                <a:latin typeface="Arial"/>
                <a:ea typeface="Arial"/>
                <a:cs typeface="Arial"/>
              </a:defRPr>
            </a:lvl3pPr>
            <a:lvl4pPr algn="l">
              <a:defRPr sz="1425" b="1">
                <a:solidFill>
                  <a:srgbClr val="53647B"/>
                </a:solidFill>
                <a:latin typeface="Arial"/>
                <a:ea typeface="Arial"/>
                <a:cs typeface="Arial"/>
              </a:defRPr>
            </a:lvl4pPr>
            <a:lvl5pPr algn="l">
              <a:defRPr sz="1425" b="1">
                <a:solidFill>
                  <a:srgbClr val="53647B"/>
                </a:solidFill>
                <a:latin typeface="Arial"/>
                <a:ea typeface="Arial"/>
                <a:cs typeface="Arial"/>
              </a:defRPr>
            </a:lvl5pPr>
            <a:lvl6pPr algn="l">
              <a:defRPr sz="1425" b="1">
                <a:solidFill>
                  <a:srgbClr val="53647B"/>
                </a:solidFill>
                <a:latin typeface="Arial"/>
                <a:ea typeface="Arial"/>
                <a:cs typeface="Arial"/>
              </a:defRPr>
            </a:lvl6pPr>
            <a:lvl7pPr algn="l">
              <a:defRPr sz="1425" b="1">
                <a:solidFill>
                  <a:srgbClr val="53647B"/>
                </a:solidFill>
                <a:latin typeface="Arial"/>
                <a:ea typeface="Arial"/>
                <a:cs typeface="Arial"/>
              </a:defRPr>
            </a:lvl7pPr>
            <a:lvl8pPr algn="l">
              <a:defRPr sz="1425" b="1">
                <a:solidFill>
                  <a:srgbClr val="53647B"/>
                </a:solidFill>
                <a:latin typeface="Arial"/>
                <a:ea typeface="Arial"/>
                <a:cs typeface="Arial"/>
              </a:defRPr>
            </a:lvl8pPr>
            <a:lvl9pPr algn="l">
              <a:defRPr sz="1425" b="1">
                <a:solidFill>
                  <a:srgbClr val="53647B"/>
                </a:solidFill>
                <a:latin typeface="Arial"/>
                <a:ea typeface="Arial"/>
                <a:cs typeface="Arial"/>
              </a:defRPr>
            </a:lvl9pPr>
          </a:lstStyle>
          <a:p>
            <a:pPr algn="l">
              <a:defRPr sz="1425" b="1">
                <a:solidFill>
                  <a:srgbClr val="53647B"/>
                </a:solidFill>
                <a:latin typeface="Arial"/>
                <a:ea typeface="Arial"/>
                <a:cs typeface="Arial"/>
              </a:defRPr>
            </a:pPr>
            <a:r>
              <a:rPr sz="1425" b="1">
                <a:solidFill>
                  <a:srgbClr val="53647B"/>
                </a:solidFill>
                <a:latin typeface="Arial"/>
                <a:ea typeface="Arial"/>
                <a:cs typeface="Arial"/>
              </a:rPr>
              <a:t>05  PRESENT</a:t>
            </a:r>
          </a:p>
        </p:txBody>
      </p:sp>
      <p:sp>
        <p:nvSpPr>
          <p:cNvPr id="15" name="Rectangle: Rounded Corners 14">
            <a:extLst>
              <a:ext uri="{FF2B5EF4-FFF2-40B4-BE49-F238E27FC236}">
                <a16:creationId xmlns:a16="http://schemas.microsoft.com/office/drawing/2014/main" id="{98747AF5-982F-48EE-9ACB-64F48461BFB2}"/>
              </a:ext>
            </a:extLst>
          </p:cNvPr>
          <p:cNvSpPr>
            <a:spLocks noGrp="1"/>
          </p:cNvSpPr>
          <p:nvPr/>
        </p:nvSpPr>
        <p:spPr>
          <a:xfrm>
            <a:off x="2143125" y="1457325"/>
            <a:ext cx="2571750" cy="457200"/>
          </a:xfrm>
          <a:prstGeom prst="roundRect">
            <a:avLst>
              <a:gd name="adj" fmla="val 20833"/>
            </a:avLst>
          </a:prstGeom>
          <a:solidFill>
            <a:srgbClr val="EAF1FB"/>
          </a:solidFill>
          <a:ln w="14288">
            <a:solidFill>
              <a:srgbClr val="6D91C9"/>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Parse + register</a:t>
            </a:r>
          </a:p>
        </p:txBody>
      </p:sp>
      <p:sp>
        <p:nvSpPr>
          <p:cNvPr id="16" name="Rectangle: Rounded Corners 15">
            <a:extLst>
              <a:ext uri="{FF2B5EF4-FFF2-40B4-BE49-F238E27FC236}">
                <a16:creationId xmlns:a16="http://schemas.microsoft.com/office/drawing/2014/main" id="{9F9EE040-5651-4AC6-A8F9-DCD524A73D9D}"/>
              </a:ext>
            </a:extLst>
          </p:cNvPr>
          <p:cNvSpPr>
            <a:spLocks noGrp="1"/>
          </p:cNvSpPr>
          <p:nvPr/>
        </p:nvSpPr>
        <p:spPr>
          <a:xfrm>
            <a:off x="5191125" y="14573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Titan embeddings</a:t>
            </a:r>
          </a:p>
        </p:txBody>
      </p:sp>
      <p:sp>
        <p:nvSpPr>
          <p:cNvPr id="17" name="Rectangle: Rounded Corners 16">
            <a:extLst>
              <a:ext uri="{FF2B5EF4-FFF2-40B4-BE49-F238E27FC236}">
                <a16:creationId xmlns:a16="http://schemas.microsoft.com/office/drawing/2014/main" id="{8F64EA1C-A8B5-4EF5-8F4E-09B81CDC2BA5}"/>
              </a:ext>
            </a:extLst>
          </p:cNvPr>
          <p:cNvSpPr>
            <a:spLocks noGrp="1"/>
          </p:cNvSpPr>
          <p:nvPr/>
        </p:nvSpPr>
        <p:spPr>
          <a:xfrm>
            <a:off x="8239125" y="1457325"/>
            <a:ext cx="3095625" cy="457200"/>
          </a:xfrm>
          <a:prstGeom prst="roundRect">
            <a:avLst>
              <a:gd name="adj" fmla="val 20833"/>
            </a:avLst>
          </a:prstGeom>
          <a:solidFill>
            <a:srgbClr val="E6F3F1"/>
          </a:solidFill>
          <a:ln w="14288">
            <a:solidFill>
              <a:srgbClr val="4D978E"/>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Reference index + graph</a:t>
            </a:r>
          </a:p>
        </p:txBody>
      </p:sp>
      <p:sp>
        <p:nvSpPr>
          <p:cNvPr id="18" name="Rectangle: Rounded Corners 17">
            <a:extLst>
              <a:ext uri="{FF2B5EF4-FFF2-40B4-BE49-F238E27FC236}">
                <a16:creationId xmlns:a16="http://schemas.microsoft.com/office/drawing/2014/main" id="{0D092DAE-E100-4B4C-8EF7-32F53D101AD8}"/>
              </a:ext>
            </a:extLst>
          </p:cNvPr>
          <p:cNvSpPr>
            <a:spLocks noGrp="1"/>
          </p:cNvSpPr>
          <p:nvPr/>
        </p:nvSpPr>
        <p:spPr>
          <a:xfrm>
            <a:off x="2143125" y="2143125"/>
            <a:ext cx="2571750" cy="457200"/>
          </a:xfrm>
          <a:prstGeom prst="roundRect">
            <a:avLst>
              <a:gd name="adj" fmla="val 20833"/>
            </a:avLst>
          </a:prstGeom>
          <a:solidFill>
            <a:srgbClr val="E6F3F1"/>
          </a:solidFill>
          <a:ln w="14288">
            <a:solidFill>
              <a:srgbClr val="4D978E"/>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Text / images</a:t>
            </a:r>
          </a:p>
        </p:txBody>
      </p:sp>
      <p:sp>
        <p:nvSpPr>
          <p:cNvPr id="19" name="Rectangle: Rounded Corners 18">
            <a:extLst>
              <a:ext uri="{FF2B5EF4-FFF2-40B4-BE49-F238E27FC236}">
                <a16:creationId xmlns:a16="http://schemas.microsoft.com/office/drawing/2014/main" id="{5EC30E06-8270-4CD3-B599-485ED44E3E41}"/>
              </a:ext>
            </a:extLst>
          </p:cNvPr>
          <p:cNvSpPr>
            <a:spLocks noGrp="1"/>
          </p:cNvSpPr>
          <p:nvPr/>
        </p:nvSpPr>
        <p:spPr>
          <a:xfrm>
            <a:off x="5191125" y="21431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Sonnet decomposition</a:t>
            </a:r>
          </a:p>
        </p:txBody>
      </p:sp>
      <p:sp>
        <p:nvSpPr>
          <p:cNvPr id="20" name="Rectangle: Rounded Corners 19">
            <a:extLst>
              <a:ext uri="{FF2B5EF4-FFF2-40B4-BE49-F238E27FC236}">
                <a16:creationId xmlns:a16="http://schemas.microsoft.com/office/drawing/2014/main" id="{1BEF9871-8E7D-4DC9-80E3-2E5CF8B8DED5}"/>
              </a:ext>
            </a:extLst>
          </p:cNvPr>
          <p:cNvSpPr>
            <a:spLocks noGrp="1"/>
          </p:cNvSpPr>
          <p:nvPr/>
        </p:nvSpPr>
        <p:spPr>
          <a:xfrm>
            <a:off x="8239125" y="2143125"/>
            <a:ext cx="3095625" cy="457200"/>
          </a:xfrm>
          <a:prstGeom prst="roundRect">
            <a:avLst>
              <a:gd name="adj" fmla="val 20833"/>
            </a:avLst>
          </a:prstGeom>
          <a:solidFill>
            <a:srgbClr val="EAF1FB"/>
          </a:solidFill>
          <a:ln w="14288">
            <a:solidFill>
              <a:srgbClr val="6D91C9"/>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Validated needs</a:t>
            </a:r>
          </a:p>
        </p:txBody>
      </p:sp>
      <p:sp>
        <p:nvSpPr>
          <p:cNvPr id="21" name="Rectangle: Rounded Corners 20">
            <a:extLst>
              <a:ext uri="{FF2B5EF4-FFF2-40B4-BE49-F238E27FC236}">
                <a16:creationId xmlns:a16="http://schemas.microsoft.com/office/drawing/2014/main" id="{29E25FB8-DF3C-45E4-9ED6-D75B6D81FA6C}"/>
              </a:ext>
            </a:extLst>
          </p:cNvPr>
          <p:cNvSpPr>
            <a:spLocks noGrp="1"/>
          </p:cNvSpPr>
          <p:nvPr/>
        </p:nvSpPr>
        <p:spPr>
          <a:xfrm>
            <a:off x="2143125" y="28289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Sonnet assignments</a:t>
            </a:r>
          </a:p>
        </p:txBody>
      </p:sp>
      <p:sp>
        <p:nvSpPr>
          <p:cNvPr id="22" name="Rectangle: Rounded Corners 21">
            <a:extLst>
              <a:ext uri="{FF2B5EF4-FFF2-40B4-BE49-F238E27FC236}">
                <a16:creationId xmlns:a16="http://schemas.microsoft.com/office/drawing/2014/main" id="{479C46BD-17AE-429F-917B-2FCEBB938F86}"/>
              </a:ext>
            </a:extLst>
          </p:cNvPr>
          <p:cNvSpPr>
            <a:spLocks noGrp="1"/>
          </p:cNvSpPr>
          <p:nvPr/>
        </p:nvSpPr>
        <p:spPr>
          <a:xfrm>
            <a:off x="5191125" y="2828925"/>
            <a:ext cx="2571750" cy="457200"/>
          </a:xfrm>
          <a:prstGeom prst="roundRect">
            <a:avLst>
              <a:gd name="adj" fmla="val 20833"/>
            </a:avLst>
          </a:prstGeom>
          <a:solidFill>
            <a:srgbClr val="EAF1FB"/>
          </a:solidFill>
          <a:ln w="14288">
            <a:solidFill>
              <a:srgbClr val="6D91C9"/>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Runtime validation</a:t>
            </a:r>
          </a:p>
        </p:txBody>
      </p:sp>
      <p:sp>
        <p:nvSpPr>
          <p:cNvPr id="23" name="Rectangle: Rounded Corners 22">
            <a:extLst>
              <a:ext uri="{FF2B5EF4-FFF2-40B4-BE49-F238E27FC236}">
                <a16:creationId xmlns:a16="http://schemas.microsoft.com/office/drawing/2014/main" id="{95F2C4CA-8686-4E6F-B023-232DFB6ED8D0}"/>
              </a:ext>
            </a:extLst>
          </p:cNvPr>
          <p:cNvSpPr>
            <a:spLocks noGrp="1"/>
          </p:cNvSpPr>
          <p:nvPr/>
        </p:nvSpPr>
        <p:spPr>
          <a:xfrm>
            <a:off x="8239125" y="2828925"/>
            <a:ext cx="3095625" cy="457200"/>
          </a:xfrm>
          <a:prstGeom prst="roundRect">
            <a:avLst>
              <a:gd name="adj" fmla="val 20833"/>
            </a:avLst>
          </a:prstGeom>
          <a:solidFill>
            <a:srgbClr val="EAF1FB"/>
          </a:solidFill>
          <a:ln w="14288">
            <a:solidFill>
              <a:srgbClr val="6D91C9"/>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Parallel dispatch</a:t>
            </a:r>
          </a:p>
        </p:txBody>
      </p:sp>
      <p:sp>
        <p:nvSpPr>
          <p:cNvPr id="24" name="Rectangle: Rounded Corners 23">
            <a:extLst>
              <a:ext uri="{FF2B5EF4-FFF2-40B4-BE49-F238E27FC236}">
                <a16:creationId xmlns:a16="http://schemas.microsoft.com/office/drawing/2014/main" id="{FE59CE77-71E8-429D-B54C-A1D90290AA0F}"/>
              </a:ext>
            </a:extLst>
          </p:cNvPr>
          <p:cNvSpPr>
            <a:spLocks noGrp="1"/>
          </p:cNvSpPr>
          <p:nvPr/>
        </p:nvSpPr>
        <p:spPr>
          <a:xfrm>
            <a:off x="2143125" y="35147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Specialist models</a:t>
            </a:r>
          </a:p>
        </p:txBody>
      </p:sp>
      <p:sp>
        <p:nvSpPr>
          <p:cNvPr id="25" name="Rectangle: Rounded Corners 24">
            <a:extLst>
              <a:ext uri="{FF2B5EF4-FFF2-40B4-BE49-F238E27FC236}">
                <a16:creationId xmlns:a16="http://schemas.microsoft.com/office/drawing/2014/main" id="{08CB2DC4-8042-4F6F-AD10-D34247E6EA35}"/>
              </a:ext>
            </a:extLst>
          </p:cNvPr>
          <p:cNvSpPr>
            <a:spLocks noGrp="1"/>
          </p:cNvSpPr>
          <p:nvPr/>
        </p:nvSpPr>
        <p:spPr>
          <a:xfrm>
            <a:off x="5191125" y="35147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RAG + graph / rerank</a:t>
            </a:r>
          </a:p>
        </p:txBody>
      </p:sp>
      <p:sp>
        <p:nvSpPr>
          <p:cNvPr id="26" name="Rectangle: Rounded Corners 25">
            <a:extLst>
              <a:ext uri="{FF2B5EF4-FFF2-40B4-BE49-F238E27FC236}">
                <a16:creationId xmlns:a16="http://schemas.microsoft.com/office/drawing/2014/main" id="{A542CD4B-B6A0-4155-B66A-2DDEB2B90F87}"/>
              </a:ext>
            </a:extLst>
          </p:cNvPr>
          <p:cNvSpPr>
            <a:spLocks noGrp="1"/>
          </p:cNvSpPr>
          <p:nvPr/>
        </p:nvSpPr>
        <p:spPr>
          <a:xfrm>
            <a:off x="8239125" y="3514725"/>
            <a:ext cx="3095625" cy="457200"/>
          </a:xfrm>
          <a:prstGeom prst="roundRect">
            <a:avLst>
              <a:gd name="adj" fmla="val 20833"/>
            </a:avLst>
          </a:prstGeom>
          <a:solidFill>
            <a:srgbClr val="E6F3F1"/>
          </a:solidFill>
          <a:ln w="14288">
            <a:solidFill>
              <a:srgbClr val="4D978E"/>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Evidence packages</a:t>
            </a:r>
          </a:p>
        </p:txBody>
      </p:sp>
      <p:sp>
        <p:nvSpPr>
          <p:cNvPr id="27" name="Rectangle: Rounded Corners 26">
            <a:extLst>
              <a:ext uri="{FF2B5EF4-FFF2-40B4-BE49-F238E27FC236}">
                <a16:creationId xmlns:a16="http://schemas.microsoft.com/office/drawing/2014/main" id="{AC350DDC-3F1B-4D8C-92CB-B00999DDEC6A}"/>
              </a:ext>
            </a:extLst>
          </p:cNvPr>
          <p:cNvSpPr>
            <a:spLocks noGrp="1"/>
          </p:cNvSpPr>
          <p:nvPr/>
        </p:nvSpPr>
        <p:spPr>
          <a:xfrm>
            <a:off x="2143125" y="42005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Doctor synthesis</a:t>
            </a:r>
          </a:p>
        </p:txBody>
      </p:sp>
      <p:sp>
        <p:nvSpPr>
          <p:cNvPr id="28" name="Rectangle: Rounded Corners 27">
            <a:extLst>
              <a:ext uri="{FF2B5EF4-FFF2-40B4-BE49-F238E27FC236}">
                <a16:creationId xmlns:a16="http://schemas.microsoft.com/office/drawing/2014/main" id="{8B5AFEBC-4BAF-49CA-9D49-BE253032509B}"/>
              </a:ext>
            </a:extLst>
          </p:cNvPr>
          <p:cNvSpPr>
            <a:spLocks noGrp="1"/>
          </p:cNvSpPr>
          <p:nvPr/>
        </p:nvSpPr>
        <p:spPr>
          <a:xfrm>
            <a:off x="5191125" y="4200525"/>
            <a:ext cx="2571750" cy="457200"/>
          </a:xfrm>
          <a:prstGeom prst="roundRect">
            <a:avLst>
              <a:gd name="adj" fmla="val 20833"/>
            </a:avLst>
          </a:prstGeom>
          <a:solidFill>
            <a:srgbClr val="EDF5E8"/>
          </a:solidFill>
          <a:ln w="14288">
            <a:solidFill>
              <a:srgbClr val="71A266"/>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Review / clarify gate</a:t>
            </a:r>
          </a:p>
        </p:txBody>
      </p:sp>
      <p:sp>
        <p:nvSpPr>
          <p:cNvPr id="29" name="Rectangle: Rounded Corners 28">
            <a:extLst>
              <a:ext uri="{FF2B5EF4-FFF2-40B4-BE49-F238E27FC236}">
                <a16:creationId xmlns:a16="http://schemas.microsoft.com/office/drawing/2014/main" id="{65B7F122-FAB2-4AF6-857F-EA9788CE4DB5}"/>
              </a:ext>
            </a:extLst>
          </p:cNvPr>
          <p:cNvSpPr>
            <a:spLocks noGrp="1"/>
          </p:cNvSpPr>
          <p:nvPr/>
        </p:nvSpPr>
        <p:spPr>
          <a:xfrm>
            <a:off x="8239125" y="4200525"/>
            <a:ext cx="3095625"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Nutrition + physio</a:t>
            </a:r>
          </a:p>
        </p:txBody>
      </p:sp>
      <p:sp>
        <p:nvSpPr>
          <p:cNvPr id="30" name="Rectangle: Rounded Corners 29">
            <a:extLst>
              <a:ext uri="{FF2B5EF4-FFF2-40B4-BE49-F238E27FC236}">
                <a16:creationId xmlns:a16="http://schemas.microsoft.com/office/drawing/2014/main" id="{64F7E23B-A8EC-4919-BE02-77E23F4D5EC3}"/>
              </a:ext>
            </a:extLst>
          </p:cNvPr>
          <p:cNvSpPr>
            <a:spLocks noGrp="1"/>
          </p:cNvSpPr>
          <p:nvPr/>
        </p:nvSpPr>
        <p:spPr>
          <a:xfrm>
            <a:off x="2143125" y="48863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Guidance check</a:t>
            </a:r>
          </a:p>
        </p:txBody>
      </p:sp>
      <p:sp>
        <p:nvSpPr>
          <p:cNvPr id="31" name="Rectangle: Rounded Corners 30">
            <a:extLst>
              <a:ext uri="{FF2B5EF4-FFF2-40B4-BE49-F238E27FC236}">
                <a16:creationId xmlns:a16="http://schemas.microsoft.com/office/drawing/2014/main" id="{C7F854BE-84F3-4ADA-B90F-B3F066AAC5D0}"/>
              </a:ext>
            </a:extLst>
          </p:cNvPr>
          <p:cNvSpPr>
            <a:spLocks noGrp="1"/>
          </p:cNvSpPr>
          <p:nvPr/>
        </p:nvSpPr>
        <p:spPr>
          <a:xfrm>
            <a:off x="5191125" y="4886325"/>
            <a:ext cx="2571750" cy="457200"/>
          </a:xfrm>
          <a:prstGeom prst="roundRect">
            <a:avLst>
              <a:gd name="adj" fmla="val 20833"/>
            </a:avLst>
          </a:prstGeom>
          <a:solidFill>
            <a:srgbClr val="F0E8FC"/>
          </a:solidFill>
          <a:ln w="14288">
            <a:solidFill>
              <a:srgbClr val="8B5FC7"/>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Sonnet generation</a:t>
            </a:r>
          </a:p>
        </p:txBody>
      </p:sp>
      <p:sp>
        <p:nvSpPr>
          <p:cNvPr id="32" name="Rectangle: Rounded Corners 31">
            <a:extLst>
              <a:ext uri="{FF2B5EF4-FFF2-40B4-BE49-F238E27FC236}">
                <a16:creationId xmlns:a16="http://schemas.microsoft.com/office/drawing/2014/main" id="{030932A2-AD8A-471D-92C4-56E478EE430A}"/>
              </a:ext>
            </a:extLst>
          </p:cNvPr>
          <p:cNvSpPr>
            <a:spLocks noGrp="1"/>
          </p:cNvSpPr>
          <p:nvPr/>
        </p:nvSpPr>
        <p:spPr>
          <a:xfrm>
            <a:off x="8239125" y="4886325"/>
            <a:ext cx="3095625" cy="457200"/>
          </a:xfrm>
          <a:prstGeom prst="roundRect">
            <a:avLst>
              <a:gd name="adj" fmla="val 20833"/>
            </a:avLst>
          </a:prstGeom>
          <a:solidFill>
            <a:srgbClr val="EAF1FB"/>
          </a:solidFill>
          <a:ln w="14288">
            <a:solidFill>
              <a:srgbClr val="6D91C9"/>
            </a:solidFill>
          </a:ln>
        </p:spPr>
        <p:txBody>
          <a:bodyPr wrap="square" lIns="95250" tIns="95250" rIns="95250" bIns="95250" anchor="ctr">
            <a:noAutofit/>
          </a:bodyPr>
          <a:lstStyle>
            <a:defPPr algn="ctr">
              <a:defRPr sz="1425" b="0">
                <a:solidFill>
                  <a:srgbClr val="17243A"/>
                </a:solidFill>
                <a:latin typeface="Arial"/>
                <a:ea typeface="Arial"/>
                <a:cs typeface="Arial"/>
              </a:defRPr>
            </a:defPPr>
            <a:lvl1pPr algn="ctr">
              <a:defRPr sz="1425" b="0">
                <a:solidFill>
                  <a:srgbClr val="17243A"/>
                </a:solidFill>
                <a:latin typeface="Arial"/>
                <a:ea typeface="Arial"/>
                <a:cs typeface="Arial"/>
              </a:defRPr>
            </a:lvl1pPr>
            <a:lvl2pPr algn="ctr">
              <a:defRPr sz="1425" b="0">
                <a:solidFill>
                  <a:srgbClr val="17243A"/>
                </a:solidFill>
                <a:latin typeface="Arial"/>
                <a:ea typeface="Arial"/>
                <a:cs typeface="Arial"/>
              </a:defRPr>
            </a:lvl2pPr>
            <a:lvl3pPr algn="ctr">
              <a:defRPr sz="1425" b="0">
                <a:solidFill>
                  <a:srgbClr val="17243A"/>
                </a:solidFill>
                <a:latin typeface="Arial"/>
                <a:ea typeface="Arial"/>
                <a:cs typeface="Arial"/>
              </a:defRPr>
            </a:lvl3pPr>
            <a:lvl4pPr algn="ctr">
              <a:defRPr sz="1425" b="0">
                <a:solidFill>
                  <a:srgbClr val="17243A"/>
                </a:solidFill>
                <a:latin typeface="Arial"/>
                <a:ea typeface="Arial"/>
                <a:cs typeface="Arial"/>
              </a:defRPr>
            </a:lvl4pPr>
            <a:lvl5pPr algn="ctr">
              <a:defRPr sz="1425" b="0">
                <a:solidFill>
                  <a:srgbClr val="17243A"/>
                </a:solidFill>
                <a:latin typeface="Arial"/>
                <a:ea typeface="Arial"/>
                <a:cs typeface="Arial"/>
              </a:defRPr>
            </a:lvl5pPr>
            <a:lvl6pPr algn="ctr">
              <a:defRPr sz="1425" b="0">
                <a:solidFill>
                  <a:srgbClr val="17243A"/>
                </a:solidFill>
                <a:latin typeface="Arial"/>
                <a:ea typeface="Arial"/>
                <a:cs typeface="Arial"/>
              </a:defRPr>
            </a:lvl6pPr>
            <a:lvl7pPr algn="ctr">
              <a:defRPr sz="1425" b="0">
                <a:solidFill>
                  <a:srgbClr val="17243A"/>
                </a:solidFill>
                <a:latin typeface="Arial"/>
                <a:ea typeface="Arial"/>
                <a:cs typeface="Arial"/>
              </a:defRPr>
            </a:lvl7pPr>
            <a:lvl8pPr algn="ctr">
              <a:defRPr sz="1425" b="0">
                <a:solidFill>
                  <a:srgbClr val="17243A"/>
                </a:solidFill>
                <a:latin typeface="Arial"/>
                <a:ea typeface="Arial"/>
                <a:cs typeface="Arial"/>
              </a:defRPr>
            </a:lvl8pPr>
            <a:lvl9pPr algn="ctr">
              <a:defRPr sz="1425" b="0">
                <a:solidFill>
                  <a:srgbClr val="17243A"/>
                </a:solidFill>
                <a:latin typeface="Arial"/>
                <a:ea typeface="Arial"/>
                <a:cs typeface="Arial"/>
              </a:defRPr>
            </a:lvl9pPr>
          </a:lstStyle>
          <a:p>
            <a:pPr algn="ctr">
              <a:defRPr sz="1425" b="0">
                <a:solidFill>
                  <a:srgbClr val="17243A"/>
                </a:solidFill>
                <a:latin typeface="Arial"/>
                <a:ea typeface="Arial"/>
                <a:cs typeface="Arial"/>
              </a:defRPr>
            </a:pPr>
            <a:r>
              <a:rPr sz="1425" b="0">
                <a:solidFill>
                  <a:srgbClr val="17243A"/>
                </a:solidFill>
                <a:latin typeface="Arial"/>
                <a:ea typeface="Arial"/>
                <a:cs typeface="Arial"/>
              </a:rPr>
              <a:t>Stream + trace</a:t>
            </a:r>
          </a:p>
        </p:txBody>
      </p:sp>
      <p:sp>
        <p:nvSpPr>
          <p:cNvPr id="45" name="Rectangle 44">
            <a:extLst>
              <a:ext uri="{FF2B5EF4-FFF2-40B4-BE49-F238E27FC236}">
                <a16:creationId xmlns:a16="http://schemas.microsoft.com/office/drawing/2014/main" id="{CCC19243-2655-421E-9447-1AC5331FC530}"/>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CONTROL</a:t>
            </a:r>
          </a:p>
        </p:txBody>
      </p:sp>
      <p:sp>
        <p:nvSpPr>
          <p:cNvPr id="46" name="Rectangle 45">
            <a:extLst>
              <a:ext uri="{FF2B5EF4-FFF2-40B4-BE49-F238E27FC236}">
                <a16:creationId xmlns:a16="http://schemas.microsoft.com/office/drawing/2014/main" id="{ACB67817-8B77-40C3-9508-7F5582288144}"/>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Layer 2 owns budgets and gates. State + traces persist across the full run.</a:t>
            </a:r>
          </a:p>
        </p:txBody>
      </p:sp>
      <p:sp>
        <p:nvSpPr>
          <p:cNvPr id="47" name="Rectangle: Rounded Corners 46">
            <a:extLst>
              <a:ext uri="{FF2B5EF4-FFF2-40B4-BE49-F238E27FC236}">
                <a16:creationId xmlns:a16="http://schemas.microsoft.com/office/drawing/2014/main" id="{9143D17B-BC97-496F-983E-7D142283F36D}"/>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48" name="Rectangle 47">
            <a:extLst>
              <a:ext uri="{FF2B5EF4-FFF2-40B4-BE49-F238E27FC236}">
                <a16:creationId xmlns:a16="http://schemas.microsoft.com/office/drawing/2014/main" id="{76B67AAD-ED6A-4467-B70A-491956F4748D}"/>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49" name="Rectangle: Rounded Corners 48">
            <a:extLst>
              <a:ext uri="{FF2B5EF4-FFF2-40B4-BE49-F238E27FC236}">
                <a16:creationId xmlns:a16="http://schemas.microsoft.com/office/drawing/2014/main" id="{B80083B7-32CB-4B76-A5C5-4BB8AA2E91AE}"/>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50" name="Rectangle 49">
            <a:extLst>
              <a:ext uri="{FF2B5EF4-FFF2-40B4-BE49-F238E27FC236}">
                <a16:creationId xmlns:a16="http://schemas.microsoft.com/office/drawing/2014/main" id="{4461601D-E406-4706-900A-65B71CF32FDC}"/>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51" name="Rectangle: Rounded Corners 50">
            <a:extLst>
              <a:ext uri="{FF2B5EF4-FFF2-40B4-BE49-F238E27FC236}">
                <a16:creationId xmlns:a16="http://schemas.microsoft.com/office/drawing/2014/main" id="{09ECAF7A-ACB6-46E0-946B-E00D982EB7FB}"/>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52" name="Rectangle 51">
            <a:extLst>
              <a:ext uri="{FF2B5EF4-FFF2-40B4-BE49-F238E27FC236}">
                <a16:creationId xmlns:a16="http://schemas.microsoft.com/office/drawing/2014/main" id="{F4A15DBC-72BC-4042-AAD6-26AF600B1C87}"/>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53" name="Rectangle: Rounded Corners 52">
            <a:extLst>
              <a:ext uri="{FF2B5EF4-FFF2-40B4-BE49-F238E27FC236}">
                <a16:creationId xmlns:a16="http://schemas.microsoft.com/office/drawing/2014/main" id="{D5192936-9D7B-4719-B0D1-82B3433E4E16}"/>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54" name="Rectangle 53">
            <a:extLst>
              <a:ext uri="{FF2B5EF4-FFF2-40B4-BE49-F238E27FC236}">
                <a16:creationId xmlns:a16="http://schemas.microsoft.com/office/drawing/2014/main" id="{B65C88A3-1699-48F8-BED8-9E2C1A57A35C}"/>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55" name="Rectangle: Rounded Corners 54">
            <a:extLst>
              <a:ext uri="{FF2B5EF4-FFF2-40B4-BE49-F238E27FC236}">
                <a16:creationId xmlns:a16="http://schemas.microsoft.com/office/drawing/2014/main" id="{F5CB5D99-8E24-4FF3-AF62-253CDF2D2057}"/>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56" name="Rectangle 55">
            <a:extLst>
              <a:ext uri="{FF2B5EF4-FFF2-40B4-BE49-F238E27FC236}">
                <a16:creationId xmlns:a16="http://schemas.microsoft.com/office/drawing/2014/main" id="{3809FD0A-B599-46B0-B8E6-AE626B88EC83}"/>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57" name="Rectangle 56">
            <a:extLst>
              <a:ext uri="{FF2B5EF4-FFF2-40B4-BE49-F238E27FC236}">
                <a16:creationId xmlns:a16="http://schemas.microsoft.com/office/drawing/2014/main" id="{A7D4300E-E940-4EA5-B62B-EAE302226E92}"/>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02</a:t>
            </a:r>
          </a:p>
        </p:txBody>
      </p:sp>
    </p:spTree>
    <p:extLst>
      <p:ext uri="{BB962C8B-B14F-4D97-AF65-F5344CB8AC3E}">
        <p14:creationId xmlns:p14="http://schemas.microsoft.com/office/powerpoint/2010/main" val="658102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51139B52-B6EC-420C-8678-EA65063BAE36}"/>
              </a:ext>
            </a:extLst>
          </p:cNvPr>
          <p:cNvCxnSpPr>
            <a:stCxn id="8" idx="3"/>
            <a:endCxn id="10" idx="1"/>
          </p:cNvCxnSpPr>
          <p:nvPr/>
        </p:nvCxnSpPr>
        <p:spPr>
          <a:xfrm>
            <a:off x="7905750" y="4667250"/>
            <a:ext cx="666750" cy="0"/>
          </a:xfrm>
          <a:prstGeom prst="straightConnector1">
            <a:avLst/>
          </a:prstGeom>
          <a:ln w="16193">
            <a:solidFill>
              <a:srgbClr val="66758A"/>
            </a:solidFill>
            <a:prstDash val="solid"/>
            <a:tailEnd type="triangle" w="sm" len="sm"/>
          </a:ln>
        </p:spPr>
      </p:cxnSp>
      <p:cxnSp>
        <p:nvCxnSpPr>
          <p:cNvPr id="18" name="Straight Arrow Connector 17">
            <a:extLst>
              <a:ext uri="{FF2B5EF4-FFF2-40B4-BE49-F238E27FC236}">
                <a16:creationId xmlns:a16="http://schemas.microsoft.com/office/drawing/2014/main" id="{66C8DBD4-0EE9-4C77-A7D3-9D7808722289}"/>
              </a:ext>
            </a:extLst>
          </p:cNvPr>
          <p:cNvCxnSpPr>
            <a:stCxn id="8" idx="1"/>
            <a:endCxn id="9" idx="3"/>
          </p:cNvCxnSpPr>
          <p:nvPr/>
        </p:nvCxnSpPr>
        <p:spPr>
          <a:xfrm flipH="1">
            <a:off x="3619500" y="4667250"/>
            <a:ext cx="666750" cy="0"/>
          </a:xfrm>
          <a:prstGeom prst="straightConnector1">
            <a:avLst/>
          </a:prstGeom>
          <a:ln w="16193">
            <a:solidFill>
              <a:srgbClr val="66758A"/>
            </a:solidFill>
            <a:prstDash val="solid"/>
            <a:tailEnd type="triangle" w="sm" len="sm"/>
          </a:ln>
        </p:spPr>
      </p:cxnSp>
      <p:cxnSp>
        <p:nvCxnSpPr>
          <p:cNvPr id="17" name="Connector: Elbow 16">
            <a:extLst>
              <a:ext uri="{FF2B5EF4-FFF2-40B4-BE49-F238E27FC236}">
                <a16:creationId xmlns:a16="http://schemas.microsoft.com/office/drawing/2014/main" id="{605AAECC-0C91-439D-9E58-8294AA6123EB}"/>
              </a:ext>
            </a:extLst>
          </p:cNvPr>
          <p:cNvCxnSpPr>
            <a:stCxn id="7" idx="2"/>
            <a:endCxn id="8" idx="0"/>
          </p:cNvCxnSpPr>
          <p:nvPr/>
        </p:nvCxnSpPr>
        <p:spPr>
          <a:xfrm flipH="1">
            <a:off x="6096000" y="3838575"/>
            <a:ext cx="3810000" cy="447675"/>
          </a:xfrm>
          <a:prstGeom prst="bentConnector4">
            <a:avLst>
              <a:gd name="adj1" fmla="val 0"/>
              <a:gd name="adj2" fmla="val 50000"/>
            </a:avLst>
          </a:prstGeom>
          <a:ln w="16193">
            <a:solidFill>
              <a:srgbClr val="66758A"/>
            </a:solidFill>
            <a:prstDash val="solid"/>
            <a:tailEnd type="triangle" w="sm" len="sm"/>
          </a:ln>
        </p:spPr>
      </p:cxnSp>
      <p:cxnSp>
        <p:nvCxnSpPr>
          <p:cNvPr id="16" name="Straight Arrow Connector 15">
            <a:extLst>
              <a:ext uri="{FF2B5EF4-FFF2-40B4-BE49-F238E27FC236}">
                <a16:creationId xmlns:a16="http://schemas.microsoft.com/office/drawing/2014/main" id="{F5D6B229-0EA4-4820-9C30-FA7255B2664C}"/>
              </a:ext>
            </a:extLst>
          </p:cNvPr>
          <p:cNvCxnSpPr>
            <a:stCxn id="6" idx="2"/>
            <a:endCxn id="8" idx="0"/>
          </p:cNvCxnSpPr>
          <p:nvPr/>
        </p:nvCxnSpPr>
        <p:spPr>
          <a:xfrm>
            <a:off x="6096000" y="3838575"/>
            <a:ext cx="0" cy="447675"/>
          </a:xfrm>
          <a:prstGeom prst="straightConnector1">
            <a:avLst/>
          </a:prstGeom>
          <a:ln w="16193">
            <a:solidFill>
              <a:srgbClr val="66758A"/>
            </a:solidFill>
            <a:prstDash val="solid"/>
            <a:tailEnd type="triangle" w="sm" len="sm"/>
          </a:ln>
        </p:spPr>
      </p:cxnSp>
      <p:cxnSp>
        <p:nvCxnSpPr>
          <p:cNvPr id="15" name="Connector: Elbow 14">
            <a:extLst>
              <a:ext uri="{FF2B5EF4-FFF2-40B4-BE49-F238E27FC236}">
                <a16:creationId xmlns:a16="http://schemas.microsoft.com/office/drawing/2014/main" id="{4700B51C-EEAF-48B7-8134-171EA9C3F728}"/>
              </a:ext>
            </a:extLst>
          </p:cNvPr>
          <p:cNvCxnSpPr>
            <a:stCxn id="5" idx="2"/>
            <a:endCxn id="8" idx="0"/>
          </p:cNvCxnSpPr>
          <p:nvPr/>
        </p:nvCxnSpPr>
        <p:spPr>
          <a:xfrm>
            <a:off x="2286000" y="3838575"/>
            <a:ext cx="3810000" cy="447675"/>
          </a:xfrm>
          <a:prstGeom prst="bentConnector4">
            <a:avLst>
              <a:gd name="adj1" fmla="val 0"/>
              <a:gd name="adj2" fmla="val 50000"/>
            </a:avLst>
          </a:prstGeom>
          <a:ln w="16193">
            <a:solidFill>
              <a:srgbClr val="66758A"/>
            </a:solidFill>
            <a:prstDash val="solid"/>
            <a:tailEnd type="triangle" w="sm" len="sm"/>
          </a:ln>
        </p:spPr>
      </p:cxnSp>
      <p:cxnSp>
        <p:nvCxnSpPr>
          <p:cNvPr id="14" name="Connector: Elbow 13">
            <a:extLst>
              <a:ext uri="{FF2B5EF4-FFF2-40B4-BE49-F238E27FC236}">
                <a16:creationId xmlns:a16="http://schemas.microsoft.com/office/drawing/2014/main" id="{FA951479-38FC-4CAB-8F3C-960E65831C2F}"/>
              </a:ext>
            </a:extLst>
          </p:cNvPr>
          <p:cNvCxnSpPr>
            <a:stCxn id="4" idx="2"/>
            <a:endCxn id="7" idx="0"/>
          </p:cNvCxnSpPr>
          <p:nvPr/>
        </p:nvCxnSpPr>
        <p:spPr>
          <a:xfrm>
            <a:off x="6096000" y="2543175"/>
            <a:ext cx="3810000" cy="504825"/>
          </a:xfrm>
          <a:prstGeom prst="bentConnector4">
            <a:avLst>
              <a:gd name="adj1" fmla="val 0"/>
              <a:gd name="adj2" fmla="val 50000"/>
            </a:avLst>
          </a:prstGeom>
          <a:ln w="16193">
            <a:solidFill>
              <a:srgbClr val="66758A"/>
            </a:solidFill>
            <a:prstDash val="solid"/>
            <a:tailEnd type="triangle" w="sm" len="sm"/>
          </a:ln>
        </p:spPr>
      </p:cxnSp>
      <p:cxnSp>
        <p:nvCxnSpPr>
          <p:cNvPr id="13" name="Straight Arrow Connector 12">
            <a:extLst>
              <a:ext uri="{FF2B5EF4-FFF2-40B4-BE49-F238E27FC236}">
                <a16:creationId xmlns:a16="http://schemas.microsoft.com/office/drawing/2014/main" id="{8C5FAB12-1D11-4FAD-B4C2-69C19715E331}"/>
              </a:ext>
            </a:extLst>
          </p:cNvPr>
          <p:cNvCxnSpPr>
            <a:stCxn id="4" idx="2"/>
            <a:endCxn id="6" idx="0"/>
          </p:cNvCxnSpPr>
          <p:nvPr/>
        </p:nvCxnSpPr>
        <p:spPr>
          <a:xfrm>
            <a:off x="6096000" y="2543175"/>
            <a:ext cx="0" cy="504825"/>
          </a:xfrm>
          <a:prstGeom prst="straightConnector1">
            <a:avLst/>
          </a:prstGeom>
          <a:ln w="16193">
            <a:solidFill>
              <a:srgbClr val="66758A"/>
            </a:solidFill>
            <a:prstDash val="solid"/>
            <a:tailEnd type="triangle" w="sm" len="sm"/>
          </a:ln>
        </p:spPr>
      </p:cxnSp>
      <p:cxnSp>
        <p:nvCxnSpPr>
          <p:cNvPr id="12" name="Connector: Elbow 11">
            <a:extLst>
              <a:ext uri="{FF2B5EF4-FFF2-40B4-BE49-F238E27FC236}">
                <a16:creationId xmlns:a16="http://schemas.microsoft.com/office/drawing/2014/main" id="{045C8B3B-A535-4415-813A-9A6320B76E0B}"/>
              </a:ext>
            </a:extLst>
          </p:cNvPr>
          <p:cNvCxnSpPr>
            <a:stCxn id="4" idx="2"/>
            <a:endCxn id="5" idx="0"/>
          </p:cNvCxnSpPr>
          <p:nvPr/>
        </p:nvCxnSpPr>
        <p:spPr>
          <a:xfrm flipH="1">
            <a:off x="2286000" y="2543175"/>
            <a:ext cx="3810000" cy="504825"/>
          </a:xfrm>
          <a:prstGeom prst="bentConnector4">
            <a:avLst>
              <a:gd name="adj1" fmla="val 0"/>
              <a:gd name="adj2" fmla="val 50000"/>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BA24D00C-66C5-4E77-A2D1-3E95722F24DC}"/>
              </a:ext>
            </a:extLst>
          </p:cNvPr>
          <p:cNvCxnSpPr>
            <a:stCxn id="3" idx="2"/>
            <a:endCxn id="4" idx="0"/>
          </p:cNvCxnSpPr>
          <p:nvPr/>
        </p:nvCxnSpPr>
        <p:spPr>
          <a:xfrm>
            <a:off x="6096000" y="1828800"/>
            <a:ext cx="0" cy="219075"/>
          </a:xfrm>
          <a:prstGeom prst="straightConnector1">
            <a:avLst/>
          </a:prstGeom>
          <a:ln w="16193">
            <a:solidFill>
              <a:srgbClr val="66758A"/>
            </a:solidFill>
            <a:prstDash val="solid"/>
            <a:tailEnd type="triangle" w="sm" len="sm"/>
          </a:ln>
        </p:spPr>
      </p:cxnSp>
      <p:sp>
        <p:nvSpPr>
          <p:cNvPr id="33" name="Rectangle 32">
            <a:extLst>
              <a:ext uri="{FF2B5EF4-FFF2-40B4-BE49-F238E27FC236}">
                <a16:creationId xmlns:a16="http://schemas.microsoft.com/office/drawing/2014/main" id="{0FEA3A36-9935-434E-BC2C-49EF654D57B5}"/>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Specialist collaboration</a:t>
            </a:r>
          </a:p>
        </p:txBody>
      </p:sp>
      <p:sp>
        <p:nvSpPr>
          <p:cNvPr id="2" name="Rectangle 1">
            <a:extLst>
              <a:ext uri="{FF2B5EF4-FFF2-40B4-BE49-F238E27FC236}">
                <a16:creationId xmlns:a16="http://schemas.microsoft.com/office/drawing/2014/main" id="{B8FC48D9-CB37-4B44-B8CB-511A48889CD8}"/>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Five workers and a separate Doctor synthesis node</a:t>
            </a:r>
          </a:p>
        </p:txBody>
      </p:sp>
      <p:sp>
        <p:nvSpPr>
          <p:cNvPr id="3" name="Rectangle: Rounded Corners 2">
            <a:extLst>
              <a:ext uri="{FF2B5EF4-FFF2-40B4-BE49-F238E27FC236}">
                <a16:creationId xmlns:a16="http://schemas.microsoft.com/office/drawing/2014/main" id="{B28FE137-51E3-4826-B63E-CA8B53CD14B0}"/>
              </a:ext>
            </a:extLst>
          </p:cNvPr>
          <p:cNvSpPr>
            <a:spLocks noGrp="1"/>
          </p:cNvSpPr>
          <p:nvPr/>
        </p:nvSpPr>
        <p:spPr>
          <a:xfrm>
            <a:off x="4524375" y="1333500"/>
            <a:ext cx="3143250" cy="495300"/>
          </a:xfrm>
          <a:prstGeom prst="roundRect">
            <a:avLst>
              <a:gd name="adj" fmla="val 19231"/>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Patient needs + artifacts</a:t>
            </a:r>
          </a:p>
        </p:txBody>
      </p:sp>
      <p:sp>
        <p:nvSpPr>
          <p:cNvPr id="4" name="Rectangle: Rounded Corners 3">
            <a:extLst>
              <a:ext uri="{FF2B5EF4-FFF2-40B4-BE49-F238E27FC236}">
                <a16:creationId xmlns:a16="http://schemas.microsoft.com/office/drawing/2014/main" id="{771E701C-06F9-40EA-A4D6-5F68BE6A6F9B}"/>
              </a:ext>
            </a:extLst>
          </p:cNvPr>
          <p:cNvSpPr>
            <a:spLocks noGrp="1"/>
          </p:cNvSpPr>
          <p:nvPr/>
        </p:nvSpPr>
        <p:spPr>
          <a:xfrm>
            <a:off x="4286250" y="2047875"/>
            <a:ext cx="3619500" cy="495300"/>
          </a:xfrm>
          <a:prstGeom prst="roundRect">
            <a:avLst>
              <a:gd name="adj" fmla="val 19231"/>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Router + deterministic dispatch</a:t>
            </a:r>
          </a:p>
        </p:txBody>
      </p:sp>
      <p:sp>
        <p:nvSpPr>
          <p:cNvPr id="5" name="Rectangle: Rounded Corners 4">
            <a:extLst>
              <a:ext uri="{FF2B5EF4-FFF2-40B4-BE49-F238E27FC236}">
                <a16:creationId xmlns:a16="http://schemas.microsoft.com/office/drawing/2014/main" id="{AD8F1311-7B97-4DB3-A0DF-C58E9FE23E84}"/>
              </a:ext>
            </a:extLst>
          </p:cNvPr>
          <p:cNvSpPr>
            <a:spLocks noGrp="1"/>
          </p:cNvSpPr>
          <p:nvPr/>
        </p:nvSpPr>
        <p:spPr>
          <a:xfrm>
            <a:off x="762000" y="3048000"/>
            <a:ext cx="3048000" cy="790575"/>
          </a:xfrm>
          <a:prstGeom prst="roundRect">
            <a:avLst>
              <a:gd name="adj" fmla="val 12048"/>
            </a:avLst>
          </a:prstGeom>
          <a:solidFill>
            <a:srgbClr val="F0E8FC"/>
          </a:solidFill>
          <a:ln w="14288">
            <a:solidFill>
              <a:srgbClr val="8B5FC7"/>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Lab analyst</a:t>
            </a:r>
          </a:p>
          <a:p>
            <a:pPr algn="ctr">
              <a:defRPr sz="1725" b="0">
                <a:solidFill>
                  <a:srgbClr val="17243A"/>
                </a:solidFill>
                <a:latin typeface="Arial"/>
                <a:ea typeface="Arial"/>
                <a:cs typeface="Arial"/>
              </a:defRPr>
            </a:pPr>
            <a:r>
              <a:rPr sz="1725" b="0">
                <a:solidFill>
                  <a:srgbClr val="17243A"/>
                </a:solidFill>
                <a:latin typeface="Arial"/>
                <a:ea typeface="Arial"/>
                <a:cs typeface="Arial"/>
              </a:rPr>
              <a:t>Values / units / report ranges</a:t>
            </a:r>
          </a:p>
        </p:txBody>
      </p:sp>
      <p:sp>
        <p:nvSpPr>
          <p:cNvPr id="6" name="Rectangle: Rounded Corners 5">
            <a:extLst>
              <a:ext uri="{FF2B5EF4-FFF2-40B4-BE49-F238E27FC236}">
                <a16:creationId xmlns:a16="http://schemas.microsoft.com/office/drawing/2014/main" id="{BD15EA6A-EB41-4473-B35C-26BA9BDEDD93}"/>
              </a:ext>
            </a:extLst>
          </p:cNvPr>
          <p:cNvSpPr>
            <a:spLocks noGrp="1"/>
          </p:cNvSpPr>
          <p:nvPr/>
        </p:nvSpPr>
        <p:spPr>
          <a:xfrm>
            <a:off x="4572000" y="3048000"/>
            <a:ext cx="3048000" cy="790575"/>
          </a:xfrm>
          <a:prstGeom prst="roundRect">
            <a:avLst>
              <a:gd name="adj" fmla="val 12048"/>
            </a:avLst>
          </a:prstGeom>
          <a:solidFill>
            <a:srgbClr val="F0E8FC"/>
          </a:solidFill>
          <a:ln w="14288">
            <a:solidFill>
              <a:srgbClr val="8B5FC7"/>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Radiology</a:t>
            </a:r>
          </a:p>
          <a:p>
            <a:pPr algn="ctr">
              <a:defRPr sz="1725" b="0">
                <a:solidFill>
                  <a:srgbClr val="17243A"/>
                </a:solidFill>
                <a:latin typeface="Arial"/>
                <a:ea typeface="Arial"/>
                <a:cs typeface="Arial"/>
              </a:defRPr>
            </a:pPr>
            <a:r>
              <a:rPr sz="1725" b="0">
                <a:solidFill>
                  <a:srgbClr val="17243A"/>
                </a:solidFill>
                <a:latin typeface="Arial"/>
                <a:ea typeface="Arial"/>
                <a:cs typeface="Arial"/>
              </a:rPr>
              <a:t>Image adapter or report</a:t>
            </a:r>
          </a:p>
        </p:txBody>
      </p:sp>
      <p:sp>
        <p:nvSpPr>
          <p:cNvPr id="7" name="Rectangle: Rounded Corners 6">
            <a:extLst>
              <a:ext uri="{FF2B5EF4-FFF2-40B4-BE49-F238E27FC236}">
                <a16:creationId xmlns:a16="http://schemas.microsoft.com/office/drawing/2014/main" id="{418E1E96-7E80-49C0-AB48-4B2BCCCD3FCA}"/>
              </a:ext>
            </a:extLst>
          </p:cNvPr>
          <p:cNvSpPr>
            <a:spLocks noGrp="1"/>
          </p:cNvSpPr>
          <p:nvPr/>
        </p:nvSpPr>
        <p:spPr>
          <a:xfrm>
            <a:off x="8382000" y="3048000"/>
            <a:ext cx="3048000" cy="790575"/>
          </a:xfrm>
          <a:prstGeom prst="roundRect">
            <a:avLst>
              <a:gd name="adj" fmla="val 12048"/>
            </a:avLst>
          </a:prstGeom>
          <a:solidFill>
            <a:srgbClr val="F0E8FC"/>
          </a:solidFill>
          <a:ln w="14288">
            <a:solidFill>
              <a:srgbClr val="8B5FC7"/>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ECG</a:t>
            </a:r>
          </a:p>
          <a:p>
            <a:pPr algn="ctr">
              <a:defRPr sz="1725" b="0">
                <a:solidFill>
                  <a:srgbClr val="17243A"/>
                </a:solidFill>
                <a:latin typeface="Arial"/>
                <a:ea typeface="Arial"/>
                <a:cs typeface="Arial"/>
              </a:defRPr>
            </a:pPr>
            <a:r>
              <a:rPr sz="1725" b="0">
                <a:solidFill>
                  <a:srgbClr val="17243A"/>
                </a:solidFill>
                <a:latin typeface="Arial"/>
                <a:ea typeface="Arial"/>
                <a:cs typeface="Arial"/>
              </a:rPr>
              <a:t>Report now; waveform later</a:t>
            </a:r>
          </a:p>
        </p:txBody>
      </p:sp>
      <p:sp>
        <p:nvSpPr>
          <p:cNvPr id="8" name="Rectangle: Rounded Corners 7">
            <a:extLst>
              <a:ext uri="{FF2B5EF4-FFF2-40B4-BE49-F238E27FC236}">
                <a16:creationId xmlns:a16="http://schemas.microsoft.com/office/drawing/2014/main" id="{1806EF02-F96B-455F-B06E-F9D0EAF1BC50}"/>
              </a:ext>
            </a:extLst>
          </p:cNvPr>
          <p:cNvSpPr>
            <a:spLocks noGrp="1"/>
          </p:cNvSpPr>
          <p:nvPr/>
        </p:nvSpPr>
        <p:spPr>
          <a:xfrm>
            <a:off x="4286250" y="4286250"/>
            <a:ext cx="3619500" cy="762000"/>
          </a:xfrm>
          <a:prstGeom prst="roundRect">
            <a:avLst>
              <a:gd name="adj" fmla="val 12500"/>
            </a:avLst>
          </a:prstGeom>
          <a:solidFill>
            <a:srgbClr val="F0E8FC"/>
          </a:solidFill>
          <a:ln w="14288">
            <a:solidFill>
              <a:srgbClr val="8B5FC7"/>
            </a:solidFill>
          </a:ln>
        </p:spPr>
        <p:txBody>
          <a:bodyPr wrap="square" lIns="95250" tIns="95250" rIns="95250" bIns="95250" anchor="ctr">
            <a:noAutofit/>
          </a:bodyPr>
          <a:lstStyle>
            <a:defPPr algn="ctr">
              <a:defRPr sz="1800" b="0">
                <a:solidFill>
                  <a:srgbClr val="17243A"/>
                </a:solidFill>
                <a:latin typeface="Arial"/>
                <a:ea typeface="Arial"/>
                <a:cs typeface="Arial"/>
              </a:defRPr>
            </a:defPPr>
            <a:lvl1pPr algn="ctr">
              <a:defRPr sz="1800" b="0">
                <a:solidFill>
                  <a:srgbClr val="17243A"/>
                </a:solidFill>
                <a:latin typeface="Arial"/>
                <a:ea typeface="Arial"/>
                <a:cs typeface="Arial"/>
              </a:defRPr>
            </a:lvl1pPr>
            <a:lvl2pPr algn="ctr">
              <a:defRPr sz="1800" b="0">
                <a:solidFill>
                  <a:srgbClr val="17243A"/>
                </a:solidFill>
                <a:latin typeface="Arial"/>
                <a:ea typeface="Arial"/>
                <a:cs typeface="Arial"/>
              </a:defRPr>
            </a:lvl2pPr>
            <a:lvl3pPr algn="ctr">
              <a:defRPr sz="1800" b="0">
                <a:solidFill>
                  <a:srgbClr val="17243A"/>
                </a:solidFill>
                <a:latin typeface="Arial"/>
                <a:ea typeface="Arial"/>
                <a:cs typeface="Arial"/>
              </a:defRPr>
            </a:lvl3pPr>
            <a:lvl4pPr algn="ctr">
              <a:defRPr sz="1800" b="0">
                <a:solidFill>
                  <a:srgbClr val="17243A"/>
                </a:solidFill>
                <a:latin typeface="Arial"/>
                <a:ea typeface="Arial"/>
                <a:cs typeface="Arial"/>
              </a:defRPr>
            </a:lvl4pPr>
            <a:lvl5pPr algn="ctr">
              <a:defRPr sz="1800" b="0">
                <a:solidFill>
                  <a:srgbClr val="17243A"/>
                </a:solidFill>
                <a:latin typeface="Arial"/>
                <a:ea typeface="Arial"/>
                <a:cs typeface="Arial"/>
              </a:defRPr>
            </a:lvl5pPr>
            <a:lvl6pPr algn="ctr">
              <a:defRPr sz="1800" b="0">
                <a:solidFill>
                  <a:srgbClr val="17243A"/>
                </a:solidFill>
                <a:latin typeface="Arial"/>
                <a:ea typeface="Arial"/>
                <a:cs typeface="Arial"/>
              </a:defRPr>
            </a:lvl6pPr>
            <a:lvl7pPr algn="ctr">
              <a:defRPr sz="1800" b="0">
                <a:solidFill>
                  <a:srgbClr val="17243A"/>
                </a:solidFill>
                <a:latin typeface="Arial"/>
                <a:ea typeface="Arial"/>
                <a:cs typeface="Arial"/>
              </a:defRPr>
            </a:lvl7pPr>
            <a:lvl8pPr algn="ctr">
              <a:defRPr sz="1800" b="0">
                <a:solidFill>
                  <a:srgbClr val="17243A"/>
                </a:solidFill>
                <a:latin typeface="Arial"/>
                <a:ea typeface="Arial"/>
                <a:cs typeface="Arial"/>
              </a:defRPr>
            </a:lvl8pPr>
            <a:lvl9pPr algn="ctr">
              <a:defRPr sz="1800" b="0">
                <a:solidFill>
                  <a:srgbClr val="17243A"/>
                </a:solidFill>
                <a:latin typeface="Arial"/>
                <a:ea typeface="Arial"/>
                <a:cs typeface="Arial"/>
              </a:defRPr>
            </a:lvl9pPr>
          </a:lstStyle>
          <a:p>
            <a:pPr algn="ctr">
              <a:defRPr sz="1800" b="0">
                <a:solidFill>
                  <a:srgbClr val="17243A"/>
                </a:solidFill>
                <a:latin typeface="Arial"/>
                <a:ea typeface="Arial"/>
                <a:cs typeface="Arial"/>
              </a:defRPr>
            </a:pPr>
            <a:r>
              <a:rPr sz="1800" b="0">
                <a:solidFill>
                  <a:srgbClr val="17243A"/>
                </a:solidFill>
                <a:latin typeface="Arial"/>
                <a:ea typeface="Arial"/>
                <a:cs typeface="Arial"/>
              </a:rPr>
              <a:t>Doctor review</a:t>
            </a:r>
          </a:p>
          <a:p>
            <a:pPr algn="ctr">
              <a:defRPr sz="1800" b="0">
                <a:solidFill>
                  <a:srgbClr val="17243A"/>
                </a:solidFill>
                <a:latin typeface="Arial"/>
                <a:ea typeface="Arial"/>
                <a:cs typeface="Arial"/>
              </a:defRPr>
            </a:pPr>
            <a:r>
              <a:rPr sz="1800" b="0">
                <a:solidFill>
                  <a:srgbClr val="17243A"/>
                </a:solidFill>
                <a:latin typeface="Arial"/>
                <a:ea typeface="Arial"/>
                <a:cs typeface="Arial"/>
              </a:rPr>
              <a:t>Sources / contradictions / gaps</a:t>
            </a:r>
          </a:p>
        </p:txBody>
      </p:sp>
      <p:sp>
        <p:nvSpPr>
          <p:cNvPr id="9" name="Rectangle: Rounded Corners 8">
            <a:extLst>
              <a:ext uri="{FF2B5EF4-FFF2-40B4-BE49-F238E27FC236}">
                <a16:creationId xmlns:a16="http://schemas.microsoft.com/office/drawing/2014/main" id="{50D10935-53AA-4F8A-9538-CDFB16426562}"/>
              </a:ext>
            </a:extLst>
          </p:cNvPr>
          <p:cNvSpPr>
            <a:spLocks noGrp="1"/>
          </p:cNvSpPr>
          <p:nvPr/>
        </p:nvSpPr>
        <p:spPr>
          <a:xfrm>
            <a:off x="762000" y="4286250"/>
            <a:ext cx="2857500" cy="762000"/>
          </a:xfrm>
          <a:prstGeom prst="roundRect">
            <a:avLst>
              <a:gd name="adj" fmla="val 12500"/>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Nutrition</a:t>
            </a:r>
          </a:p>
          <a:p>
            <a:pPr algn="ctr">
              <a:defRPr sz="1650" b="0">
                <a:solidFill>
                  <a:srgbClr val="17243A"/>
                </a:solidFill>
                <a:latin typeface="Arial"/>
                <a:ea typeface="Arial"/>
                <a:cs typeface="Arial"/>
              </a:defRPr>
            </a:pPr>
            <a:r>
              <a:rPr sz="1650" b="0">
                <a:solidFill>
                  <a:srgbClr val="17243A"/>
                </a:solidFill>
                <a:latin typeface="Arial"/>
                <a:ea typeface="Arial"/>
                <a:cs typeface="Arial"/>
              </a:rPr>
              <a:t>Scoped retrieval</a:t>
            </a:r>
          </a:p>
        </p:txBody>
      </p:sp>
      <p:sp>
        <p:nvSpPr>
          <p:cNvPr id="10" name="Rectangle: Rounded Corners 9">
            <a:extLst>
              <a:ext uri="{FF2B5EF4-FFF2-40B4-BE49-F238E27FC236}">
                <a16:creationId xmlns:a16="http://schemas.microsoft.com/office/drawing/2014/main" id="{2C44D6BF-2864-4998-BF81-6AC97BD18232}"/>
              </a:ext>
            </a:extLst>
          </p:cNvPr>
          <p:cNvSpPr>
            <a:spLocks noGrp="1"/>
          </p:cNvSpPr>
          <p:nvPr/>
        </p:nvSpPr>
        <p:spPr>
          <a:xfrm>
            <a:off x="8572500" y="4286250"/>
            <a:ext cx="2857500" cy="762000"/>
          </a:xfrm>
          <a:prstGeom prst="roundRect">
            <a:avLst>
              <a:gd name="adj" fmla="val 12500"/>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Physio</a:t>
            </a:r>
          </a:p>
          <a:p>
            <a:pPr algn="ctr">
              <a:defRPr sz="1650" b="0">
                <a:solidFill>
                  <a:srgbClr val="17243A"/>
                </a:solidFill>
                <a:latin typeface="Arial"/>
                <a:ea typeface="Arial"/>
                <a:cs typeface="Arial"/>
              </a:defRPr>
            </a:pPr>
            <a:r>
              <a:rPr sz="1650" b="0">
                <a:solidFill>
                  <a:srgbClr val="17243A"/>
                </a:solidFill>
                <a:latin typeface="Arial"/>
                <a:ea typeface="Arial"/>
                <a:cs typeface="Arial"/>
              </a:rPr>
              <a:t>Scoped retrieval</a:t>
            </a:r>
          </a:p>
        </p:txBody>
      </p:sp>
      <p:sp>
        <p:nvSpPr>
          <p:cNvPr id="20" name="Rectangle 19">
            <a:extLst>
              <a:ext uri="{FF2B5EF4-FFF2-40B4-BE49-F238E27FC236}">
                <a16:creationId xmlns:a16="http://schemas.microsoft.com/office/drawing/2014/main" id="{EE94916C-8A7C-4700-BCF7-04CC8B117D40}"/>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DEPENDENCY</a:t>
            </a:r>
          </a:p>
        </p:txBody>
      </p:sp>
      <p:sp>
        <p:nvSpPr>
          <p:cNvPr id="21" name="Rectangle 20">
            <a:extLst>
              <a:ext uri="{FF2B5EF4-FFF2-40B4-BE49-F238E27FC236}">
                <a16:creationId xmlns:a16="http://schemas.microsoft.com/office/drawing/2014/main" id="{0E8DE74A-D860-411D-8AC7-A0CADFC11B46}"/>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Doctor gate precedes guidance. New red flags pause dependent work.</a:t>
            </a:r>
          </a:p>
        </p:txBody>
      </p:sp>
      <p:sp>
        <p:nvSpPr>
          <p:cNvPr id="22" name="Rectangle: Rounded Corners 21">
            <a:extLst>
              <a:ext uri="{FF2B5EF4-FFF2-40B4-BE49-F238E27FC236}">
                <a16:creationId xmlns:a16="http://schemas.microsoft.com/office/drawing/2014/main" id="{B0207BE1-600D-4C42-B9B6-1A9F346A1615}"/>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23" name="Rectangle 22">
            <a:extLst>
              <a:ext uri="{FF2B5EF4-FFF2-40B4-BE49-F238E27FC236}">
                <a16:creationId xmlns:a16="http://schemas.microsoft.com/office/drawing/2014/main" id="{A0F78998-CEEB-4AA2-9CFD-3636D64AB8F5}"/>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4" name="Rectangle: Rounded Corners 23">
            <a:extLst>
              <a:ext uri="{FF2B5EF4-FFF2-40B4-BE49-F238E27FC236}">
                <a16:creationId xmlns:a16="http://schemas.microsoft.com/office/drawing/2014/main" id="{3C8671DF-D224-4C93-9489-6B5058DBCF9C}"/>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5" name="Rectangle 24">
            <a:extLst>
              <a:ext uri="{FF2B5EF4-FFF2-40B4-BE49-F238E27FC236}">
                <a16:creationId xmlns:a16="http://schemas.microsoft.com/office/drawing/2014/main" id="{9D19B2C7-347C-4805-9F62-22929CC66D58}"/>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6" name="Rectangle: Rounded Corners 25">
            <a:extLst>
              <a:ext uri="{FF2B5EF4-FFF2-40B4-BE49-F238E27FC236}">
                <a16:creationId xmlns:a16="http://schemas.microsoft.com/office/drawing/2014/main" id="{98822CAF-6CA0-4FB0-8F79-57089B4B0E0E}"/>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7" name="Rectangle 26">
            <a:extLst>
              <a:ext uri="{FF2B5EF4-FFF2-40B4-BE49-F238E27FC236}">
                <a16:creationId xmlns:a16="http://schemas.microsoft.com/office/drawing/2014/main" id="{2B29D45D-8256-44F4-A7CC-2D3F4038CB79}"/>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8" name="Rectangle: Rounded Corners 27">
            <a:extLst>
              <a:ext uri="{FF2B5EF4-FFF2-40B4-BE49-F238E27FC236}">
                <a16:creationId xmlns:a16="http://schemas.microsoft.com/office/drawing/2014/main" id="{A14CD4B0-5694-498D-AD70-FBCA6E9FA376}"/>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9" name="Rectangle 28">
            <a:extLst>
              <a:ext uri="{FF2B5EF4-FFF2-40B4-BE49-F238E27FC236}">
                <a16:creationId xmlns:a16="http://schemas.microsoft.com/office/drawing/2014/main" id="{E2042E79-876F-412C-89E7-DE97EC688ABC}"/>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30" name="Rectangle: Rounded Corners 29">
            <a:extLst>
              <a:ext uri="{FF2B5EF4-FFF2-40B4-BE49-F238E27FC236}">
                <a16:creationId xmlns:a16="http://schemas.microsoft.com/office/drawing/2014/main" id="{8417E9A7-5797-4516-BAAF-F99AEF875484}"/>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31" name="Rectangle 30">
            <a:extLst>
              <a:ext uri="{FF2B5EF4-FFF2-40B4-BE49-F238E27FC236}">
                <a16:creationId xmlns:a16="http://schemas.microsoft.com/office/drawing/2014/main" id="{C5ACC2B1-C79D-4974-8860-B0BEC7F45089}"/>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32" name="Rectangle 31">
            <a:extLst>
              <a:ext uri="{FF2B5EF4-FFF2-40B4-BE49-F238E27FC236}">
                <a16:creationId xmlns:a16="http://schemas.microsoft.com/office/drawing/2014/main" id="{B7D9FDEE-36B3-474C-98DD-76A31AD6C0E0}"/>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03</a:t>
            </a:r>
          </a:p>
        </p:txBody>
      </p:sp>
    </p:spTree>
    <p:extLst>
      <p:ext uri="{BB962C8B-B14F-4D97-AF65-F5344CB8AC3E}">
        <p14:creationId xmlns:p14="http://schemas.microsoft.com/office/powerpoint/2010/main" val="44413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018C84D-214C-47FF-BB82-7D77EE2EAE99}"/>
              </a:ext>
            </a:extLst>
          </p:cNvPr>
          <p:cNvCxnSpPr>
            <a:stCxn id="7" idx="2"/>
            <a:endCxn id="9" idx="0"/>
          </p:cNvCxnSpPr>
          <p:nvPr/>
        </p:nvCxnSpPr>
        <p:spPr>
          <a:xfrm>
            <a:off x="9810750" y="3924300"/>
            <a:ext cx="0" cy="600075"/>
          </a:xfrm>
          <a:prstGeom prst="straightConnector1">
            <a:avLst/>
          </a:prstGeom>
          <a:ln w="16193">
            <a:solidFill>
              <a:srgbClr val="66758A"/>
            </a:solidFill>
            <a:prstDash val="solid"/>
            <a:tailEnd type="triangle" w="sm" len="sm"/>
          </a:ln>
        </p:spPr>
      </p:cxnSp>
      <p:cxnSp>
        <p:nvCxnSpPr>
          <p:cNvPr id="14" name="Straight Arrow Connector 13">
            <a:extLst>
              <a:ext uri="{FF2B5EF4-FFF2-40B4-BE49-F238E27FC236}">
                <a16:creationId xmlns:a16="http://schemas.microsoft.com/office/drawing/2014/main" id="{4E68CB05-397D-466B-A87E-9BBD2370C63B}"/>
              </a:ext>
            </a:extLst>
          </p:cNvPr>
          <p:cNvCxnSpPr>
            <a:stCxn id="6" idx="2"/>
            <a:endCxn id="8" idx="0"/>
          </p:cNvCxnSpPr>
          <p:nvPr/>
        </p:nvCxnSpPr>
        <p:spPr>
          <a:xfrm>
            <a:off x="6096000" y="3924300"/>
            <a:ext cx="0" cy="600075"/>
          </a:xfrm>
          <a:prstGeom prst="straightConnector1">
            <a:avLst/>
          </a:prstGeom>
          <a:ln w="16193">
            <a:solidFill>
              <a:srgbClr val="66758A"/>
            </a:solidFill>
            <a:prstDash val="solid"/>
            <a:tailEnd type="triangle" w="sm" len="sm"/>
          </a:ln>
        </p:spPr>
      </p:cxnSp>
      <p:cxnSp>
        <p:nvCxnSpPr>
          <p:cNvPr id="13" name="Connector: Elbow 12">
            <a:extLst>
              <a:ext uri="{FF2B5EF4-FFF2-40B4-BE49-F238E27FC236}">
                <a16:creationId xmlns:a16="http://schemas.microsoft.com/office/drawing/2014/main" id="{BC8A644A-A2DB-45F7-BDD4-70AFF58A9592}"/>
              </a:ext>
            </a:extLst>
          </p:cNvPr>
          <p:cNvCxnSpPr>
            <a:stCxn id="5" idx="2"/>
            <a:endCxn id="7" idx="0"/>
          </p:cNvCxnSpPr>
          <p:nvPr/>
        </p:nvCxnSpPr>
        <p:spPr>
          <a:xfrm flipH="1">
            <a:off x="9810750" y="2400300"/>
            <a:ext cx="309563" cy="838200"/>
          </a:xfrm>
          <a:prstGeom prst="bentConnector4">
            <a:avLst>
              <a:gd name="adj1" fmla="val 0"/>
              <a:gd name="adj2" fmla="val 50000"/>
            </a:avLst>
          </a:prstGeom>
          <a:ln w="16193">
            <a:solidFill>
              <a:srgbClr val="66758A"/>
            </a:solidFill>
            <a:prstDash val="solid"/>
            <a:tailEnd type="triangle" w="sm" len="sm"/>
          </a:ln>
        </p:spPr>
      </p:cxnSp>
      <p:cxnSp>
        <p:nvCxnSpPr>
          <p:cNvPr id="12" name="Connector: Elbow 11">
            <a:extLst>
              <a:ext uri="{FF2B5EF4-FFF2-40B4-BE49-F238E27FC236}">
                <a16:creationId xmlns:a16="http://schemas.microsoft.com/office/drawing/2014/main" id="{FCF5EE8F-E496-40B0-A66E-FF52BD939171}"/>
              </a:ext>
            </a:extLst>
          </p:cNvPr>
          <p:cNvCxnSpPr>
            <a:stCxn id="5" idx="2"/>
            <a:endCxn id="6" idx="0"/>
          </p:cNvCxnSpPr>
          <p:nvPr/>
        </p:nvCxnSpPr>
        <p:spPr>
          <a:xfrm flipH="1">
            <a:off x="6096000" y="2400300"/>
            <a:ext cx="4024313" cy="838200"/>
          </a:xfrm>
          <a:prstGeom prst="bentConnector4">
            <a:avLst>
              <a:gd name="adj1" fmla="val 0"/>
              <a:gd name="adj2" fmla="val 50000"/>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0C429377-FFCE-4B44-AD1B-28B61A10142B}"/>
              </a:ext>
            </a:extLst>
          </p:cNvPr>
          <p:cNvCxnSpPr>
            <a:stCxn id="4" idx="3"/>
            <a:endCxn id="5" idx="1"/>
          </p:cNvCxnSpPr>
          <p:nvPr/>
        </p:nvCxnSpPr>
        <p:spPr>
          <a:xfrm>
            <a:off x="7810500" y="2009775"/>
            <a:ext cx="762000"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2067C8C1-5BB1-47F1-AED2-CA7DE0CDA6AC}"/>
              </a:ext>
            </a:extLst>
          </p:cNvPr>
          <p:cNvCxnSpPr>
            <a:stCxn id="3" idx="3"/>
            <a:endCxn id="4" idx="1"/>
          </p:cNvCxnSpPr>
          <p:nvPr/>
        </p:nvCxnSpPr>
        <p:spPr>
          <a:xfrm>
            <a:off x="3571875" y="2009775"/>
            <a:ext cx="762000" cy="0"/>
          </a:xfrm>
          <a:prstGeom prst="straightConnector1">
            <a:avLst/>
          </a:prstGeom>
          <a:ln w="16193">
            <a:solidFill>
              <a:srgbClr val="66758A"/>
            </a:solidFill>
            <a:prstDash val="solid"/>
            <a:tailEnd type="triangle" w="sm" len="sm"/>
          </a:ln>
        </p:spPr>
      </p:cxnSp>
      <p:sp>
        <p:nvSpPr>
          <p:cNvPr id="30" name="Rectangle 29">
            <a:extLst>
              <a:ext uri="{FF2B5EF4-FFF2-40B4-BE49-F238E27FC236}">
                <a16:creationId xmlns:a16="http://schemas.microsoft.com/office/drawing/2014/main" id="{CD6A1979-4DA6-41D5-AC36-FE2468990AFB}"/>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00  Ingestion and knowledge preparation</a:t>
            </a:r>
          </a:p>
        </p:txBody>
      </p:sp>
      <p:sp>
        <p:nvSpPr>
          <p:cNvPr id="2" name="Rectangle 1">
            <a:extLst>
              <a:ext uri="{FF2B5EF4-FFF2-40B4-BE49-F238E27FC236}">
                <a16:creationId xmlns:a16="http://schemas.microsoft.com/office/drawing/2014/main" id="{88F72855-4B1E-42E9-B472-17D4EF491021}"/>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Reference knowledge, patient artifacts and evaluation data stay separate</a:t>
            </a:r>
          </a:p>
        </p:txBody>
      </p:sp>
      <p:sp>
        <p:nvSpPr>
          <p:cNvPr id="3" name="Rectangle: Rounded Corners 2">
            <a:extLst>
              <a:ext uri="{FF2B5EF4-FFF2-40B4-BE49-F238E27FC236}">
                <a16:creationId xmlns:a16="http://schemas.microsoft.com/office/drawing/2014/main" id="{67011CFA-BDCC-428A-B811-3C87BFEC1480}"/>
              </a:ext>
            </a:extLst>
          </p:cNvPr>
          <p:cNvSpPr>
            <a:spLocks noGrp="1"/>
          </p:cNvSpPr>
          <p:nvPr/>
        </p:nvSpPr>
        <p:spPr>
          <a:xfrm>
            <a:off x="523875" y="1619250"/>
            <a:ext cx="3048000" cy="781050"/>
          </a:xfrm>
          <a:prstGeom prst="roundRect">
            <a:avLst>
              <a:gd name="adj" fmla="val 1219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9 approved reference pages</a:t>
            </a:r>
          </a:p>
          <a:p>
            <a:pPr algn="ctr">
              <a:defRPr sz="1650" b="0">
                <a:solidFill>
                  <a:srgbClr val="17243A"/>
                </a:solidFill>
                <a:latin typeface="Arial"/>
                <a:ea typeface="Arial"/>
                <a:cs typeface="Arial"/>
              </a:defRPr>
            </a:pPr>
            <a:r>
              <a:rPr sz="1650" b="0">
                <a:solidFill>
                  <a:srgbClr val="17243A"/>
                </a:solidFill>
                <a:latin typeface="Arial"/>
                <a:ea typeface="Arial"/>
                <a:cs typeface="Arial"/>
              </a:rPr>
              <a:t>MedlinePlus + NHLBI</a:t>
            </a:r>
          </a:p>
        </p:txBody>
      </p:sp>
      <p:sp>
        <p:nvSpPr>
          <p:cNvPr id="4" name="Rectangle: Rounded Corners 3">
            <a:extLst>
              <a:ext uri="{FF2B5EF4-FFF2-40B4-BE49-F238E27FC236}">
                <a16:creationId xmlns:a16="http://schemas.microsoft.com/office/drawing/2014/main" id="{59AAB703-E7E0-4B5B-B9DE-279257AA6C83}"/>
              </a:ext>
            </a:extLst>
          </p:cNvPr>
          <p:cNvSpPr>
            <a:spLocks noGrp="1"/>
          </p:cNvSpPr>
          <p:nvPr/>
        </p:nvSpPr>
        <p:spPr>
          <a:xfrm>
            <a:off x="4333875" y="1619250"/>
            <a:ext cx="3476625" cy="781050"/>
          </a:xfrm>
          <a:prstGeom prst="roundRect">
            <a:avLst>
              <a:gd name="adj" fmla="val 12195"/>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Parse / clean / provenance</a:t>
            </a:r>
          </a:p>
          <a:p>
            <a:pPr algn="ctr">
              <a:defRPr sz="1650" b="0">
                <a:solidFill>
                  <a:srgbClr val="17243A"/>
                </a:solidFill>
                <a:latin typeface="Arial"/>
                <a:ea typeface="Arial"/>
                <a:cs typeface="Arial"/>
              </a:defRPr>
            </a:pPr>
            <a:r>
              <a:rPr sz="1650" b="0">
                <a:solidFill>
                  <a:srgbClr val="17243A"/>
                </a:solidFill>
                <a:latin typeface="Arial"/>
                <a:ea typeface="Arial"/>
                <a:cs typeface="Arial"/>
              </a:rPr>
              <a:t>Optional Textract OCR</a:t>
            </a:r>
          </a:p>
        </p:txBody>
      </p:sp>
      <p:sp>
        <p:nvSpPr>
          <p:cNvPr id="5" name="Rectangle: Rounded Corners 4">
            <a:extLst>
              <a:ext uri="{FF2B5EF4-FFF2-40B4-BE49-F238E27FC236}">
                <a16:creationId xmlns:a16="http://schemas.microsoft.com/office/drawing/2014/main" id="{0FA8AF7A-1D4F-4B06-8D90-1CCC863F6760}"/>
              </a:ext>
            </a:extLst>
          </p:cNvPr>
          <p:cNvSpPr>
            <a:spLocks noGrp="1"/>
          </p:cNvSpPr>
          <p:nvPr/>
        </p:nvSpPr>
        <p:spPr>
          <a:xfrm>
            <a:off x="8572500" y="1619250"/>
            <a:ext cx="3095625" cy="781050"/>
          </a:xfrm>
          <a:prstGeom prst="roundRect">
            <a:avLst>
              <a:gd name="adj" fmla="val 1219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Section parents + children</a:t>
            </a:r>
          </a:p>
          <a:p>
            <a:pPr algn="ctr">
              <a:defRPr sz="1650" b="0">
                <a:solidFill>
                  <a:srgbClr val="17243A"/>
                </a:solidFill>
                <a:latin typeface="Arial"/>
                <a:ea typeface="Arial"/>
                <a:cs typeface="Arial"/>
              </a:defRPr>
            </a:pPr>
            <a:r>
              <a:rPr sz="1650" b="0">
                <a:solidFill>
                  <a:srgbClr val="17243A"/>
                </a:solidFill>
                <a:latin typeface="Arial"/>
                <a:ea typeface="Arial"/>
                <a:cs typeface="Arial"/>
              </a:rPr>
              <a:t>S3 originals and parents</a:t>
            </a:r>
          </a:p>
        </p:txBody>
      </p:sp>
      <p:sp>
        <p:nvSpPr>
          <p:cNvPr id="6" name="Rectangle: Rounded Corners 5">
            <a:extLst>
              <a:ext uri="{FF2B5EF4-FFF2-40B4-BE49-F238E27FC236}">
                <a16:creationId xmlns:a16="http://schemas.microsoft.com/office/drawing/2014/main" id="{91AE9F63-D559-44A3-8BC1-6A721464FA50}"/>
              </a:ext>
            </a:extLst>
          </p:cNvPr>
          <p:cNvSpPr>
            <a:spLocks noGrp="1"/>
          </p:cNvSpPr>
          <p:nvPr/>
        </p:nvSpPr>
        <p:spPr>
          <a:xfrm>
            <a:off x="4667250" y="3238500"/>
            <a:ext cx="2857500" cy="685800"/>
          </a:xfrm>
          <a:prstGeom prst="roundRect">
            <a:avLst>
              <a:gd name="adj" fmla="val 13889"/>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Titan Text Embeddings V2</a:t>
            </a:r>
          </a:p>
        </p:txBody>
      </p:sp>
      <p:sp>
        <p:nvSpPr>
          <p:cNvPr id="7" name="Rectangle: Rounded Corners 6">
            <a:extLst>
              <a:ext uri="{FF2B5EF4-FFF2-40B4-BE49-F238E27FC236}">
                <a16:creationId xmlns:a16="http://schemas.microsoft.com/office/drawing/2014/main" id="{BCC9333C-C9B7-4A18-B95E-E00B9352BC19}"/>
              </a:ext>
            </a:extLst>
          </p:cNvPr>
          <p:cNvSpPr>
            <a:spLocks noGrp="1"/>
          </p:cNvSpPr>
          <p:nvPr/>
        </p:nvSpPr>
        <p:spPr>
          <a:xfrm>
            <a:off x="8286750" y="3238500"/>
            <a:ext cx="3048000" cy="685800"/>
          </a:xfrm>
          <a:prstGeom prst="roundRect">
            <a:avLst>
              <a:gd name="adj" fmla="val 13889"/>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entity / relation</a:t>
            </a:r>
          </a:p>
          <a:p>
            <a:pPr algn="ctr">
              <a:defRPr sz="1650" b="0">
                <a:solidFill>
                  <a:srgbClr val="17243A"/>
                </a:solidFill>
                <a:latin typeface="Arial"/>
                <a:ea typeface="Arial"/>
                <a:cs typeface="Arial"/>
              </a:defRPr>
            </a:pPr>
            <a:r>
              <a:rPr sz="1650" b="0">
                <a:solidFill>
                  <a:srgbClr val="17243A"/>
                </a:solidFill>
                <a:latin typeface="Arial"/>
                <a:ea typeface="Arial"/>
                <a:cs typeface="Arial"/>
              </a:rPr>
              <a:t>proposals</a:t>
            </a:r>
          </a:p>
        </p:txBody>
      </p:sp>
      <p:sp>
        <p:nvSpPr>
          <p:cNvPr id="8" name="Rectangle: Rounded Corners 7">
            <a:extLst>
              <a:ext uri="{FF2B5EF4-FFF2-40B4-BE49-F238E27FC236}">
                <a16:creationId xmlns:a16="http://schemas.microsoft.com/office/drawing/2014/main" id="{3D04B8B1-3ACF-4422-8254-C213B28AF29B}"/>
              </a:ext>
            </a:extLst>
          </p:cNvPr>
          <p:cNvSpPr>
            <a:spLocks noGrp="1"/>
          </p:cNvSpPr>
          <p:nvPr/>
        </p:nvSpPr>
        <p:spPr>
          <a:xfrm>
            <a:off x="4667250" y="4524375"/>
            <a:ext cx="2857500" cy="685800"/>
          </a:xfrm>
          <a:prstGeom prst="roundRect">
            <a:avLst>
              <a:gd name="adj" fmla="val 13889"/>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OpenSearch</a:t>
            </a:r>
          </a:p>
          <a:p>
            <a:pPr algn="ctr">
              <a:defRPr sz="1650" b="0">
                <a:solidFill>
                  <a:srgbClr val="17243A"/>
                </a:solidFill>
                <a:latin typeface="Arial"/>
                <a:ea typeface="Arial"/>
                <a:cs typeface="Arial"/>
              </a:defRPr>
            </a:pPr>
            <a:r>
              <a:rPr sz="1650" b="0">
                <a:solidFill>
                  <a:srgbClr val="17243A"/>
                </a:solidFill>
                <a:latin typeface="Arial"/>
                <a:ea typeface="Arial"/>
                <a:cs typeface="Arial"/>
              </a:rPr>
              <a:t>Text + vectors</a:t>
            </a:r>
          </a:p>
        </p:txBody>
      </p:sp>
      <p:sp>
        <p:nvSpPr>
          <p:cNvPr id="9" name="Rectangle: Rounded Corners 8">
            <a:extLst>
              <a:ext uri="{FF2B5EF4-FFF2-40B4-BE49-F238E27FC236}">
                <a16:creationId xmlns:a16="http://schemas.microsoft.com/office/drawing/2014/main" id="{28348CAA-9C82-41E8-8F10-7572E54B0F71}"/>
              </a:ext>
            </a:extLst>
          </p:cNvPr>
          <p:cNvSpPr>
            <a:spLocks noGrp="1"/>
          </p:cNvSpPr>
          <p:nvPr/>
        </p:nvSpPr>
        <p:spPr>
          <a:xfrm>
            <a:off x="8286750" y="4524375"/>
            <a:ext cx="3048000" cy="685800"/>
          </a:xfrm>
          <a:prstGeom prst="roundRect">
            <a:avLst>
              <a:gd name="adj" fmla="val 13889"/>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Reviewed graph</a:t>
            </a:r>
          </a:p>
          <a:p>
            <a:pPr algn="ctr">
              <a:defRPr sz="1650" b="0">
                <a:solidFill>
                  <a:srgbClr val="17243A"/>
                </a:solidFill>
                <a:latin typeface="Arial"/>
                <a:ea typeface="Arial"/>
                <a:cs typeface="Arial"/>
              </a:defRPr>
            </a:pPr>
            <a:r>
              <a:rPr sz="1650" b="0">
                <a:solidFill>
                  <a:srgbClr val="17243A"/>
                </a:solidFill>
                <a:latin typeface="Arial"/>
                <a:ea typeface="Arial"/>
                <a:cs typeface="Arial"/>
              </a:rPr>
              <a:t>Local first; Neptune optional</a:t>
            </a:r>
          </a:p>
        </p:txBody>
      </p:sp>
      <p:sp>
        <p:nvSpPr>
          <p:cNvPr id="16" name="Rectangle 15">
            <a:extLst>
              <a:ext uri="{FF2B5EF4-FFF2-40B4-BE49-F238E27FC236}">
                <a16:creationId xmlns:a16="http://schemas.microsoft.com/office/drawing/2014/main" id="{3F400E9B-BC1B-49EE-9C3D-7DC1A252F515}"/>
              </a:ext>
            </a:extLst>
          </p:cNvPr>
          <p:cNvSpPr>
            <a:spLocks noGrp="1"/>
          </p:cNvSpPr>
          <p:nvPr/>
        </p:nvSpPr>
        <p:spPr>
          <a:xfrm>
            <a:off x="523875" y="3286125"/>
            <a:ext cx="3333750" cy="1571625"/>
          </a:xfrm>
          <a:prstGeom prst="rect">
            <a:avLst/>
          </a:prstGeom>
          <a:noFill/>
          <a:ln w="0">
            <a:noFill/>
          </a:ln>
        </p:spPr>
        <p:txBody>
          <a:bodyPr wrap="square" lIns="0" tIns="0" rIns="0" bIns="0" anchor="ctr">
            <a:noAutofit/>
          </a:bodyPr>
          <a:lstStyle>
            <a:defPPr algn="l">
              <a:defRPr sz="1875" b="0">
                <a:solidFill>
                  <a:srgbClr val="17243A"/>
                </a:solidFill>
                <a:latin typeface="Arial"/>
                <a:ea typeface="Arial"/>
                <a:cs typeface="Arial"/>
              </a:defRPr>
            </a:defPPr>
            <a:lvl1pPr algn="l">
              <a:defRPr sz="1875" b="0">
                <a:solidFill>
                  <a:srgbClr val="17243A"/>
                </a:solidFill>
                <a:latin typeface="Arial"/>
                <a:ea typeface="Arial"/>
                <a:cs typeface="Arial"/>
              </a:defRPr>
            </a:lvl1pPr>
            <a:lvl2pPr algn="l">
              <a:defRPr sz="1875" b="0">
                <a:solidFill>
                  <a:srgbClr val="17243A"/>
                </a:solidFill>
                <a:latin typeface="Arial"/>
                <a:ea typeface="Arial"/>
                <a:cs typeface="Arial"/>
              </a:defRPr>
            </a:lvl2pPr>
            <a:lvl3pPr algn="l">
              <a:defRPr sz="1875" b="0">
                <a:solidFill>
                  <a:srgbClr val="17243A"/>
                </a:solidFill>
                <a:latin typeface="Arial"/>
                <a:ea typeface="Arial"/>
                <a:cs typeface="Arial"/>
              </a:defRPr>
            </a:lvl3pPr>
            <a:lvl4pPr algn="l">
              <a:defRPr sz="1875" b="0">
                <a:solidFill>
                  <a:srgbClr val="17243A"/>
                </a:solidFill>
                <a:latin typeface="Arial"/>
                <a:ea typeface="Arial"/>
                <a:cs typeface="Arial"/>
              </a:defRPr>
            </a:lvl4pPr>
            <a:lvl5pPr algn="l">
              <a:defRPr sz="1875" b="0">
                <a:solidFill>
                  <a:srgbClr val="17243A"/>
                </a:solidFill>
                <a:latin typeface="Arial"/>
                <a:ea typeface="Arial"/>
                <a:cs typeface="Arial"/>
              </a:defRPr>
            </a:lvl5pPr>
            <a:lvl6pPr algn="l">
              <a:defRPr sz="1875" b="0">
                <a:solidFill>
                  <a:srgbClr val="17243A"/>
                </a:solidFill>
                <a:latin typeface="Arial"/>
                <a:ea typeface="Arial"/>
                <a:cs typeface="Arial"/>
              </a:defRPr>
            </a:lvl6pPr>
            <a:lvl7pPr algn="l">
              <a:defRPr sz="1875" b="0">
                <a:solidFill>
                  <a:srgbClr val="17243A"/>
                </a:solidFill>
                <a:latin typeface="Arial"/>
                <a:ea typeface="Arial"/>
                <a:cs typeface="Arial"/>
              </a:defRPr>
            </a:lvl7pPr>
            <a:lvl8pPr algn="l">
              <a:defRPr sz="1875" b="0">
                <a:solidFill>
                  <a:srgbClr val="17243A"/>
                </a:solidFill>
                <a:latin typeface="Arial"/>
                <a:ea typeface="Arial"/>
                <a:cs typeface="Arial"/>
              </a:defRPr>
            </a:lvl8pPr>
            <a:lvl9pPr algn="l">
              <a:defRPr sz="1875" b="0">
                <a:solidFill>
                  <a:srgbClr val="17243A"/>
                </a:solidFill>
                <a:latin typeface="Arial"/>
                <a:ea typeface="Arial"/>
                <a:cs typeface="Arial"/>
              </a:defRPr>
            </a:lvl9pPr>
          </a:lstStyle>
          <a:p>
            <a:pPr algn="l">
              <a:defRPr sz="1875" b="0">
                <a:solidFill>
                  <a:srgbClr val="17243A"/>
                </a:solidFill>
                <a:latin typeface="Arial"/>
                <a:ea typeface="Arial"/>
                <a:cs typeface="Arial"/>
              </a:defRPr>
            </a:pPr>
            <a:r>
              <a:rPr sz="1875" b="0">
                <a:solidFill>
                  <a:srgbClr val="17243A"/>
                </a:solidFill>
                <a:latin typeface="Arial"/>
                <a:ea typeface="Arial"/>
                <a:cs typeface="Arial"/>
              </a:rPr>
              <a:t>Patient files stay run-scoped.</a:t>
            </a:r>
          </a:p>
          <a:p>
            <a:pPr algn="l">
              <a:defRPr sz="1875" b="0">
                <a:solidFill>
                  <a:srgbClr val="17243A"/>
                </a:solidFill>
                <a:latin typeface="Arial"/>
                <a:ea typeface="Arial"/>
                <a:cs typeface="Arial"/>
              </a:defRPr>
            </a:pPr>
            <a:r>
              <a:rPr sz="1875" b="0">
                <a:solidFill>
                  <a:srgbClr val="17243A"/>
                </a:solidFill>
                <a:latin typeface="Arial"/>
                <a:ea typeface="Arial"/>
                <a:cs typeface="Arial"/>
              </a:rPr>
              <a:t>Evaluation answers stay isolated.</a:t>
            </a:r>
          </a:p>
          <a:p>
            <a:pPr algn="l">
              <a:defRPr sz="1875" b="0">
                <a:solidFill>
                  <a:srgbClr val="17243A"/>
                </a:solidFill>
                <a:latin typeface="Arial"/>
                <a:ea typeface="Arial"/>
                <a:cs typeface="Arial"/>
              </a:defRPr>
            </a:pPr>
            <a:r>
              <a:rPr sz="1875" b="0">
                <a:solidFill>
                  <a:srgbClr val="17243A"/>
                </a:solidFill>
                <a:latin typeface="Arial"/>
                <a:ea typeface="Arial"/>
                <a:cs typeface="Arial"/>
              </a:rPr>
              <a:t>No global indexing of patient facts.</a:t>
            </a:r>
          </a:p>
        </p:txBody>
      </p:sp>
      <p:sp>
        <p:nvSpPr>
          <p:cNvPr id="17" name="Rectangle 16">
            <a:extLst>
              <a:ext uri="{FF2B5EF4-FFF2-40B4-BE49-F238E27FC236}">
                <a16:creationId xmlns:a16="http://schemas.microsoft.com/office/drawing/2014/main" id="{EFEE579F-7D62-46C1-933A-DDCDCF5B62E3}"/>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PUBLISHED STATE</a:t>
            </a:r>
          </a:p>
        </p:txBody>
      </p:sp>
      <p:sp>
        <p:nvSpPr>
          <p:cNvPr id="18" name="Rectangle 17">
            <a:extLst>
              <a:ext uri="{FF2B5EF4-FFF2-40B4-BE49-F238E27FC236}">
                <a16:creationId xmlns:a16="http://schemas.microsoft.com/office/drawing/2014/main" id="{E5B75C7E-23FC-494A-9AA7-713B27BE0051}"/>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corpus_version, source IDs, parent/child IDs, offsets, graph_version</a:t>
            </a:r>
          </a:p>
        </p:txBody>
      </p:sp>
      <p:sp>
        <p:nvSpPr>
          <p:cNvPr id="19" name="Rectangle: Rounded Corners 18">
            <a:extLst>
              <a:ext uri="{FF2B5EF4-FFF2-40B4-BE49-F238E27FC236}">
                <a16:creationId xmlns:a16="http://schemas.microsoft.com/office/drawing/2014/main" id="{C8D646B1-70BC-43A6-8291-F5FBE6766134}"/>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20" name="Rectangle 19">
            <a:extLst>
              <a:ext uri="{FF2B5EF4-FFF2-40B4-BE49-F238E27FC236}">
                <a16:creationId xmlns:a16="http://schemas.microsoft.com/office/drawing/2014/main" id="{C4E4DD4D-B4D4-423C-A906-C1E4B18CAB27}"/>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1" name="Rectangle: Rounded Corners 20">
            <a:extLst>
              <a:ext uri="{FF2B5EF4-FFF2-40B4-BE49-F238E27FC236}">
                <a16:creationId xmlns:a16="http://schemas.microsoft.com/office/drawing/2014/main" id="{3ABE6B12-199B-43CD-B824-BED6AE6B0BFE}"/>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2" name="Rectangle 21">
            <a:extLst>
              <a:ext uri="{FF2B5EF4-FFF2-40B4-BE49-F238E27FC236}">
                <a16:creationId xmlns:a16="http://schemas.microsoft.com/office/drawing/2014/main" id="{D0F0F85C-7495-407E-9E68-6197605CCDAD}"/>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3" name="Rectangle: Rounded Corners 22">
            <a:extLst>
              <a:ext uri="{FF2B5EF4-FFF2-40B4-BE49-F238E27FC236}">
                <a16:creationId xmlns:a16="http://schemas.microsoft.com/office/drawing/2014/main" id="{BA52B055-57FA-41BD-8FEF-3261DC9D5892}"/>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4" name="Rectangle 23">
            <a:extLst>
              <a:ext uri="{FF2B5EF4-FFF2-40B4-BE49-F238E27FC236}">
                <a16:creationId xmlns:a16="http://schemas.microsoft.com/office/drawing/2014/main" id="{27458ACF-F386-44F3-9803-F2AA8D026D12}"/>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5" name="Rectangle: Rounded Corners 24">
            <a:extLst>
              <a:ext uri="{FF2B5EF4-FFF2-40B4-BE49-F238E27FC236}">
                <a16:creationId xmlns:a16="http://schemas.microsoft.com/office/drawing/2014/main" id="{2A910A21-43BA-42BF-93F3-95D4694BD81F}"/>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6" name="Rectangle 25">
            <a:extLst>
              <a:ext uri="{FF2B5EF4-FFF2-40B4-BE49-F238E27FC236}">
                <a16:creationId xmlns:a16="http://schemas.microsoft.com/office/drawing/2014/main" id="{D9FDE368-1D5C-416B-AB6E-3A0D999EB454}"/>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7" name="Rectangle: Rounded Corners 26">
            <a:extLst>
              <a:ext uri="{FF2B5EF4-FFF2-40B4-BE49-F238E27FC236}">
                <a16:creationId xmlns:a16="http://schemas.microsoft.com/office/drawing/2014/main" id="{D9E7B287-121F-4CA3-8916-7F7CF25D2D61}"/>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8" name="Rectangle 27">
            <a:extLst>
              <a:ext uri="{FF2B5EF4-FFF2-40B4-BE49-F238E27FC236}">
                <a16:creationId xmlns:a16="http://schemas.microsoft.com/office/drawing/2014/main" id="{7B1D789C-3C2E-49A6-8490-79B6938379F3}"/>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9" name="Rectangle 28">
            <a:extLst>
              <a:ext uri="{FF2B5EF4-FFF2-40B4-BE49-F238E27FC236}">
                <a16:creationId xmlns:a16="http://schemas.microsoft.com/office/drawing/2014/main" id="{40047764-11C1-4141-8755-8B7E18501660}"/>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04</a:t>
            </a:r>
          </a:p>
        </p:txBody>
      </p:sp>
    </p:spTree>
    <p:extLst>
      <p:ext uri="{BB962C8B-B14F-4D97-AF65-F5344CB8AC3E}">
        <p14:creationId xmlns:p14="http://schemas.microsoft.com/office/powerpoint/2010/main" val="186092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3" name="Connector: Elbow 12">
            <a:extLst>
              <a:ext uri="{FF2B5EF4-FFF2-40B4-BE49-F238E27FC236}">
                <a16:creationId xmlns:a16="http://schemas.microsoft.com/office/drawing/2014/main" id="{DF79EED2-BDC5-45CC-BD8E-D0D2FDBD3FCC}"/>
              </a:ext>
            </a:extLst>
          </p:cNvPr>
          <p:cNvCxnSpPr>
            <a:stCxn id="5" idx="2"/>
            <a:endCxn id="8" idx="0"/>
          </p:cNvCxnSpPr>
          <p:nvPr/>
        </p:nvCxnSpPr>
        <p:spPr>
          <a:xfrm flipH="1">
            <a:off x="1809750" y="2571750"/>
            <a:ext cx="6238875" cy="857250"/>
          </a:xfrm>
          <a:prstGeom prst="bentConnector4">
            <a:avLst>
              <a:gd name="adj1" fmla="val 0"/>
              <a:gd name="adj2" fmla="val 50000"/>
            </a:avLst>
          </a:prstGeom>
          <a:ln w="16193">
            <a:solidFill>
              <a:srgbClr val="CD9648"/>
            </a:solidFill>
            <a:prstDash val="dash"/>
            <a:tailEnd type="triangle" w="sm" len="sm"/>
          </a:ln>
        </p:spPr>
      </p:cxnSp>
      <p:cxnSp>
        <p:nvCxnSpPr>
          <p:cNvPr id="12" name="Straight Arrow Connector 11">
            <a:extLst>
              <a:ext uri="{FF2B5EF4-FFF2-40B4-BE49-F238E27FC236}">
                <a16:creationId xmlns:a16="http://schemas.microsoft.com/office/drawing/2014/main" id="{E98D50C1-7537-4008-972F-EAAB972CA83C}"/>
              </a:ext>
            </a:extLst>
          </p:cNvPr>
          <p:cNvCxnSpPr>
            <a:stCxn id="6" idx="1"/>
            <a:endCxn id="7" idx="3"/>
          </p:cNvCxnSpPr>
          <p:nvPr/>
        </p:nvCxnSpPr>
        <p:spPr>
          <a:xfrm flipH="1">
            <a:off x="6048375" y="3833813"/>
            <a:ext cx="666750" cy="0"/>
          </a:xfrm>
          <a:prstGeom prst="straightConnector1">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6744FB04-9549-419E-B8BC-0F54D2670BDA}"/>
              </a:ext>
            </a:extLst>
          </p:cNvPr>
          <p:cNvCxnSpPr>
            <a:stCxn id="5" idx="2"/>
            <a:endCxn id="6" idx="0"/>
          </p:cNvCxnSpPr>
          <p:nvPr/>
        </p:nvCxnSpPr>
        <p:spPr>
          <a:xfrm>
            <a:off x="8048625" y="2571750"/>
            <a:ext cx="0" cy="85725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5278199D-FD87-4250-8659-D88C6049D200}"/>
              </a:ext>
            </a:extLst>
          </p:cNvPr>
          <p:cNvCxnSpPr>
            <a:stCxn id="4" idx="3"/>
            <a:endCxn id="5" idx="1"/>
          </p:cNvCxnSpPr>
          <p:nvPr/>
        </p:nvCxnSpPr>
        <p:spPr>
          <a:xfrm>
            <a:off x="6048375" y="2190750"/>
            <a:ext cx="666750" cy="0"/>
          </a:xfrm>
          <a:prstGeom prst="straightConnector1">
            <a:avLst/>
          </a:prstGeom>
          <a:ln w="16193">
            <a:solidFill>
              <a:srgbClr val="66758A"/>
            </a:solidFill>
            <a:prstDash val="solid"/>
            <a:tailEnd type="triangle" w="sm" len="sm"/>
          </a:ln>
        </p:spPr>
      </p:cxnSp>
      <p:cxnSp>
        <p:nvCxnSpPr>
          <p:cNvPr id="9" name="Straight Arrow Connector 8">
            <a:extLst>
              <a:ext uri="{FF2B5EF4-FFF2-40B4-BE49-F238E27FC236}">
                <a16:creationId xmlns:a16="http://schemas.microsoft.com/office/drawing/2014/main" id="{E015C468-BB0A-4049-9438-C74AB2586060}"/>
              </a:ext>
            </a:extLst>
          </p:cNvPr>
          <p:cNvCxnSpPr>
            <a:stCxn id="3" idx="3"/>
            <a:endCxn id="4" idx="1"/>
          </p:cNvCxnSpPr>
          <p:nvPr/>
        </p:nvCxnSpPr>
        <p:spPr>
          <a:xfrm>
            <a:off x="3000375" y="2190750"/>
            <a:ext cx="666750" cy="0"/>
          </a:xfrm>
          <a:prstGeom prst="straightConnector1">
            <a:avLst/>
          </a:prstGeom>
          <a:ln w="16193">
            <a:solidFill>
              <a:srgbClr val="66758A"/>
            </a:solidFill>
            <a:prstDash val="solid"/>
            <a:tailEnd type="triangle" w="sm" len="sm"/>
          </a:ln>
        </p:spPr>
      </p:cxnSp>
      <p:sp>
        <p:nvSpPr>
          <p:cNvPr id="28" name="Rectangle 27">
            <a:extLst>
              <a:ext uri="{FF2B5EF4-FFF2-40B4-BE49-F238E27FC236}">
                <a16:creationId xmlns:a16="http://schemas.microsoft.com/office/drawing/2014/main" id="{85814030-D24A-4B8C-A080-905618302DF5}"/>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01  Patient intake and decomposition</a:t>
            </a:r>
          </a:p>
        </p:txBody>
      </p:sp>
      <p:sp>
        <p:nvSpPr>
          <p:cNvPr id="2" name="Rectangle 1">
            <a:extLst>
              <a:ext uri="{FF2B5EF4-FFF2-40B4-BE49-F238E27FC236}">
                <a16:creationId xmlns:a16="http://schemas.microsoft.com/office/drawing/2014/main" id="{158B2DCE-43FD-4E94-A0F0-452BDB85CE63}"/>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One structured call preserves intent and creates at most five needs</a:t>
            </a:r>
          </a:p>
        </p:txBody>
      </p:sp>
      <p:sp>
        <p:nvSpPr>
          <p:cNvPr id="3" name="Rectangle: Rounded Corners 2">
            <a:extLst>
              <a:ext uri="{FF2B5EF4-FFF2-40B4-BE49-F238E27FC236}">
                <a16:creationId xmlns:a16="http://schemas.microsoft.com/office/drawing/2014/main" id="{7B7349E6-F24D-4A5B-907E-58B4055EC57B}"/>
              </a:ext>
            </a:extLst>
          </p:cNvPr>
          <p:cNvSpPr>
            <a:spLocks noGrp="1"/>
          </p:cNvSpPr>
          <p:nvPr/>
        </p:nvSpPr>
        <p:spPr>
          <a:xfrm>
            <a:off x="619125" y="1809750"/>
            <a:ext cx="2381250" cy="762000"/>
          </a:xfrm>
          <a:prstGeom prst="roundRect">
            <a:avLst>
              <a:gd name="adj" fmla="val 12500"/>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Text and/or images</a:t>
            </a:r>
          </a:p>
        </p:txBody>
      </p:sp>
      <p:sp>
        <p:nvSpPr>
          <p:cNvPr id="4" name="Rectangle: Rounded Corners 3">
            <a:extLst>
              <a:ext uri="{FF2B5EF4-FFF2-40B4-BE49-F238E27FC236}">
                <a16:creationId xmlns:a16="http://schemas.microsoft.com/office/drawing/2014/main" id="{2804AC53-7E8B-4114-B621-3FF324156A12}"/>
              </a:ext>
            </a:extLst>
          </p:cNvPr>
          <p:cNvSpPr>
            <a:spLocks noGrp="1"/>
          </p:cNvSpPr>
          <p:nvPr/>
        </p:nvSpPr>
        <p:spPr>
          <a:xfrm>
            <a:off x="3667125" y="1809750"/>
            <a:ext cx="2381250" cy="762000"/>
          </a:xfrm>
          <a:prstGeom prst="roundRect">
            <a:avLst>
              <a:gd name="adj" fmla="val 12500"/>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Register artifacts</a:t>
            </a:r>
          </a:p>
          <a:p>
            <a:pPr algn="ctr">
              <a:defRPr sz="1650" b="0">
                <a:solidFill>
                  <a:srgbClr val="17243A"/>
                </a:solidFill>
                <a:latin typeface="Arial"/>
                <a:ea typeface="Arial"/>
                <a:cs typeface="Arial"/>
              </a:defRPr>
            </a:pPr>
            <a:r>
              <a:rPr sz="1650" b="0">
                <a:solidFill>
                  <a:srgbClr val="17243A"/>
                </a:solidFill>
                <a:latin typeface="Arial"/>
                <a:ea typeface="Arial"/>
                <a:cs typeface="Arial"/>
              </a:rPr>
              <a:t>Category + IDs</a:t>
            </a:r>
          </a:p>
        </p:txBody>
      </p:sp>
      <p:sp>
        <p:nvSpPr>
          <p:cNvPr id="5" name="Rectangle: Rounded Corners 4">
            <a:extLst>
              <a:ext uri="{FF2B5EF4-FFF2-40B4-BE49-F238E27FC236}">
                <a16:creationId xmlns:a16="http://schemas.microsoft.com/office/drawing/2014/main" id="{65F490F1-0565-4B8E-8359-29EB4AF631BD}"/>
              </a:ext>
            </a:extLst>
          </p:cNvPr>
          <p:cNvSpPr>
            <a:spLocks noGrp="1"/>
          </p:cNvSpPr>
          <p:nvPr/>
        </p:nvSpPr>
        <p:spPr>
          <a:xfrm>
            <a:off x="6715125" y="1809750"/>
            <a:ext cx="2667000" cy="762000"/>
          </a:xfrm>
          <a:prstGeom prst="roundRect">
            <a:avLst>
              <a:gd name="adj" fmla="val 12500"/>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4.6</a:t>
            </a:r>
          </a:p>
          <a:p>
            <a:pPr algn="ctr">
              <a:defRPr sz="1650" b="0">
                <a:solidFill>
                  <a:srgbClr val="17243A"/>
                </a:solidFill>
                <a:latin typeface="Arial"/>
                <a:ea typeface="Arial"/>
                <a:cs typeface="Arial"/>
              </a:defRPr>
            </a:pPr>
            <a:r>
              <a:rPr sz="1650" b="0">
                <a:solidFill>
                  <a:srgbClr val="17243A"/>
                </a:solidFill>
                <a:latin typeface="Arial"/>
                <a:ea typeface="Arial"/>
                <a:cs typeface="Arial"/>
              </a:rPr>
              <a:t>Direct or decomposition</a:t>
            </a:r>
          </a:p>
        </p:txBody>
      </p:sp>
      <p:sp>
        <p:nvSpPr>
          <p:cNvPr id="6" name="Rectangle: Rounded Corners 5">
            <a:extLst>
              <a:ext uri="{FF2B5EF4-FFF2-40B4-BE49-F238E27FC236}">
                <a16:creationId xmlns:a16="http://schemas.microsoft.com/office/drawing/2014/main" id="{1FF9897D-39CF-45E6-9FA3-2224228F37A7}"/>
              </a:ext>
            </a:extLst>
          </p:cNvPr>
          <p:cNvSpPr>
            <a:spLocks noGrp="1"/>
          </p:cNvSpPr>
          <p:nvPr/>
        </p:nvSpPr>
        <p:spPr>
          <a:xfrm>
            <a:off x="6715125" y="3429000"/>
            <a:ext cx="2667000" cy="809625"/>
          </a:xfrm>
          <a:prstGeom prst="roundRect">
            <a:avLst>
              <a:gd name="adj" fmla="val 11765"/>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Validate schema / IDs</a:t>
            </a:r>
          </a:p>
          <a:p>
            <a:pPr algn="ctr">
              <a:defRPr sz="1650" b="0">
                <a:solidFill>
                  <a:srgbClr val="17243A"/>
                </a:solidFill>
                <a:latin typeface="Arial"/>
                <a:ea typeface="Arial"/>
                <a:cs typeface="Arial"/>
              </a:defRPr>
            </a:pPr>
            <a:r>
              <a:rPr sz="1650" b="0">
                <a:solidFill>
                  <a:srgbClr val="17243A"/>
                </a:solidFill>
                <a:latin typeface="Arial"/>
                <a:ea typeface="Arial"/>
                <a:cs typeface="Arial"/>
              </a:rPr>
              <a:t>No invented findings</a:t>
            </a:r>
          </a:p>
        </p:txBody>
      </p:sp>
      <p:sp>
        <p:nvSpPr>
          <p:cNvPr id="7" name="Rectangle: Rounded Corners 6">
            <a:extLst>
              <a:ext uri="{FF2B5EF4-FFF2-40B4-BE49-F238E27FC236}">
                <a16:creationId xmlns:a16="http://schemas.microsoft.com/office/drawing/2014/main" id="{0342B81F-8690-4F6F-A6CE-93356783DF72}"/>
              </a:ext>
            </a:extLst>
          </p:cNvPr>
          <p:cNvSpPr>
            <a:spLocks noGrp="1"/>
          </p:cNvSpPr>
          <p:nvPr/>
        </p:nvSpPr>
        <p:spPr>
          <a:xfrm>
            <a:off x="3667125" y="3429000"/>
            <a:ext cx="2381250" cy="809625"/>
          </a:xfrm>
          <a:prstGeom prst="roundRect">
            <a:avLst>
              <a:gd name="adj" fmla="val 1176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Needs for Layer 2</a:t>
            </a:r>
          </a:p>
          <a:p>
            <a:pPr algn="ctr">
              <a:defRPr sz="1650" b="0">
                <a:solidFill>
                  <a:srgbClr val="17243A"/>
                </a:solidFill>
                <a:latin typeface="Arial"/>
                <a:ea typeface="Arial"/>
                <a:cs typeface="Arial"/>
              </a:defRPr>
            </a:pPr>
            <a:r>
              <a:rPr sz="1650" b="0">
                <a:solidFill>
                  <a:srgbClr val="17243A"/>
                </a:solidFill>
                <a:latin typeface="Arial"/>
                <a:ea typeface="Arial"/>
                <a:cs typeface="Arial"/>
              </a:rPr>
              <a:t>Questions + dependencies</a:t>
            </a:r>
          </a:p>
        </p:txBody>
      </p:sp>
      <p:sp>
        <p:nvSpPr>
          <p:cNvPr id="8" name="Rectangle: Rounded Corners 7">
            <a:extLst>
              <a:ext uri="{FF2B5EF4-FFF2-40B4-BE49-F238E27FC236}">
                <a16:creationId xmlns:a16="http://schemas.microsoft.com/office/drawing/2014/main" id="{89567C24-1DF7-40C1-9546-5F3E8B19EA34}"/>
              </a:ext>
            </a:extLst>
          </p:cNvPr>
          <p:cNvSpPr>
            <a:spLocks noGrp="1"/>
          </p:cNvSpPr>
          <p:nvPr/>
        </p:nvSpPr>
        <p:spPr>
          <a:xfrm>
            <a:off x="619125" y="3429000"/>
            <a:ext cx="2381250" cy="809625"/>
          </a:xfrm>
          <a:prstGeom prst="roundRect">
            <a:avLst>
              <a:gd name="adj" fmla="val 11765"/>
            </a:avLst>
          </a:prstGeom>
          <a:solidFill>
            <a:srgbClr val="FFF2DC"/>
          </a:solidFill>
          <a:ln w="14288">
            <a:solidFill>
              <a:srgbClr val="CD9648"/>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Malformed output</a:t>
            </a:r>
          </a:p>
          <a:p>
            <a:pPr algn="ctr">
              <a:defRPr sz="1650" b="0">
                <a:solidFill>
                  <a:srgbClr val="17243A"/>
                </a:solidFill>
                <a:latin typeface="Arial"/>
                <a:ea typeface="Arial"/>
                <a:cs typeface="Arial"/>
              </a:defRPr>
            </a:pPr>
            <a:r>
              <a:rPr sz="1650" b="0">
                <a:solidFill>
                  <a:srgbClr val="17243A"/>
                </a:solidFill>
                <a:latin typeface="Arial"/>
                <a:ea typeface="Arial"/>
                <a:cs typeface="Arial"/>
              </a:rPr>
              <a:t>Preserve original request</a:t>
            </a:r>
          </a:p>
        </p:txBody>
      </p:sp>
      <p:sp>
        <p:nvSpPr>
          <p:cNvPr id="14" name="Rectangle 13">
            <a:extLst>
              <a:ext uri="{FF2B5EF4-FFF2-40B4-BE49-F238E27FC236}">
                <a16:creationId xmlns:a16="http://schemas.microsoft.com/office/drawing/2014/main" id="{953613FC-EE78-44E4-B2A3-73D9797629E0}"/>
              </a:ext>
            </a:extLst>
          </p:cNvPr>
          <p:cNvSpPr>
            <a:spLocks noGrp="1"/>
          </p:cNvSpPr>
          <p:nvPr/>
        </p:nvSpPr>
        <p:spPr>
          <a:xfrm>
            <a:off x="619125" y="4810125"/>
            <a:ext cx="10668000" cy="428625"/>
          </a:xfrm>
          <a:prstGeom prst="rect">
            <a:avLst/>
          </a:prstGeom>
          <a:noFill/>
          <a:ln w="0">
            <a:noFill/>
          </a:ln>
        </p:spPr>
        <p:txBody>
          <a:bodyPr wrap="square" lIns="0" tIns="0" rIns="0" bIns="0" anchor="ctr">
            <a:noAutofit/>
          </a:bodyPr>
          <a:lstStyle>
            <a:defPPr algn="l">
              <a:defRPr sz="1875" b="0">
                <a:solidFill>
                  <a:srgbClr val="17243A"/>
                </a:solidFill>
                <a:latin typeface="Arial"/>
                <a:ea typeface="Arial"/>
                <a:cs typeface="Arial"/>
              </a:defRPr>
            </a:defPPr>
            <a:lvl1pPr algn="l">
              <a:defRPr sz="1875" b="0">
                <a:solidFill>
                  <a:srgbClr val="17243A"/>
                </a:solidFill>
                <a:latin typeface="Arial"/>
                <a:ea typeface="Arial"/>
                <a:cs typeface="Arial"/>
              </a:defRPr>
            </a:lvl1pPr>
            <a:lvl2pPr algn="l">
              <a:defRPr sz="1875" b="0">
                <a:solidFill>
                  <a:srgbClr val="17243A"/>
                </a:solidFill>
                <a:latin typeface="Arial"/>
                <a:ea typeface="Arial"/>
                <a:cs typeface="Arial"/>
              </a:defRPr>
            </a:lvl2pPr>
            <a:lvl3pPr algn="l">
              <a:defRPr sz="1875" b="0">
                <a:solidFill>
                  <a:srgbClr val="17243A"/>
                </a:solidFill>
                <a:latin typeface="Arial"/>
                <a:ea typeface="Arial"/>
                <a:cs typeface="Arial"/>
              </a:defRPr>
            </a:lvl3pPr>
            <a:lvl4pPr algn="l">
              <a:defRPr sz="1875" b="0">
                <a:solidFill>
                  <a:srgbClr val="17243A"/>
                </a:solidFill>
                <a:latin typeface="Arial"/>
                <a:ea typeface="Arial"/>
                <a:cs typeface="Arial"/>
              </a:defRPr>
            </a:lvl4pPr>
            <a:lvl5pPr algn="l">
              <a:defRPr sz="1875" b="0">
                <a:solidFill>
                  <a:srgbClr val="17243A"/>
                </a:solidFill>
                <a:latin typeface="Arial"/>
                <a:ea typeface="Arial"/>
                <a:cs typeface="Arial"/>
              </a:defRPr>
            </a:lvl5pPr>
            <a:lvl6pPr algn="l">
              <a:defRPr sz="1875" b="0">
                <a:solidFill>
                  <a:srgbClr val="17243A"/>
                </a:solidFill>
                <a:latin typeface="Arial"/>
                <a:ea typeface="Arial"/>
                <a:cs typeface="Arial"/>
              </a:defRPr>
            </a:lvl6pPr>
            <a:lvl7pPr algn="l">
              <a:defRPr sz="1875" b="0">
                <a:solidFill>
                  <a:srgbClr val="17243A"/>
                </a:solidFill>
                <a:latin typeface="Arial"/>
                <a:ea typeface="Arial"/>
                <a:cs typeface="Arial"/>
              </a:defRPr>
            </a:lvl7pPr>
            <a:lvl8pPr algn="l">
              <a:defRPr sz="1875" b="0">
                <a:solidFill>
                  <a:srgbClr val="17243A"/>
                </a:solidFill>
                <a:latin typeface="Arial"/>
                <a:ea typeface="Arial"/>
                <a:cs typeface="Arial"/>
              </a:defRPr>
            </a:lvl8pPr>
            <a:lvl9pPr algn="l">
              <a:defRPr sz="1875" b="0">
                <a:solidFill>
                  <a:srgbClr val="17243A"/>
                </a:solidFill>
                <a:latin typeface="Arial"/>
                <a:ea typeface="Arial"/>
                <a:cs typeface="Arial"/>
              </a:defRPr>
            </a:lvl9pPr>
          </a:lstStyle>
          <a:p>
            <a:pPr algn="l">
              <a:defRPr sz="1875" b="0">
                <a:solidFill>
                  <a:srgbClr val="17243A"/>
                </a:solidFill>
                <a:latin typeface="Arial"/>
                <a:ea typeface="Arial"/>
                <a:cs typeface="Arial"/>
              </a:defRPr>
            </a:pPr>
            <a:r>
              <a:rPr sz="1875" b="0">
                <a:solidFill>
                  <a:srgbClr val="17243A"/>
                </a:solidFill>
                <a:latin typeface="Arial"/>
                <a:ea typeface="Arial"/>
                <a:cs typeface="Arial"/>
              </a:rPr>
              <a:t>Unknown image type: clarify when classification remains ambiguous.</a:t>
            </a:r>
          </a:p>
        </p:txBody>
      </p:sp>
      <p:sp>
        <p:nvSpPr>
          <p:cNvPr id="15" name="Rectangle 14">
            <a:extLst>
              <a:ext uri="{FF2B5EF4-FFF2-40B4-BE49-F238E27FC236}">
                <a16:creationId xmlns:a16="http://schemas.microsoft.com/office/drawing/2014/main" id="{19445AEF-B386-4F45-A067-4994FD45CE2B}"/>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STATE UPDATE</a:t>
            </a:r>
          </a:p>
        </p:txBody>
      </p:sp>
      <p:sp>
        <p:nvSpPr>
          <p:cNvPr id="16" name="Rectangle 15">
            <a:extLst>
              <a:ext uri="{FF2B5EF4-FFF2-40B4-BE49-F238E27FC236}">
                <a16:creationId xmlns:a16="http://schemas.microsoft.com/office/drawing/2014/main" id="{43951B88-7BCD-4544-B486-C99FA8663870}"/>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information_needs[], artifact_refs[], missing_information[], uncertainty[]</a:t>
            </a:r>
          </a:p>
        </p:txBody>
      </p:sp>
      <p:sp>
        <p:nvSpPr>
          <p:cNvPr id="17" name="Rectangle: Rounded Corners 16">
            <a:extLst>
              <a:ext uri="{FF2B5EF4-FFF2-40B4-BE49-F238E27FC236}">
                <a16:creationId xmlns:a16="http://schemas.microsoft.com/office/drawing/2014/main" id="{729996D4-4D16-432A-B269-E8852558936A}"/>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8" name="Rectangle 17">
            <a:extLst>
              <a:ext uri="{FF2B5EF4-FFF2-40B4-BE49-F238E27FC236}">
                <a16:creationId xmlns:a16="http://schemas.microsoft.com/office/drawing/2014/main" id="{AF5A5656-B79A-4092-BD58-E0014452CBE2}"/>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9" name="Rectangle: Rounded Corners 18">
            <a:extLst>
              <a:ext uri="{FF2B5EF4-FFF2-40B4-BE49-F238E27FC236}">
                <a16:creationId xmlns:a16="http://schemas.microsoft.com/office/drawing/2014/main" id="{7065669D-476F-4527-898E-57FC71A261C2}"/>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0" name="Rectangle 19">
            <a:extLst>
              <a:ext uri="{FF2B5EF4-FFF2-40B4-BE49-F238E27FC236}">
                <a16:creationId xmlns:a16="http://schemas.microsoft.com/office/drawing/2014/main" id="{CA394A89-9308-4542-A668-F8A936B8EE58}"/>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1" name="Rectangle: Rounded Corners 20">
            <a:extLst>
              <a:ext uri="{FF2B5EF4-FFF2-40B4-BE49-F238E27FC236}">
                <a16:creationId xmlns:a16="http://schemas.microsoft.com/office/drawing/2014/main" id="{38071E6B-16CF-4D77-8D98-B22E0AAC2539}"/>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2" name="Rectangle 21">
            <a:extLst>
              <a:ext uri="{FF2B5EF4-FFF2-40B4-BE49-F238E27FC236}">
                <a16:creationId xmlns:a16="http://schemas.microsoft.com/office/drawing/2014/main" id="{CF4F0353-AB3D-4A70-87F3-DA6A335CBEDA}"/>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3" name="Rectangle: Rounded Corners 22">
            <a:extLst>
              <a:ext uri="{FF2B5EF4-FFF2-40B4-BE49-F238E27FC236}">
                <a16:creationId xmlns:a16="http://schemas.microsoft.com/office/drawing/2014/main" id="{A758A813-7E64-4BD0-9FFF-1AFDF7E0E7A7}"/>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4" name="Rectangle 23">
            <a:extLst>
              <a:ext uri="{FF2B5EF4-FFF2-40B4-BE49-F238E27FC236}">
                <a16:creationId xmlns:a16="http://schemas.microsoft.com/office/drawing/2014/main" id="{F9008D33-E77B-49DA-A519-05BF418A3483}"/>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5" name="Rectangle: Rounded Corners 24">
            <a:extLst>
              <a:ext uri="{FF2B5EF4-FFF2-40B4-BE49-F238E27FC236}">
                <a16:creationId xmlns:a16="http://schemas.microsoft.com/office/drawing/2014/main" id="{BC8ACE6D-C1A2-4858-88E3-6D9EBBA2A079}"/>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6" name="Rectangle 25">
            <a:extLst>
              <a:ext uri="{FF2B5EF4-FFF2-40B4-BE49-F238E27FC236}">
                <a16:creationId xmlns:a16="http://schemas.microsoft.com/office/drawing/2014/main" id="{35986BC7-E334-42CF-8B17-A05FC63131E0}"/>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7" name="Rectangle 26">
            <a:extLst>
              <a:ext uri="{FF2B5EF4-FFF2-40B4-BE49-F238E27FC236}">
                <a16:creationId xmlns:a16="http://schemas.microsoft.com/office/drawing/2014/main" id="{D59F0C8D-0F29-4518-A282-B3BA04B75AF5}"/>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05</a:t>
            </a:r>
          </a:p>
        </p:txBody>
      </p:sp>
    </p:spTree>
    <p:extLst>
      <p:ext uri="{BB962C8B-B14F-4D97-AF65-F5344CB8AC3E}">
        <p14:creationId xmlns:p14="http://schemas.microsoft.com/office/powerpoint/2010/main" val="6639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7" name="Connector: Elbow 16">
            <a:extLst>
              <a:ext uri="{FF2B5EF4-FFF2-40B4-BE49-F238E27FC236}">
                <a16:creationId xmlns:a16="http://schemas.microsoft.com/office/drawing/2014/main" id="{976C4B8C-A3FC-4F64-87BB-B8618E781241}"/>
              </a:ext>
            </a:extLst>
          </p:cNvPr>
          <p:cNvCxnSpPr>
            <a:stCxn id="8" idx="2"/>
            <a:endCxn id="9" idx="0"/>
          </p:cNvCxnSpPr>
          <p:nvPr/>
        </p:nvCxnSpPr>
        <p:spPr>
          <a:xfrm flipH="1">
            <a:off x="6096000" y="3857625"/>
            <a:ext cx="3143250" cy="714375"/>
          </a:xfrm>
          <a:prstGeom prst="bentConnector4">
            <a:avLst>
              <a:gd name="adj1" fmla="val 0"/>
              <a:gd name="adj2" fmla="val 50000"/>
            </a:avLst>
          </a:prstGeom>
          <a:ln w="16193">
            <a:solidFill>
              <a:srgbClr val="66758A"/>
            </a:solidFill>
            <a:prstDash val="solid"/>
            <a:tailEnd type="triangle" w="sm" len="sm"/>
          </a:ln>
        </p:spPr>
      </p:cxnSp>
      <p:cxnSp>
        <p:nvCxnSpPr>
          <p:cNvPr id="16" name="Straight Arrow Connector 15">
            <a:extLst>
              <a:ext uri="{FF2B5EF4-FFF2-40B4-BE49-F238E27FC236}">
                <a16:creationId xmlns:a16="http://schemas.microsoft.com/office/drawing/2014/main" id="{F1DF8C2D-3857-4EB0-BBC7-A8CFB65DA99F}"/>
              </a:ext>
            </a:extLst>
          </p:cNvPr>
          <p:cNvCxnSpPr>
            <a:stCxn id="7" idx="2"/>
            <a:endCxn id="9" idx="0"/>
          </p:cNvCxnSpPr>
          <p:nvPr/>
        </p:nvCxnSpPr>
        <p:spPr>
          <a:xfrm>
            <a:off x="6096000" y="3857625"/>
            <a:ext cx="0" cy="714375"/>
          </a:xfrm>
          <a:prstGeom prst="straightConnector1">
            <a:avLst/>
          </a:prstGeom>
          <a:ln w="16193">
            <a:solidFill>
              <a:srgbClr val="66758A"/>
            </a:solidFill>
            <a:prstDash val="solid"/>
            <a:tailEnd type="triangle" w="sm" len="sm"/>
          </a:ln>
        </p:spPr>
      </p:cxnSp>
      <p:cxnSp>
        <p:nvCxnSpPr>
          <p:cNvPr id="15" name="Connector: Elbow 14">
            <a:extLst>
              <a:ext uri="{FF2B5EF4-FFF2-40B4-BE49-F238E27FC236}">
                <a16:creationId xmlns:a16="http://schemas.microsoft.com/office/drawing/2014/main" id="{9F8D0D94-1097-477D-9ABA-AB1401C1CF78}"/>
              </a:ext>
            </a:extLst>
          </p:cNvPr>
          <p:cNvCxnSpPr>
            <a:stCxn id="6" idx="2"/>
            <a:endCxn id="9" idx="0"/>
          </p:cNvCxnSpPr>
          <p:nvPr/>
        </p:nvCxnSpPr>
        <p:spPr>
          <a:xfrm>
            <a:off x="2952750" y="3857625"/>
            <a:ext cx="3143250" cy="714375"/>
          </a:xfrm>
          <a:prstGeom prst="bentConnector4">
            <a:avLst>
              <a:gd name="adj1" fmla="val 0"/>
              <a:gd name="adj2" fmla="val 50000"/>
            </a:avLst>
          </a:prstGeom>
          <a:ln w="16193">
            <a:solidFill>
              <a:srgbClr val="66758A"/>
            </a:solidFill>
            <a:prstDash val="solid"/>
            <a:tailEnd type="triangle" w="sm" len="sm"/>
          </a:ln>
        </p:spPr>
      </p:cxnSp>
      <p:cxnSp>
        <p:nvCxnSpPr>
          <p:cNvPr id="14" name="Connector: Elbow 13">
            <a:extLst>
              <a:ext uri="{FF2B5EF4-FFF2-40B4-BE49-F238E27FC236}">
                <a16:creationId xmlns:a16="http://schemas.microsoft.com/office/drawing/2014/main" id="{3AEC7DD2-1604-4066-9B5E-3E18B1D44865}"/>
              </a:ext>
            </a:extLst>
          </p:cNvPr>
          <p:cNvCxnSpPr>
            <a:stCxn id="5" idx="2"/>
            <a:endCxn id="8" idx="0"/>
          </p:cNvCxnSpPr>
          <p:nvPr/>
        </p:nvCxnSpPr>
        <p:spPr>
          <a:xfrm>
            <a:off x="8334375" y="2333625"/>
            <a:ext cx="904875" cy="904875"/>
          </a:xfrm>
          <a:prstGeom prst="bentConnector4">
            <a:avLst>
              <a:gd name="adj1" fmla="val 0"/>
              <a:gd name="adj2" fmla="val 50000"/>
            </a:avLst>
          </a:prstGeom>
          <a:ln w="16193">
            <a:solidFill>
              <a:srgbClr val="66758A"/>
            </a:solidFill>
            <a:prstDash val="solid"/>
            <a:tailEnd type="triangle" w="sm" len="sm"/>
          </a:ln>
        </p:spPr>
      </p:cxnSp>
      <p:cxnSp>
        <p:nvCxnSpPr>
          <p:cNvPr id="13" name="Connector: Elbow 12">
            <a:extLst>
              <a:ext uri="{FF2B5EF4-FFF2-40B4-BE49-F238E27FC236}">
                <a16:creationId xmlns:a16="http://schemas.microsoft.com/office/drawing/2014/main" id="{C17358CC-544F-47D5-845B-C71B2A6A6ADC}"/>
              </a:ext>
            </a:extLst>
          </p:cNvPr>
          <p:cNvCxnSpPr>
            <a:stCxn id="5" idx="2"/>
            <a:endCxn id="7" idx="0"/>
          </p:cNvCxnSpPr>
          <p:nvPr/>
        </p:nvCxnSpPr>
        <p:spPr>
          <a:xfrm flipH="1">
            <a:off x="6096000" y="2333625"/>
            <a:ext cx="2238375" cy="904875"/>
          </a:xfrm>
          <a:prstGeom prst="bentConnector4">
            <a:avLst>
              <a:gd name="adj1" fmla="val 0"/>
              <a:gd name="adj2" fmla="val 50000"/>
            </a:avLst>
          </a:prstGeom>
          <a:ln w="16193">
            <a:solidFill>
              <a:srgbClr val="66758A"/>
            </a:solidFill>
            <a:prstDash val="solid"/>
            <a:tailEnd type="triangle" w="sm" len="sm"/>
          </a:ln>
        </p:spPr>
      </p:cxnSp>
      <p:cxnSp>
        <p:nvCxnSpPr>
          <p:cNvPr id="12" name="Connector: Elbow 11">
            <a:extLst>
              <a:ext uri="{FF2B5EF4-FFF2-40B4-BE49-F238E27FC236}">
                <a16:creationId xmlns:a16="http://schemas.microsoft.com/office/drawing/2014/main" id="{7D86FB80-55E7-4D0B-9AA8-B9E9438476D8}"/>
              </a:ext>
            </a:extLst>
          </p:cNvPr>
          <p:cNvCxnSpPr>
            <a:stCxn id="5" idx="2"/>
            <a:endCxn id="6" idx="0"/>
          </p:cNvCxnSpPr>
          <p:nvPr/>
        </p:nvCxnSpPr>
        <p:spPr>
          <a:xfrm flipH="1">
            <a:off x="2952750" y="2333625"/>
            <a:ext cx="5381625" cy="904875"/>
          </a:xfrm>
          <a:prstGeom prst="bentConnector4">
            <a:avLst>
              <a:gd name="adj1" fmla="val 0"/>
              <a:gd name="adj2" fmla="val 50000"/>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ADEC7C43-BD3C-4B77-AFDB-ADD1CFB35CDE}"/>
              </a:ext>
            </a:extLst>
          </p:cNvPr>
          <p:cNvCxnSpPr>
            <a:stCxn id="4" idx="3"/>
            <a:endCxn id="5" idx="1"/>
          </p:cNvCxnSpPr>
          <p:nvPr/>
        </p:nvCxnSpPr>
        <p:spPr>
          <a:xfrm>
            <a:off x="6096000" y="2000250"/>
            <a:ext cx="762000"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2A4E6749-7AC3-405D-8D79-B0B75C9BC7C8}"/>
              </a:ext>
            </a:extLst>
          </p:cNvPr>
          <p:cNvCxnSpPr>
            <a:stCxn id="3" idx="3"/>
            <a:endCxn id="4" idx="1"/>
          </p:cNvCxnSpPr>
          <p:nvPr/>
        </p:nvCxnSpPr>
        <p:spPr>
          <a:xfrm>
            <a:off x="2857500" y="2000250"/>
            <a:ext cx="571500" cy="0"/>
          </a:xfrm>
          <a:prstGeom prst="straightConnector1">
            <a:avLst/>
          </a:prstGeom>
          <a:ln w="16193">
            <a:solidFill>
              <a:srgbClr val="66758A"/>
            </a:solidFill>
            <a:prstDash val="solid"/>
            <a:tailEnd type="triangle" w="sm" len="sm"/>
          </a:ln>
        </p:spPr>
      </p:cxnSp>
      <p:sp>
        <p:nvSpPr>
          <p:cNvPr id="31" name="Rectangle 30">
            <a:extLst>
              <a:ext uri="{FF2B5EF4-FFF2-40B4-BE49-F238E27FC236}">
                <a16:creationId xmlns:a16="http://schemas.microsoft.com/office/drawing/2014/main" id="{D6DAC67D-1535-475E-A92B-CFB5DA47D4B8}"/>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02  Routing and orchestration</a:t>
            </a:r>
          </a:p>
        </p:txBody>
      </p:sp>
      <p:sp>
        <p:nvSpPr>
          <p:cNvPr id="2" name="Rectangle 1">
            <a:extLst>
              <a:ext uri="{FF2B5EF4-FFF2-40B4-BE49-F238E27FC236}">
                <a16:creationId xmlns:a16="http://schemas.microsoft.com/office/drawing/2014/main" id="{BB13C898-8743-41EA-9BBA-AC217FEC07C9}"/>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The model proposes assignments; runtime controls execution</a:t>
            </a:r>
          </a:p>
        </p:txBody>
      </p:sp>
      <p:sp>
        <p:nvSpPr>
          <p:cNvPr id="3" name="Rectangle: Rounded Corners 2">
            <a:extLst>
              <a:ext uri="{FF2B5EF4-FFF2-40B4-BE49-F238E27FC236}">
                <a16:creationId xmlns:a16="http://schemas.microsoft.com/office/drawing/2014/main" id="{DEA7C095-7630-465D-B396-473333C096F4}"/>
              </a:ext>
            </a:extLst>
          </p:cNvPr>
          <p:cNvSpPr>
            <a:spLocks noGrp="1"/>
          </p:cNvSpPr>
          <p:nvPr/>
        </p:nvSpPr>
        <p:spPr>
          <a:xfrm>
            <a:off x="571500" y="1666875"/>
            <a:ext cx="2286000" cy="666750"/>
          </a:xfrm>
          <a:prstGeom prst="roundRect">
            <a:avLst>
              <a:gd name="adj" fmla="val 14286"/>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Validated needs</a:t>
            </a:r>
          </a:p>
        </p:txBody>
      </p:sp>
      <p:sp>
        <p:nvSpPr>
          <p:cNvPr id="4" name="Rectangle: Rounded Corners 3">
            <a:extLst>
              <a:ext uri="{FF2B5EF4-FFF2-40B4-BE49-F238E27FC236}">
                <a16:creationId xmlns:a16="http://schemas.microsoft.com/office/drawing/2014/main" id="{69905923-8085-45EA-B709-95711EA13389}"/>
              </a:ext>
            </a:extLst>
          </p:cNvPr>
          <p:cNvSpPr>
            <a:spLocks noGrp="1"/>
          </p:cNvSpPr>
          <p:nvPr/>
        </p:nvSpPr>
        <p:spPr>
          <a:xfrm>
            <a:off x="3429000" y="1666875"/>
            <a:ext cx="2667000" cy="666750"/>
          </a:xfrm>
          <a:prstGeom prst="roundRect">
            <a:avLst>
              <a:gd name="adj" fmla="val 14286"/>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routing proposal</a:t>
            </a:r>
          </a:p>
        </p:txBody>
      </p:sp>
      <p:sp>
        <p:nvSpPr>
          <p:cNvPr id="5" name="Rectangle: Rounded Corners 4">
            <a:extLst>
              <a:ext uri="{FF2B5EF4-FFF2-40B4-BE49-F238E27FC236}">
                <a16:creationId xmlns:a16="http://schemas.microsoft.com/office/drawing/2014/main" id="{99ECA99E-32A1-4EFB-9622-CC9882F54A8A}"/>
              </a:ext>
            </a:extLst>
          </p:cNvPr>
          <p:cNvSpPr>
            <a:spLocks noGrp="1"/>
          </p:cNvSpPr>
          <p:nvPr/>
        </p:nvSpPr>
        <p:spPr>
          <a:xfrm>
            <a:off x="6858000" y="1666875"/>
            <a:ext cx="2952750" cy="666750"/>
          </a:xfrm>
          <a:prstGeom prst="roundRect">
            <a:avLst>
              <a:gd name="adj" fmla="val 14286"/>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Validate registry / IDs</a:t>
            </a:r>
          </a:p>
          <a:p>
            <a:pPr algn="ctr">
              <a:defRPr sz="1650" b="0">
                <a:solidFill>
                  <a:srgbClr val="17243A"/>
                </a:solidFill>
                <a:latin typeface="Arial"/>
                <a:ea typeface="Arial"/>
                <a:cs typeface="Arial"/>
              </a:defRPr>
            </a:pPr>
            <a:r>
              <a:rPr sz="1650" b="0">
                <a:solidFill>
                  <a:srgbClr val="17243A"/>
                </a:solidFill>
                <a:latin typeface="Arial"/>
                <a:ea typeface="Arial"/>
                <a:cs typeface="Arial"/>
              </a:rPr>
              <a:t>Permissions + budgets</a:t>
            </a:r>
          </a:p>
        </p:txBody>
      </p:sp>
      <p:sp>
        <p:nvSpPr>
          <p:cNvPr id="6" name="Rectangle: Rounded Corners 5">
            <a:extLst>
              <a:ext uri="{FF2B5EF4-FFF2-40B4-BE49-F238E27FC236}">
                <a16:creationId xmlns:a16="http://schemas.microsoft.com/office/drawing/2014/main" id="{15BBC6F9-F331-40B1-9058-272FA6A9FB66}"/>
              </a:ext>
            </a:extLst>
          </p:cNvPr>
          <p:cNvSpPr>
            <a:spLocks noGrp="1"/>
          </p:cNvSpPr>
          <p:nvPr/>
        </p:nvSpPr>
        <p:spPr>
          <a:xfrm>
            <a:off x="1809750" y="3238500"/>
            <a:ext cx="2286000" cy="619125"/>
          </a:xfrm>
          <a:prstGeom prst="roundRect">
            <a:avLst>
              <a:gd name="adj" fmla="val 15385"/>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Lab task</a:t>
            </a:r>
          </a:p>
        </p:txBody>
      </p:sp>
      <p:sp>
        <p:nvSpPr>
          <p:cNvPr id="7" name="Rectangle: Rounded Corners 6">
            <a:extLst>
              <a:ext uri="{FF2B5EF4-FFF2-40B4-BE49-F238E27FC236}">
                <a16:creationId xmlns:a16="http://schemas.microsoft.com/office/drawing/2014/main" id="{0CD5F609-0FE1-4740-B2A2-2DA17E739A2B}"/>
              </a:ext>
            </a:extLst>
          </p:cNvPr>
          <p:cNvSpPr>
            <a:spLocks noGrp="1"/>
          </p:cNvSpPr>
          <p:nvPr/>
        </p:nvSpPr>
        <p:spPr>
          <a:xfrm>
            <a:off x="4953000" y="3238500"/>
            <a:ext cx="2286000" cy="619125"/>
          </a:xfrm>
          <a:prstGeom prst="roundRect">
            <a:avLst>
              <a:gd name="adj" fmla="val 15385"/>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Radiology task</a:t>
            </a:r>
          </a:p>
        </p:txBody>
      </p:sp>
      <p:sp>
        <p:nvSpPr>
          <p:cNvPr id="8" name="Rectangle: Rounded Corners 7">
            <a:extLst>
              <a:ext uri="{FF2B5EF4-FFF2-40B4-BE49-F238E27FC236}">
                <a16:creationId xmlns:a16="http://schemas.microsoft.com/office/drawing/2014/main" id="{2649919A-E815-4277-8ECE-6C9F8D91CB3A}"/>
              </a:ext>
            </a:extLst>
          </p:cNvPr>
          <p:cNvSpPr>
            <a:spLocks noGrp="1"/>
          </p:cNvSpPr>
          <p:nvPr/>
        </p:nvSpPr>
        <p:spPr>
          <a:xfrm>
            <a:off x="8096250" y="3238500"/>
            <a:ext cx="2286000" cy="619125"/>
          </a:xfrm>
          <a:prstGeom prst="roundRect">
            <a:avLst>
              <a:gd name="adj" fmla="val 15385"/>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ECG task</a:t>
            </a:r>
          </a:p>
        </p:txBody>
      </p:sp>
      <p:sp>
        <p:nvSpPr>
          <p:cNvPr id="9" name="Rectangle: Rounded Corners 8">
            <a:extLst>
              <a:ext uri="{FF2B5EF4-FFF2-40B4-BE49-F238E27FC236}">
                <a16:creationId xmlns:a16="http://schemas.microsoft.com/office/drawing/2014/main" id="{38146270-5B45-4C1C-AC77-C33D4CFCF184}"/>
              </a:ext>
            </a:extLst>
          </p:cNvPr>
          <p:cNvSpPr>
            <a:spLocks noGrp="1"/>
          </p:cNvSpPr>
          <p:nvPr/>
        </p:nvSpPr>
        <p:spPr>
          <a:xfrm>
            <a:off x="3619500" y="4572000"/>
            <a:ext cx="4953000" cy="619125"/>
          </a:xfrm>
          <a:prstGeom prst="roundRect">
            <a:avLst>
              <a:gd name="adj" fmla="val 15385"/>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Gather completed / partial / failed results</a:t>
            </a:r>
          </a:p>
        </p:txBody>
      </p:sp>
      <p:sp>
        <p:nvSpPr>
          <p:cNvPr id="18" name="Rectangle 17">
            <a:extLst>
              <a:ext uri="{FF2B5EF4-FFF2-40B4-BE49-F238E27FC236}">
                <a16:creationId xmlns:a16="http://schemas.microsoft.com/office/drawing/2014/main" id="{B3C08EF4-C953-4039-B42D-63EDAA2EEBC8}"/>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EDGES</a:t>
            </a:r>
          </a:p>
        </p:txBody>
      </p:sp>
      <p:sp>
        <p:nvSpPr>
          <p:cNvPr id="19" name="Rectangle 18">
            <a:extLst>
              <a:ext uri="{FF2B5EF4-FFF2-40B4-BE49-F238E27FC236}">
                <a16:creationId xmlns:a16="http://schemas.microsoft.com/office/drawing/2014/main" id="{1AB31FE6-9E08-4593-9823-FC3B7F4F2AC4}"/>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Conditional dispatch, parallel fan-out, bounded gather, review gate</a:t>
            </a:r>
          </a:p>
        </p:txBody>
      </p:sp>
      <p:sp>
        <p:nvSpPr>
          <p:cNvPr id="20" name="Rectangle: Rounded Corners 19">
            <a:extLst>
              <a:ext uri="{FF2B5EF4-FFF2-40B4-BE49-F238E27FC236}">
                <a16:creationId xmlns:a16="http://schemas.microsoft.com/office/drawing/2014/main" id="{AC5A4355-3187-4C20-8771-11811285E665}"/>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21" name="Rectangle 20">
            <a:extLst>
              <a:ext uri="{FF2B5EF4-FFF2-40B4-BE49-F238E27FC236}">
                <a16:creationId xmlns:a16="http://schemas.microsoft.com/office/drawing/2014/main" id="{C0C00DCF-3827-4255-92E3-C8B4E55B3F24}"/>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2" name="Rectangle: Rounded Corners 21">
            <a:extLst>
              <a:ext uri="{FF2B5EF4-FFF2-40B4-BE49-F238E27FC236}">
                <a16:creationId xmlns:a16="http://schemas.microsoft.com/office/drawing/2014/main" id="{26205EA4-1623-4F65-92C4-B6136B82D347}"/>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3" name="Rectangle 22">
            <a:extLst>
              <a:ext uri="{FF2B5EF4-FFF2-40B4-BE49-F238E27FC236}">
                <a16:creationId xmlns:a16="http://schemas.microsoft.com/office/drawing/2014/main" id="{1EBFE847-6C67-46BA-B929-173E8A2F7AFE}"/>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4" name="Rectangle: Rounded Corners 23">
            <a:extLst>
              <a:ext uri="{FF2B5EF4-FFF2-40B4-BE49-F238E27FC236}">
                <a16:creationId xmlns:a16="http://schemas.microsoft.com/office/drawing/2014/main" id="{AD57294E-D0CC-4ACD-A046-CCA34C31E36D}"/>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5" name="Rectangle 24">
            <a:extLst>
              <a:ext uri="{FF2B5EF4-FFF2-40B4-BE49-F238E27FC236}">
                <a16:creationId xmlns:a16="http://schemas.microsoft.com/office/drawing/2014/main" id="{E81C98B6-F7E3-4079-9254-48C116B3551A}"/>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6" name="Rectangle: Rounded Corners 25">
            <a:extLst>
              <a:ext uri="{FF2B5EF4-FFF2-40B4-BE49-F238E27FC236}">
                <a16:creationId xmlns:a16="http://schemas.microsoft.com/office/drawing/2014/main" id="{570482C7-4472-4195-AF0B-03F7F00F546D}"/>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7" name="Rectangle 26">
            <a:extLst>
              <a:ext uri="{FF2B5EF4-FFF2-40B4-BE49-F238E27FC236}">
                <a16:creationId xmlns:a16="http://schemas.microsoft.com/office/drawing/2014/main" id="{227B1C4D-26A8-4FB1-A8CC-8268A4739674}"/>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8" name="Rectangle: Rounded Corners 27">
            <a:extLst>
              <a:ext uri="{FF2B5EF4-FFF2-40B4-BE49-F238E27FC236}">
                <a16:creationId xmlns:a16="http://schemas.microsoft.com/office/drawing/2014/main" id="{211270F0-B627-4699-B65D-9DC7C3F804F2}"/>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9" name="Rectangle 28">
            <a:extLst>
              <a:ext uri="{FF2B5EF4-FFF2-40B4-BE49-F238E27FC236}">
                <a16:creationId xmlns:a16="http://schemas.microsoft.com/office/drawing/2014/main" id="{BD15DFE1-1F1E-431A-A65E-479A95230317}"/>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30" name="Rectangle 29">
            <a:extLst>
              <a:ext uri="{FF2B5EF4-FFF2-40B4-BE49-F238E27FC236}">
                <a16:creationId xmlns:a16="http://schemas.microsoft.com/office/drawing/2014/main" id="{480B6A63-1AD3-4824-8D74-9C7FC8675959}"/>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06</a:t>
            </a:r>
          </a:p>
        </p:txBody>
      </p:sp>
    </p:spTree>
    <p:extLst>
      <p:ext uri="{BB962C8B-B14F-4D97-AF65-F5344CB8AC3E}">
        <p14:creationId xmlns:p14="http://schemas.microsoft.com/office/powerpoint/2010/main" val="92060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8DFF6314-545C-4525-9720-5E4ED353810F}"/>
              </a:ext>
            </a:extLst>
          </p:cNvPr>
          <p:cNvCxnSpPr>
            <a:stCxn id="6" idx="3"/>
            <a:endCxn id="7" idx="1"/>
          </p:cNvCxnSpPr>
          <p:nvPr/>
        </p:nvCxnSpPr>
        <p:spPr>
          <a:xfrm>
            <a:off x="8096250" y="3095625"/>
            <a:ext cx="952500" cy="0"/>
          </a:xfrm>
          <a:prstGeom prst="straightConnector1">
            <a:avLst/>
          </a:prstGeom>
          <a:ln w="16193">
            <a:solidFill>
              <a:srgbClr val="66758A"/>
            </a:solidFill>
            <a:prstDash val="solid"/>
            <a:tailEnd type="triangle" w="sm" len="sm"/>
          </a:ln>
        </p:spPr>
      </p:cxnSp>
      <p:cxnSp>
        <p:nvCxnSpPr>
          <p:cNvPr id="10" name="Connector: Elbow 9">
            <a:extLst>
              <a:ext uri="{FF2B5EF4-FFF2-40B4-BE49-F238E27FC236}">
                <a16:creationId xmlns:a16="http://schemas.microsoft.com/office/drawing/2014/main" id="{E38D9ADE-55C1-4065-A24C-C993493DD217}"/>
              </a:ext>
            </a:extLst>
          </p:cNvPr>
          <p:cNvCxnSpPr>
            <a:stCxn id="5" idx="3"/>
            <a:endCxn id="6" idx="1"/>
          </p:cNvCxnSpPr>
          <p:nvPr/>
        </p:nvCxnSpPr>
        <p:spPr>
          <a:xfrm flipV="1">
            <a:off x="2714625" y="3095625"/>
            <a:ext cx="904875" cy="914400"/>
          </a:xfrm>
          <a:prstGeom prst="bentConnector3">
            <a:avLst>
              <a:gd name="adj1" fmla="val 50000"/>
            </a:avLst>
          </a:prstGeom>
          <a:ln w="16193">
            <a:solidFill>
              <a:srgbClr val="66758A"/>
            </a:solidFill>
            <a:prstDash val="solid"/>
            <a:tailEnd type="triangle" w="sm" len="sm"/>
          </a:ln>
        </p:spPr>
      </p:cxnSp>
      <p:cxnSp>
        <p:nvCxnSpPr>
          <p:cNvPr id="9" name="Connector: Elbow 8">
            <a:extLst>
              <a:ext uri="{FF2B5EF4-FFF2-40B4-BE49-F238E27FC236}">
                <a16:creationId xmlns:a16="http://schemas.microsoft.com/office/drawing/2014/main" id="{743E7D86-BFC8-4281-B438-54EB759E2B41}"/>
              </a:ext>
            </a:extLst>
          </p:cNvPr>
          <p:cNvCxnSpPr>
            <a:stCxn id="4" idx="3"/>
            <a:endCxn id="6" idx="1"/>
          </p:cNvCxnSpPr>
          <p:nvPr/>
        </p:nvCxnSpPr>
        <p:spPr>
          <a:xfrm>
            <a:off x="2714625" y="3009900"/>
            <a:ext cx="904875" cy="85725"/>
          </a:xfrm>
          <a:prstGeom prst="bentConnector3">
            <a:avLst>
              <a:gd name="adj1" fmla="val 50000"/>
            </a:avLst>
          </a:prstGeom>
          <a:ln w="16193">
            <a:solidFill>
              <a:srgbClr val="66758A"/>
            </a:solidFill>
            <a:prstDash val="solid"/>
            <a:tailEnd type="triangle" w="sm" len="sm"/>
          </a:ln>
        </p:spPr>
      </p:cxnSp>
      <p:cxnSp>
        <p:nvCxnSpPr>
          <p:cNvPr id="8" name="Connector: Elbow 7">
            <a:extLst>
              <a:ext uri="{FF2B5EF4-FFF2-40B4-BE49-F238E27FC236}">
                <a16:creationId xmlns:a16="http://schemas.microsoft.com/office/drawing/2014/main" id="{96180808-6845-46B5-8BB2-D5EE152E1A8C}"/>
              </a:ext>
            </a:extLst>
          </p:cNvPr>
          <p:cNvCxnSpPr>
            <a:stCxn id="3" idx="3"/>
            <a:endCxn id="6" idx="1"/>
          </p:cNvCxnSpPr>
          <p:nvPr/>
        </p:nvCxnSpPr>
        <p:spPr>
          <a:xfrm>
            <a:off x="2714625" y="2009775"/>
            <a:ext cx="904875" cy="1085850"/>
          </a:xfrm>
          <a:prstGeom prst="bentConnector3">
            <a:avLst>
              <a:gd name="adj1" fmla="val 50000"/>
            </a:avLst>
          </a:prstGeom>
          <a:ln w="16193">
            <a:solidFill>
              <a:srgbClr val="66758A"/>
            </a:solidFill>
            <a:prstDash val="solid"/>
            <a:tailEnd type="triangle" w="sm" len="sm"/>
          </a:ln>
        </p:spPr>
      </p:cxnSp>
      <p:sp>
        <p:nvSpPr>
          <p:cNvPr id="29" name="Rectangle 28">
            <a:extLst>
              <a:ext uri="{FF2B5EF4-FFF2-40B4-BE49-F238E27FC236}">
                <a16:creationId xmlns:a16="http://schemas.microsoft.com/office/drawing/2014/main" id="{3A0A9B66-D867-42F6-B0F6-98C380F0994B}"/>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LangGraph shared state and reducers</a:t>
            </a:r>
          </a:p>
        </p:txBody>
      </p:sp>
      <p:sp>
        <p:nvSpPr>
          <p:cNvPr id="2" name="Rectangle 1">
            <a:extLst>
              <a:ext uri="{FF2B5EF4-FFF2-40B4-BE49-F238E27FC236}">
                <a16:creationId xmlns:a16="http://schemas.microsoft.com/office/drawing/2014/main" id="{E7F76895-7B46-4C79-B242-819D34BC0631}"/>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Parallel workers contribute immutable records; control fields have one writer</a:t>
            </a:r>
          </a:p>
        </p:txBody>
      </p:sp>
      <p:sp>
        <p:nvSpPr>
          <p:cNvPr id="3" name="Rectangle: Rounded Corners 2">
            <a:extLst>
              <a:ext uri="{FF2B5EF4-FFF2-40B4-BE49-F238E27FC236}">
                <a16:creationId xmlns:a16="http://schemas.microsoft.com/office/drawing/2014/main" id="{5EFC8571-5674-4855-98B5-E86BC71F5C50}"/>
              </a:ext>
            </a:extLst>
          </p:cNvPr>
          <p:cNvSpPr>
            <a:spLocks noGrp="1"/>
          </p:cNvSpPr>
          <p:nvPr/>
        </p:nvSpPr>
        <p:spPr>
          <a:xfrm>
            <a:off x="619125" y="1714500"/>
            <a:ext cx="2095500" cy="590550"/>
          </a:xfrm>
          <a:prstGeom prst="roundRect">
            <a:avLst>
              <a:gd name="adj" fmla="val 16129"/>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Lab delta</a:t>
            </a:r>
          </a:p>
        </p:txBody>
      </p:sp>
      <p:sp>
        <p:nvSpPr>
          <p:cNvPr id="4" name="Rectangle: Rounded Corners 3">
            <a:extLst>
              <a:ext uri="{FF2B5EF4-FFF2-40B4-BE49-F238E27FC236}">
                <a16:creationId xmlns:a16="http://schemas.microsoft.com/office/drawing/2014/main" id="{E2BF9C3C-D01B-4035-BC88-414389DF6B6A}"/>
              </a:ext>
            </a:extLst>
          </p:cNvPr>
          <p:cNvSpPr>
            <a:spLocks noGrp="1"/>
          </p:cNvSpPr>
          <p:nvPr/>
        </p:nvSpPr>
        <p:spPr>
          <a:xfrm>
            <a:off x="619125" y="2714625"/>
            <a:ext cx="2095500" cy="590550"/>
          </a:xfrm>
          <a:prstGeom prst="roundRect">
            <a:avLst>
              <a:gd name="adj" fmla="val 16129"/>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Radiology delta</a:t>
            </a:r>
          </a:p>
        </p:txBody>
      </p:sp>
      <p:sp>
        <p:nvSpPr>
          <p:cNvPr id="5" name="Rectangle: Rounded Corners 4">
            <a:extLst>
              <a:ext uri="{FF2B5EF4-FFF2-40B4-BE49-F238E27FC236}">
                <a16:creationId xmlns:a16="http://schemas.microsoft.com/office/drawing/2014/main" id="{49621BED-AB08-4001-A4B0-4287B46D0748}"/>
              </a:ext>
            </a:extLst>
          </p:cNvPr>
          <p:cNvSpPr>
            <a:spLocks noGrp="1"/>
          </p:cNvSpPr>
          <p:nvPr/>
        </p:nvSpPr>
        <p:spPr>
          <a:xfrm>
            <a:off x="619125" y="3714750"/>
            <a:ext cx="2095500" cy="590550"/>
          </a:xfrm>
          <a:prstGeom prst="roundRect">
            <a:avLst>
              <a:gd name="adj" fmla="val 16129"/>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ECG delta</a:t>
            </a:r>
          </a:p>
        </p:txBody>
      </p:sp>
      <p:sp>
        <p:nvSpPr>
          <p:cNvPr id="6" name="Rectangle: Rounded Corners 5">
            <a:extLst>
              <a:ext uri="{FF2B5EF4-FFF2-40B4-BE49-F238E27FC236}">
                <a16:creationId xmlns:a16="http://schemas.microsoft.com/office/drawing/2014/main" id="{489F43ED-9726-45D8-8FC9-850DF859D72D}"/>
              </a:ext>
            </a:extLst>
          </p:cNvPr>
          <p:cNvSpPr>
            <a:spLocks noGrp="1"/>
          </p:cNvSpPr>
          <p:nvPr/>
        </p:nvSpPr>
        <p:spPr>
          <a:xfrm>
            <a:off x="3619500" y="2619375"/>
            <a:ext cx="4476750" cy="952500"/>
          </a:xfrm>
          <a:prstGeom prst="roundRect">
            <a:avLst>
              <a:gd name="adj" fmla="val 10000"/>
            </a:avLst>
          </a:prstGeom>
          <a:solidFill>
            <a:srgbClr val="EAF1FB"/>
          </a:solidFill>
          <a:ln w="14288">
            <a:solidFill>
              <a:srgbClr val="6D91C9"/>
            </a:solidFill>
          </a:ln>
        </p:spPr>
        <p:txBody>
          <a:bodyPr wrap="square" lIns="95250" tIns="95250" rIns="95250" bIns="95250" anchor="ctr">
            <a:noAutofit/>
          </a:bodyPr>
          <a:lstStyle>
            <a:defPPr algn="ctr">
              <a:defRPr sz="1875" b="0">
                <a:solidFill>
                  <a:srgbClr val="17243A"/>
                </a:solidFill>
                <a:latin typeface="Arial"/>
                <a:ea typeface="Arial"/>
                <a:cs typeface="Arial"/>
              </a:defRPr>
            </a:defPPr>
            <a:lvl1pPr algn="ctr">
              <a:defRPr sz="1875" b="0">
                <a:solidFill>
                  <a:srgbClr val="17243A"/>
                </a:solidFill>
                <a:latin typeface="Arial"/>
                <a:ea typeface="Arial"/>
                <a:cs typeface="Arial"/>
              </a:defRPr>
            </a:lvl1pPr>
            <a:lvl2pPr algn="ctr">
              <a:defRPr sz="1875" b="0">
                <a:solidFill>
                  <a:srgbClr val="17243A"/>
                </a:solidFill>
                <a:latin typeface="Arial"/>
                <a:ea typeface="Arial"/>
                <a:cs typeface="Arial"/>
              </a:defRPr>
            </a:lvl2pPr>
            <a:lvl3pPr algn="ctr">
              <a:defRPr sz="1875" b="0">
                <a:solidFill>
                  <a:srgbClr val="17243A"/>
                </a:solidFill>
                <a:latin typeface="Arial"/>
                <a:ea typeface="Arial"/>
                <a:cs typeface="Arial"/>
              </a:defRPr>
            </a:lvl3pPr>
            <a:lvl4pPr algn="ctr">
              <a:defRPr sz="1875" b="0">
                <a:solidFill>
                  <a:srgbClr val="17243A"/>
                </a:solidFill>
                <a:latin typeface="Arial"/>
                <a:ea typeface="Arial"/>
                <a:cs typeface="Arial"/>
              </a:defRPr>
            </a:lvl4pPr>
            <a:lvl5pPr algn="ctr">
              <a:defRPr sz="1875" b="0">
                <a:solidFill>
                  <a:srgbClr val="17243A"/>
                </a:solidFill>
                <a:latin typeface="Arial"/>
                <a:ea typeface="Arial"/>
                <a:cs typeface="Arial"/>
              </a:defRPr>
            </a:lvl5pPr>
            <a:lvl6pPr algn="ctr">
              <a:defRPr sz="1875" b="0">
                <a:solidFill>
                  <a:srgbClr val="17243A"/>
                </a:solidFill>
                <a:latin typeface="Arial"/>
                <a:ea typeface="Arial"/>
                <a:cs typeface="Arial"/>
              </a:defRPr>
            </a:lvl6pPr>
            <a:lvl7pPr algn="ctr">
              <a:defRPr sz="1875" b="0">
                <a:solidFill>
                  <a:srgbClr val="17243A"/>
                </a:solidFill>
                <a:latin typeface="Arial"/>
                <a:ea typeface="Arial"/>
                <a:cs typeface="Arial"/>
              </a:defRPr>
            </a:lvl7pPr>
            <a:lvl8pPr algn="ctr">
              <a:defRPr sz="1875" b="0">
                <a:solidFill>
                  <a:srgbClr val="17243A"/>
                </a:solidFill>
                <a:latin typeface="Arial"/>
                <a:ea typeface="Arial"/>
                <a:cs typeface="Arial"/>
              </a:defRPr>
            </a:lvl8pPr>
            <a:lvl9pPr algn="ctr">
              <a:defRPr sz="1875" b="0">
                <a:solidFill>
                  <a:srgbClr val="17243A"/>
                </a:solidFill>
                <a:latin typeface="Arial"/>
                <a:ea typeface="Arial"/>
                <a:cs typeface="Arial"/>
              </a:defRPr>
            </a:lvl9pPr>
          </a:lstStyle>
          <a:p>
            <a:pPr algn="ctr">
              <a:defRPr sz="1875" b="0">
                <a:solidFill>
                  <a:srgbClr val="17243A"/>
                </a:solidFill>
                <a:latin typeface="Arial"/>
                <a:ea typeface="Arial"/>
                <a:cs typeface="Arial"/>
              </a:defRPr>
            </a:pPr>
            <a:r>
              <a:rPr sz="1875" b="0">
                <a:solidFill>
                  <a:srgbClr val="17243A"/>
                </a:solidFill>
                <a:latin typeface="Arial"/>
                <a:ea typeface="Arial"/>
                <a:cs typeface="Arial"/>
              </a:rPr>
              <a:t>Annotated[..., merge_records]</a:t>
            </a:r>
          </a:p>
          <a:p>
            <a:pPr algn="ctr">
              <a:defRPr sz="1875" b="0">
                <a:solidFill>
                  <a:srgbClr val="17243A"/>
                </a:solidFill>
                <a:latin typeface="Arial"/>
                <a:ea typeface="Arial"/>
                <a:cs typeface="Arial"/>
              </a:defRPr>
            </a:pPr>
            <a:r>
              <a:rPr sz="1875" b="0">
                <a:solidFill>
                  <a:srgbClr val="17243A"/>
                </a:solidFill>
                <a:latin typeface="Arial"/>
                <a:ea typeface="Arial"/>
                <a:cs typeface="Arial"/>
              </a:rPr>
              <a:t>Merge by task / version ID</a:t>
            </a:r>
          </a:p>
        </p:txBody>
      </p:sp>
      <p:sp>
        <p:nvSpPr>
          <p:cNvPr id="7" name="Rectangle: Rounded Corners 6">
            <a:extLst>
              <a:ext uri="{FF2B5EF4-FFF2-40B4-BE49-F238E27FC236}">
                <a16:creationId xmlns:a16="http://schemas.microsoft.com/office/drawing/2014/main" id="{F1D5CC7D-F74E-44F2-B16C-D034AEB85D95}"/>
              </a:ext>
            </a:extLst>
          </p:cNvPr>
          <p:cNvSpPr>
            <a:spLocks noGrp="1"/>
          </p:cNvSpPr>
          <p:nvPr/>
        </p:nvSpPr>
        <p:spPr>
          <a:xfrm>
            <a:off x="9048750" y="2619375"/>
            <a:ext cx="2571750" cy="952500"/>
          </a:xfrm>
          <a:prstGeom prst="roundRect">
            <a:avLst>
              <a:gd name="adj" fmla="val 10000"/>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Evidence state</a:t>
            </a:r>
          </a:p>
          <a:p>
            <a:pPr algn="ctr">
              <a:defRPr sz="1650" b="0">
                <a:solidFill>
                  <a:srgbClr val="17243A"/>
                </a:solidFill>
                <a:latin typeface="Arial"/>
                <a:ea typeface="Arial"/>
                <a:cs typeface="Arial"/>
              </a:defRPr>
            </a:pPr>
            <a:r>
              <a:rPr sz="1650" b="0">
                <a:solidFill>
                  <a:srgbClr val="17243A"/>
                </a:solidFill>
                <a:latin typeface="Arial"/>
                <a:ea typeface="Arial"/>
                <a:cs typeface="Arial"/>
              </a:rPr>
              <a:t>All three results retained</a:t>
            </a:r>
          </a:p>
        </p:txBody>
      </p:sp>
      <p:sp>
        <p:nvSpPr>
          <p:cNvPr id="12" name="Rectangle 11">
            <a:extLst>
              <a:ext uri="{FF2B5EF4-FFF2-40B4-BE49-F238E27FC236}">
                <a16:creationId xmlns:a16="http://schemas.microsoft.com/office/drawing/2014/main" id="{ABD88E6A-1FB7-4824-9156-36BCBEB9FCF3}"/>
              </a:ext>
            </a:extLst>
          </p:cNvPr>
          <p:cNvSpPr>
            <a:spLocks noGrp="1"/>
          </p:cNvSpPr>
          <p:nvPr/>
        </p:nvSpPr>
        <p:spPr>
          <a:xfrm>
            <a:off x="3619500" y="4095750"/>
            <a:ext cx="2857500" cy="285750"/>
          </a:xfrm>
          <a:prstGeom prst="rect">
            <a:avLst/>
          </a:prstGeom>
          <a:noFill/>
          <a:ln w="0">
            <a:noFill/>
          </a:ln>
        </p:spPr>
        <p:txBody>
          <a:bodyPr wrap="square" lIns="0" tIns="0" rIns="0" bIns="0" anchor="ctr">
            <a:noAutofit/>
          </a:bodyPr>
          <a:lstStyle>
            <a:defPPr algn="l">
              <a:defRPr sz="1350" b="1">
                <a:solidFill>
                  <a:srgbClr val="53647B"/>
                </a:solidFill>
                <a:latin typeface="Arial"/>
                <a:ea typeface="Arial"/>
                <a:cs typeface="Arial"/>
              </a:defRPr>
            </a:defPPr>
            <a:lvl1pPr algn="l">
              <a:defRPr sz="1350" b="1">
                <a:solidFill>
                  <a:srgbClr val="53647B"/>
                </a:solidFill>
                <a:latin typeface="Arial"/>
                <a:ea typeface="Arial"/>
                <a:cs typeface="Arial"/>
              </a:defRPr>
            </a:lvl1pPr>
            <a:lvl2pPr algn="l">
              <a:defRPr sz="1350" b="1">
                <a:solidFill>
                  <a:srgbClr val="53647B"/>
                </a:solidFill>
                <a:latin typeface="Arial"/>
                <a:ea typeface="Arial"/>
                <a:cs typeface="Arial"/>
              </a:defRPr>
            </a:lvl2pPr>
            <a:lvl3pPr algn="l">
              <a:defRPr sz="1350" b="1">
                <a:solidFill>
                  <a:srgbClr val="53647B"/>
                </a:solidFill>
                <a:latin typeface="Arial"/>
                <a:ea typeface="Arial"/>
                <a:cs typeface="Arial"/>
              </a:defRPr>
            </a:lvl3pPr>
            <a:lvl4pPr algn="l">
              <a:defRPr sz="1350" b="1">
                <a:solidFill>
                  <a:srgbClr val="53647B"/>
                </a:solidFill>
                <a:latin typeface="Arial"/>
                <a:ea typeface="Arial"/>
                <a:cs typeface="Arial"/>
              </a:defRPr>
            </a:lvl4pPr>
            <a:lvl5pPr algn="l">
              <a:defRPr sz="1350" b="1">
                <a:solidFill>
                  <a:srgbClr val="53647B"/>
                </a:solidFill>
                <a:latin typeface="Arial"/>
                <a:ea typeface="Arial"/>
                <a:cs typeface="Arial"/>
              </a:defRPr>
            </a:lvl5pPr>
            <a:lvl6pPr algn="l">
              <a:defRPr sz="1350" b="1">
                <a:solidFill>
                  <a:srgbClr val="53647B"/>
                </a:solidFill>
                <a:latin typeface="Arial"/>
                <a:ea typeface="Arial"/>
                <a:cs typeface="Arial"/>
              </a:defRPr>
            </a:lvl6pPr>
            <a:lvl7pPr algn="l">
              <a:defRPr sz="1350" b="1">
                <a:solidFill>
                  <a:srgbClr val="53647B"/>
                </a:solidFill>
                <a:latin typeface="Arial"/>
                <a:ea typeface="Arial"/>
                <a:cs typeface="Arial"/>
              </a:defRPr>
            </a:lvl7pPr>
            <a:lvl8pPr algn="l">
              <a:defRPr sz="1350" b="1">
                <a:solidFill>
                  <a:srgbClr val="53647B"/>
                </a:solidFill>
                <a:latin typeface="Arial"/>
                <a:ea typeface="Arial"/>
                <a:cs typeface="Arial"/>
              </a:defRPr>
            </a:lvl8pPr>
            <a:lvl9pPr algn="l">
              <a:defRPr sz="1350" b="1">
                <a:solidFill>
                  <a:srgbClr val="53647B"/>
                </a:solidFill>
                <a:latin typeface="Arial"/>
                <a:ea typeface="Arial"/>
                <a:cs typeface="Arial"/>
              </a:defRPr>
            </a:lvl9pPr>
          </a:lstStyle>
          <a:p>
            <a:pPr algn="l">
              <a:defRPr sz="1350" b="1">
                <a:solidFill>
                  <a:srgbClr val="53647B"/>
                </a:solidFill>
                <a:latin typeface="Arial"/>
                <a:ea typeface="Arial"/>
                <a:cs typeface="Arial"/>
              </a:defRPr>
            </a:pPr>
            <a:r>
              <a:rPr sz="1350" b="1">
                <a:solidFill>
                  <a:srgbClr val="53647B"/>
                </a:solidFill>
                <a:latin typeface="Arial"/>
                <a:ea typeface="Arial"/>
                <a:cs typeface="Arial"/>
              </a:rPr>
              <a:t>MERGED FIELDS</a:t>
            </a:r>
          </a:p>
        </p:txBody>
      </p:sp>
      <p:sp>
        <p:nvSpPr>
          <p:cNvPr id="13" name="Rectangle 12">
            <a:extLst>
              <a:ext uri="{FF2B5EF4-FFF2-40B4-BE49-F238E27FC236}">
                <a16:creationId xmlns:a16="http://schemas.microsoft.com/office/drawing/2014/main" id="{8A743093-369A-427B-A87C-014332EDB370}"/>
              </a:ext>
            </a:extLst>
          </p:cNvPr>
          <p:cNvSpPr>
            <a:spLocks noGrp="1"/>
          </p:cNvSpPr>
          <p:nvPr/>
        </p:nvSpPr>
        <p:spPr>
          <a:xfrm>
            <a:off x="3619500" y="4457700"/>
            <a:ext cx="4286250" cy="952500"/>
          </a:xfrm>
          <a:prstGeom prst="rect">
            <a:avLst/>
          </a:prstGeom>
          <a:noFill/>
          <a:ln w="0">
            <a:noFill/>
          </a:ln>
        </p:spPr>
        <p:txBody>
          <a:bodyPr wrap="square" lIns="0" tIns="0" rIns="0" bIns="0" anchor="ctr">
            <a:noAutofit/>
          </a:bodyPr>
          <a:lstStyle>
            <a:defPPr algn="l">
              <a:defRPr sz="1800" b="0">
                <a:solidFill>
                  <a:srgbClr val="17243A"/>
                </a:solidFill>
                <a:latin typeface="Arial"/>
                <a:ea typeface="Arial"/>
                <a:cs typeface="Arial"/>
              </a:defRPr>
            </a:defPPr>
            <a:lvl1pPr algn="l">
              <a:defRPr sz="1800" b="0">
                <a:solidFill>
                  <a:srgbClr val="17243A"/>
                </a:solidFill>
                <a:latin typeface="Arial"/>
                <a:ea typeface="Arial"/>
                <a:cs typeface="Arial"/>
              </a:defRPr>
            </a:lvl1pPr>
            <a:lvl2pPr algn="l">
              <a:defRPr sz="1800" b="0">
                <a:solidFill>
                  <a:srgbClr val="17243A"/>
                </a:solidFill>
                <a:latin typeface="Arial"/>
                <a:ea typeface="Arial"/>
                <a:cs typeface="Arial"/>
              </a:defRPr>
            </a:lvl2pPr>
            <a:lvl3pPr algn="l">
              <a:defRPr sz="1800" b="0">
                <a:solidFill>
                  <a:srgbClr val="17243A"/>
                </a:solidFill>
                <a:latin typeface="Arial"/>
                <a:ea typeface="Arial"/>
                <a:cs typeface="Arial"/>
              </a:defRPr>
            </a:lvl3pPr>
            <a:lvl4pPr algn="l">
              <a:defRPr sz="1800" b="0">
                <a:solidFill>
                  <a:srgbClr val="17243A"/>
                </a:solidFill>
                <a:latin typeface="Arial"/>
                <a:ea typeface="Arial"/>
                <a:cs typeface="Arial"/>
              </a:defRPr>
            </a:lvl4pPr>
            <a:lvl5pPr algn="l">
              <a:defRPr sz="1800" b="0">
                <a:solidFill>
                  <a:srgbClr val="17243A"/>
                </a:solidFill>
                <a:latin typeface="Arial"/>
                <a:ea typeface="Arial"/>
                <a:cs typeface="Arial"/>
              </a:defRPr>
            </a:lvl5pPr>
            <a:lvl6pPr algn="l">
              <a:defRPr sz="1800" b="0">
                <a:solidFill>
                  <a:srgbClr val="17243A"/>
                </a:solidFill>
                <a:latin typeface="Arial"/>
                <a:ea typeface="Arial"/>
                <a:cs typeface="Arial"/>
              </a:defRPr>
            </a:lvl6pPr>
            <a:lvl7pPr algn="l">
              <a:defRPr sz="1800" b="0">
                <a:solidFill>
                  <a:srgbClr val="17243A"/>
                </a:solidFill>
                <a:latin typeface="Arial"/>
                <a:ea typeface="Arial"/>
                <a:cs typeface="Arial"/>
              </a:defRPr>
            </a:lvl7pPr>
            <a:lvl8pPr algn="l">
              <a:defRPr sz="1800" b="0">
                <a:solidFill>
                  <a:srgbClr val="17243A"/>
                </a:solidFill>
                <a:latin typeface="Arial"/>
                <a:ea typeface="Arial"/>
                <a:cs typeface="Arial"/>
              </a:defRPr>
            </a:lvl8pPr>
            <a:lvl9pPr algn="l">
              <a:defRPr sz="1800" b="0">
                <a:solidFill>
                  <a:srgbClr val="17243A"/>
                </a:solidFill>
                <a:latin typeface="Arial"/>
                <a:ea typeface="Arial"/>
                <a:cs typeface="Arial"/>
              </a:defRPr>
            </a:lvl9pPr>
          </a:lstStyle>
          <a:p>
            <a:pPr algn="l">
              <a:defRPr sz="1800" b="0">
                <a:solidFill>
                  <a:srgbClr val="17243A"/>
                </a:solidFill>
                <a:latin typeface="Arial"/>
                <a:ea typeface="Arial"/>
                <a:cs typeface="Arial"/>
              </a:defRPr>
            </a:pPr>
            <a:r>
              <a:rPr sz="1800" b="0">
                <a:solidFill>
                  <a:srgbClr val="17243A"/>
                </a:solidFill>
                <a:latin typeface="Arial"/>
                <a:ea typeface="Arial"/>
                <a:cs typeface="Arial"/>
              </a:rPr>
              <a:t>evidence_packages</a:t>
            </a:r>
          </a:p>
          <a:p>
            <a:pPr algn="l">
              <a:defRPr sz="1800" b="0">
                <a:solidFill>
                  <a:srgbClr val="17243A"/>
                </a:solidFill>
                <a:latin typeface="Arial"/>
                <a:ea typeface="Arial"/>
                <a:cs typeface="Arial"/>
              </a:defRPr>
            </a:pPr>
            <a:r>
              <a:rPr sz="1800" b="0">
                <a:solidFill>
                  <a:srgbClr val="17243A"/>
                </a:solidFill>
                <a:latin typeface="Arial"/>
                <a:ea typeface="Arial"/>
                <a:cs typeface="Arial"/>
              </a:rPr>
              <a:t>handoff_events / red_flags</a:t>
            </a:r>
          </a:p>
          <a:p>
            <a:pPr algn="l">
              <a:defRPr sz="1800" b="0">
                <a:solidFill>
                  <a:srgbClr val="17243A"/>
                </a:solidFill>
                <a:latin typeface="Arial"/>
                <a:ea typeface="Arial"/>
                <a:cs typeface="Arial"/>
              </a:defRPr>
            </a:pPr>
            <a:r>
              <a:rPr sz="1800" b="0">
                <a:solidFill>
                  <a:srgbClr val="17243A"/>
                </a:solidFill>
                <a:latin typeface="Arial"/>
                <a:ea typeface="Arial"/>
                <a:cs typeface="Arial"/>
              </a:rPr>
              <a:t>recovery_requests</a:t>
            </a:r>
          </a:p>
        </p:txBody>
      </p:sp>
      <p:sp>
        <p:nvSpPr>
          <p:cNvPr id="14" name="Rectangle 13">
            <a:extLst>
              <a:ext uri="{FF2B5EF4-FFF2-40B4-BE49-F238E27FC236}">
                <a16:creationId xmlns:a16="http://schemas.microsoft.com/office/drawing/2014/main" id="{8C34D527-C7B1-48D8-8174-C67B5A6085E1}"/>
              </a:ext>
            </a:extLst>
          </p:cNvPr>
          <p:cNvSpPr>
            <a:spLocks noGrp="1"/>
          </p:cNvSpPr>
          <p:nvPr/>
        </p:nvSpPr>
        <p:spPr>
          <a:xfrm>
            <a:off x="8572500" y="4095750"/>
            <a:ext cx="2952750" cy="285750"/>
          </a:xfrm>
          <a:prstGeom prst="rect">
            <a:avLst/>
          </a:prstGeom>
          <a:noFill/>
          <a:ln w="0">
            <a:noFill/>
          </a:ln>
        </p:spPr>
        <p:txBody>
          <a:bodyPr wrap="square" lIns="0" tIns="0" rIns="0" bIns="0" anchor="ctr">
            <a:noAutofit/>
          </a:bodyPr>
          <a:lstStyle>
            <a:defPPr algn="l">
              <a:defRPr sz="1350" b="1">
                <a:solidFill>
                  <a:srgbClr val="53647B"/>
                </a:solidFill>
                <a:latin typeface="Arial"/>
                <a:ea typeface="Arial"/>
                <a:cs typeface="Arial"/>
              </a:defRPr>
            </a:defPPr>
            <a:lvl1pPr algn="l">
              <a:defRPr sz="1350" b="1">
                <a:solidFill>
                  <a:srgbClr val="53647B"/>
                </a:solidFill>
                <a:latin typeface="Arial"/>
                <a:ea typeface="Arial"/>
                <a:cs typeface="Arial"/>
              </a:defRPr>
            </a:lvl1pPr>
            <a:lvl2pPr algn="l">
              <a:defRPr sz="1350" b="1">
                <a:solidFill>
                  <a:srgbClr val="53647B"/>
                </a:solidFill>
                <a:latin typeface="Arial"/>
                <a:ea typeface="Arial"/>
                <a:cs typeface="Arial"/>
              </a:defRPr>
            </a:lvl2pPr>
            <a:lvl3pPr algn="l">
              <a:defRPr sz="1350" b="1">
                <a:solidFill>
                  <a:srgbClr val="53647B"/>
                </a:solidFill>
                <a:latin typeface="Arial"/>
                <a:ea typeface="Arial"/>
                <a:cs typeface="Arial"/>
              </a:defRPr>
            </a:lvl3pPr>
            <a:lvl4pPr algn="l">
              <a:defRPr sz="1350" b="1">
                <a:solidFill>
                  <a:srgbClr val="53647B"/>
                </a:solidFill>
                <a:latin typeface="Arial"/>
                <a:ea typeface="Arial"/>
                <a:cs typeface="Arial"/>
              </a:defRPr>
            </a:lvl4pPr>
            <a:lvl5pPr algn="l">
              <a:defRPr sz="1350" b="1">
                <a:solidFill>
                  <a:srgbClr val="53647B"/>
                </a:solidFill>
                <a:latin typeface="Arial"/>
                <a:ea typeface="Arial"/>
                <a:cs typeface="Arial"/>
              </a:defRPr>
            </a:lvl5pPr>
            <a:lvl6pPr algn="l">
              <a:defRPr sz="1350" b="1">
                <a:solidFill>
                  <a:srgbClr val="53647B"/>
                </a:solidFill>
                <a:latin typeface="Arial"/>
                <a:ea typeface="Arial"/>
                <a:cs typeface="Arial"/>
              </a:defRPr>
            </a:lvl6pPr>
            <a:lvl7pPr algn="l">
              <a:defRPr sz="1350" b="1">
                <a:solidFill>
                  <a:srgbClr val="53647B"/>
                </a:solidFill>
                <a:latin typeface="Arial"/>
                <a:ea typeface="Arial"/>
                <a:cs typeface="Arial"/>
              </a:defRPr>
            </a:lvl7pPr>
            <a:lvl8pPr algn="l">
              <a:defRPr sz="1350" b="1">
                <a:solidFill>
                  <a:srgbClr val="53647B"/>
                </a:solidFill>
                <a:latin typeface="Arial"/>
                <a:ea typeface="Arial"/>
                <a:cs typeface="Arial"/>
              </a:defRPr>
            </a:lvl8pPr>
            <a:lvl9pPr algn="l">
              <a:defRPr sz="1350" b="1">
                <a:solidFill>
                  <a:srgbClr val="53647B"/>
                </a:solidFill>
                <a:latin typeface="Arial"/>
                <a:ea typeface="Arial"/>
                <a:cs typeface="Arial"/>
              </a:defRPr>
            </a:lvl9pPr>
          </a:lstStyle>
          <a:p>
            <a:pPr algn="l">
              <a:defRPr sz="1350" b="1">
                <a:solidFill>
                  <a:srgbClr val="53647B"/>
                </a:solidFill>
                <a:latin typeface="Arial"/>
                <a:ea typeface="Arial"/>
                <a:cs typeface="Arial"/>
              </a:defRPr>
            </a:pPr>
            <a:r>
              <a:rPr sz="1350" b="1">
                <a:solidFill>
                  <a:srgbClr val="53647B"/>
                </a:solidFill>
                <a:latin typeface="Arial"/>
                <a:ea typeface="Arial"/>
                <a:cs typeface="Arial"/>
              </a:rPr>
              <a:t>SINGLE WRITER</a:t>
            </a:r>
          </a:p>
        </p:txBody>
      </p:sp>
      <p:sp>
        <p:nvSpPr>
          <p:cNvPr id="15" name="Rectangle 14">
            <a:extLst>
              <a:ext uri="{FF2B5EF4-FFF2-40B4-BE49-F238E27FC236}">
                <a16:creationId xmlns:a16="http://schemas.microsoft.com/office/drawing/2014/main" id="{D42FED06-7672-490C-83AC-907F587C75C8}"/>
              </a:ext>
            </a:extLst>
          </p:cNvPr>
          <p:cNvSpPr>
            <a:spLocks noGrp="1"/>
          </p:cNvSpPr>
          <p:nvPr/>
        </p:nvSpPr>
        <p:spPr>
          <a:xfrm>
            <a:off x="8572500" y="4457700"/>
            <a:ext cx="2857500" cy="952500"/>
          </a:xfrm>
          <a:prstGeom prst="rect">
            <a:avLst/>
          </a:prstGeom>
          <a:noFill/>
          <a:ln w="0">
            <a:noFill/>
          </a:ln>
        </p:spPr>
        <p:txBody>
          <a:bodyPr wrap="square" lIns="0" tIns="0" rIns="0" bIns="0" anchor="ctr">
            <a:noAutofit/>
          </a:bodyPr>
          <a:lstStyle>
            <a:defPPr algn="l">
              <a:defRPr sz="1800" b="0">
                <a:solidFill>
                  <a:srgbClr val="17243A"/>
                </a:solidFill>
                <a:latin typeface="Arial"/>
                <a:ea typeface="Arial"/>
                <a:cs typeface="Arial"/>
              </a:defRPr>
            </a:defPPr>
            <a:lvl1pPr algn="l">
              <a:defRPr sz="1800" b="0">
                <a:solidFill>
                  <a:srgbClr val="17243A"/>
                </a:solidFill>
                <a:latin typeface="Arial"/>
                <a:ea typeface="Arial"/>
                <a:cs typeface="Arial"/>
              </a:defRPr>
            </a:lvl1pPr>
            <a:lvl2pPr algn="l">
              <a:defRPr sz="1800" b="0">
                <a:solidFill>
                  <a:srgbClr val="17243A"/>
                </a:solidFill>
                <a:latin typeface="Arial"/>
                <a:ea typeface="Arial"/>
                <a:cs typeface="Arial"/>
              </a:defRPr>
            </a:lvl2pPr>
            <a:lvl3pPr algn="l">
              <a:defRPr sz="1800" b="0">
                <a:solidFill>
                  <a:srgbClr val="17243A"/>
                </a:solidFill>
                <a:latin typeface="Arial"/>
                <a:ea typeface="Arial"/>
                <a:cs typeface="Arial"/>
              </a:defRPr>
            </a:lvl3pPr>
            <a:lvl4pPr algn="l">
              <a:defRPr sz="1800" b="0">
                <a:solidFill>
                  <a:srgbClr val="17243A"/>
                </a:solidFill>
                <a:latin typeface="Arial"/>
                <a:ea typeface="Arial"/>
                <a:cs typeface="Arial"/>
              </a:defRPr>
            </a:lvl4pPr>
            <a:lvl5pPr algn="l">
              <a:defRPr sz="1800" b="0">
                <a:solidFill>
                  <a:srgbClr val="17243A"/>
                </a:solidFill>
                <a:latin typeface="Arial"/>
                <a:ea typeface="Arial"/>
                <a:cs typeface="Arial"/>
              </a:defRPr>
            </a:lvl5pPr>
            <a:lvl6pPr algn="l">
              <a:defRPr sz="1800" b="0">
                <a:solidFill>
                  <a:srgbClr val="17243A"/>
                </a:solidFill>
                <a:latin typeface="Arial"/>
                <a:ea typeface="Arial"/>
                <a:cs typeface="Arial"/>
              </a:defRPr>
            </a:lvl6pPr>
            <a:lvl7pPr algn="l">
              <a:defRPr sz="1800" b="0">
                <a:solidFill>
                  <a:srgbClr val="17243A"/>
                </a:solidFill>
                <a:latin typeface="Arial"/>
                <a:ea typeface="Arial"/>
                <a:cs typeface="Arial"/>
              </a:defRPr>
            </a:lvl7pPr>
            <a:lvl8pPr algn="l">
              <a:defRPr sz="1800" b="0">
                <a:solidFill>
                  <a:srgbClr val="17243A"/>
                </a:solidFill>
                <a:latin typeface="Arial"/>
                <a:ea typeface="Arial"/>
                <a:cs typeface="Arial"/>
              </a:defRPr>
            </a:lvl8pPr>
            <a:lvl9pPr algn="l">
              <a:defRPr sz="1800" b="0">
                <a:solidFill>
                  <a:srgbClr val="17243A"/>
                </a:solidFill>
                <a:latin typeface="Arial"/>
                <a:ea typeface="Arial"/>
                <a:cs typeface="Arial"/>
              </a:defRPr>
            </a:lvl9pPr>
          </a:lstStyle>
          <a:p>
            <a:pPr algn="l">
              <a:defRPr sz="1800" b="0">
                <a:solidFill>
                  <a:srgbClr val="17243A"/>
                </a:solidFill>
                <a:latin typeface="Arial"/>
                <a:ea typeface="Arial"/>
                <a:cs typeface="Arial"/>
              </a:defRPr>
            </a:pPr>
            <a:r>
              <a:rPr sz="1800" b="0">
                <a:solidFill>
                  <a:srgbClr val="17243A"/>
                </a:solidFill>
                <a:latin typeface="Arial"/>
                <a:ea typeface="Arial"/>
                <a:cs typeface="Arial"/>
              </a:rPr>
              <a:t>doctor_review</a:t>
            </a:r>
          </a:p>
          <a:p>
            <a:pPr algn="l">
              <a:defRPr sz="1800" b="0">
                <a:solidFill>
                  <a:srgbClr val="17243A"/>
                </a:solidFill>
                <a:latin typeface="Arial"/>
                <a:ea typeface="Arial"/>
                <a:cs typeface="Arial"/>
              </a:defRPr>
            </a:pPr>
            <a:r>
              <a:rPr sz="1800" b="0">
                <a:solidFill>
                  <a:srgbClr val="17243A"/>
                </a:solidFill>
                <a:latin typeface="Arial"/>
                <a:ea typeface="Arial"/>
                <a:cs typeface="Arial"/>
              </a:rPr>
              <a:t>recovery_grant</a:t>
            </a:r>
          </a:p>
          <a:p>
            <a:pPr algn="l">
              <a:defRPr sz="1800" b="0">
                <a:solidFill>
                  <a:srgbClr val="17243A"/>
                </a:solidFill>
                <a:latin typeface="Arial"/>
                <a:ea typeface="Arial"/>
                <a:cs typeface="Arial"/>
              </a:defRPr>
            </a:pPr>
            <a:r>
              <a:rPr sz="1800" b="0">
                <a:solidFill>
                  <a:srgbClr val="17243A"/>
                </a:solidFill>
                <a:latin typeface="Arial"/>
                <a:ea typeface="Arial"/>
                <a:cs typeface="Arial"/>
              </a:rPr>
              <a:t>final_response</a:t>
            </a:r>
          </a:p>
        </p:txBody>
      </p:sp>
      <p:sp>
        <p:nvSpPr>
          <p:cNvPr id="16" name="Rectangle 15">
            <a:extLst>
              <a:ext uri="{FF2B5EF4-FFF2-40B4-BE49-F238E27FC236}">
                <a16:creationId xmlns:a16="http://schemas.microsoft.com/office/drawing/2014/main" id="{D579EDD4-6C47-4A76-AD89-7BFD39A6EDF4}"/>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REPLAY RULE</a:t>
            </a:r>
          </a:p>
        </p:txBody>
      </p:sp>
      <p:sp>
        <p:nvSpPr>
          <p:cNvPr id="17" name="Rectangle 16">
            <a:extLst>
              <a:ext uri="{FF2B5EF4-FFF2-40B4-BE49-F238E27FC236}">
                <a16:creationId xmlns:a16="http://schemas.microsoft.com/office/drawing/2014/main" id="{963D6BCD-4D94-4F38-B71F-0E8A71929E5E}"/>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Identical ID + payload deduplicates. Changed result gets a new version ID.</a:t>
            </a:r>
          </a:p>
        </p:txBody>
      </p:sp>
      <p:sp>
        <p:nvSpPr>
          <p:cNvPr id="18" name="Rectangle: Rounded Corners 17">
            <a:extLst>
              <a:ext uri="{FF2B5EF4-FFF2-40B4-BE49-F238E27FC236}">
                <a16:creationId xmlns:a16="http://schemas.microsoft.com/office/drawing/2014/main" id="{654D396A-9D5A-4684-B021-4B484B07BB66}"/>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9" name="Rectangle 18">
            <a:extLst>
              <a:ext uri="{FF2B5EF4-FFF2-40B4-BE49-F238E27FC236}">
                <a16:creationId xmlns:a16="http://schemas.microsoft.com/office/drawing/2014/main" id="{1DCF7448-00A0-4B4B-BE85-0AED3B777E74}"/>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0" name="Rectangle: Rounded Corners 19">
            <a:extLst>
              <a:ext uri="{FF2B5EF4-FFF2-40B4-BE49-F238E27FC236}">
                <a16:creationId xmlns:a16="http://schemas.microsoft.com/office/drawing/2014/main" id="{0C173534-957A-42F7-8345-EADB4CBA7D7B}"/>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1" name="Rectangle 20">
            <a:extLst>
              <a:ext uri="{FF2B5EF4-FFF2-40B4-BE49-F238E27FC236}">
                <a16:creationId xmlns:a16="http://schemas.microsoft.com/office/drawing/2014/main" id="{438F95B9-06E2-4387-8B79-79674DF29F0C}"/>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2" name="Rectangle: Rounded Corners 21">
            <a:extLst>
              <a:ext uri="{FF2B5EF4-FFF2-40B4-BE49-F238E27FC236}">
                <a16:creationId xmlns:a16="http://schemas.microsoft.com/office/drawing/2014/main" id="{E0F7E1BC-0BB8-401C-937E-B3534FBFB6DA}"/>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3" name="Rectangle 22">
            <a:extLst>
              <a:ext uri="{FF2B5EF4-FFF2-40B4-BE49-F238E27FC236}">
                <a16:creationId xmlns:a16="http://schemas.microsoft.com/office/drawing/2014/main" id="{29F8FD34-89D1-452F-AF7C-66F4B80C8F7E}"/>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4" name="Rectangle: Rounded Corners 23">
            <a:extLst>
              <a:ext uri="{FF2B5EF4-FFF2-40B4-BE49-F238E27FC236}">
                <a16:creationId xmlns:a16="http://schemas.microsoft.com/office/drawing/2014/main" id="{22C254CA-A0F6-4A15-99B3-1B12FF17D369}"/>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5" name="Rectangle 24">
            <a:extLst>
              <a:ext uri="{FF2B5EF4-FFF2-40B4-BE49-F238E27FC236}">
                <a16:creationId xmlns:a16="http://schemas.microsoft.com/office/drawing/2014/main" id="{43A04966-BB84-485A-947B-08EF4484951E}"/>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6" name="Rectangle: Rounded Corners 25">
            <a:extLst>
              <a:ext uri="{FF2B5EF4-FFF2-40B4-BE49-F238E27FC236}">
                <a16:creationId xmlns:a16="http://schemas.microsoft.com/office/drawing/2014/main" id="{3D8C9F94-DDA0-40E0-9C9B-551AC0C097D8}"/>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7" name="Rectangle 26">
            <a:extLst>
              <a:ext uri="{FF2B5EF4-FFF2-40B4-BE49-F238E27FC236}">
                <a16:creationId xmlns:a16="http://schemas.microsoft.com/office/drawing/2014/main" id="{DB5D8B79-DBA4-4DEE-965F-E2211239747D}"/>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8" name="Rectangle 27">
            <a:extLst>
              <a:ext uri="{FF2B5EF4-FFF2-40B4-BE49-F238E27FC236}">
                <a16:creationId xmlns:a16="http://schemas.microsoft.com/office/drawing/2014/main" id="{02157C3A-4E49-4342-AAD0-B7606A7C78E6}"/>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07</a:t>
            </a:r>
          </a:p>
        </p:txBody>
      </p:sp>
    </p:spTree>
    <p:extLst>
      <p:ext uri="{BB962C8B-B14F-4D97-AF65-F5344CB8AC3E}">
        <p14:creationId xmlns:p14="http://schemas.microsoft.com/office/powerpoint/2010/main" val="195259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Connector: Elbow 15">
            <a:extLst>
              <a:ext uri="{FF2B5EF4-FFF2-40B4-BE49-F238E27FC236}">
                <a16:creationId xmlns:a16="http://schemas.microsoft.com/office/drawing/2014/main" id="{942FE150-801F-4461-929B-32CD6147B4A8}"/>
              </a:ext>
            </a:extLst>
          </p:cNvPr>
          <p:cNvCxnSpPr>
            <a:stCxn id="8" idx="2"/>
            <a:endCxn id="9" idx="0"/>
          </p:cNvCxnSpPr>
          <p:nvPr/>
        </p:nvCxnSpPr>
        <p:spPr>
          <a:xfrm flipH="1">
            <a:off x="7500938" y="4286250"/>
            <a:ext cx="2619375" cy="476250"/>
          </a:xfrm>
          <a:prstGeom prst="bentConnector4">
            <a:avLst>
              <a:gd name="adj1" fmla="val 0"/>
              <a:gd name="adj2" fmla="val 50000"/>
            </a:avLst>
          </a:prstGeom>
          <a:ln w="16193">
            <a:solidFill>
              <a:srgbClr val="66758A"/>
            </a:solidFill>
            <a:prstDash val="solid"/>
            <a:tailEnd type="triangle" w="sm" len="sm"/>
          </a:ln>
        </p:spPr>
      </p:cxnSp>
      <p:cxnSp>
        <p:nvCxnSpPr>
          <p:cNvPr id="15" name="Connector: Elbow 14">
            <a:extLst>
              <a:ext uri="{FF2B5EF4-FFF2-40B4-BE49-F238E27FC236}">
                <a16:creationId xmlns:a16="http://schemas.microsoft.com/office/drawing/2014/main" id="{3FB3BF06-D669-47C8-BBCD-4B3325170968}"/>
              </a:ext>
            </a:extLst>
          </p:cNvPr>
          <p:cNvCxnSpPr>
            <a:stCxn id="6" idx="2"/>
            <a:endCxn id="8" idx="0"/>
          </p:cNvCxnSpPr>
          <p:nvPr/>
        </p:nvCxnSpPr>
        <p:spPr>
          <a:xfrm flipH="1">
            <a:off x="10120313" y="2571750"/>
            <a:ext cx="404813" cy="904875"/>
          </a:xfrm>
          <a:prstGeom prst="bentConnector4">
            <a:avLst>
              <a:gd name="adj1" fmla="val 0"/>
              <a:gd name="adj2" fmla="val 50000"/>
            </a:avLst>
          </a:prstGeom>
          <a:ln w="16193">
            <a:solidFill>
              <a:srgbClr val="66758A"/>
            </a:solidFill>
            <a:prstDash val="solid"/>
            <a:tailEnd type="triangle" w="sm" len="sm"/>
          </a:ln>
        </p:spPr>
      </p:cxnSp>
      <p:cxnSp>
        <p:nvCxnSpPr>
          <p:cNvPr id="14" name="Connector: Elbow 13">
            <a:extLst>
              <a:ext uri="{FF2B5EF4-FFF2-40B4-BE49-F238E27FC236}">
                <a16:creationId xmlns:a16="http://schemas.microsoft.com/office/drawing/2014/main" id="{76BA8183-1EA9-4F99-99E1-33EEAE8DAF9D}"/>
              </a:ext>
            </a:extLst>
          </p:cNvPr>
          <p:cNvCxnSpPr>
            <a:stCxn id="7" idx="3"/>
            <a:endCxn id="6" idx="2"/>
          </p:cNvCxnSpPr>
          <p:nvPr/>
        </p:nvCxnSpPr>
        <p:spPr>
          <a:xfrm flipV="1">
            <a:off x="6191250" y="2571750"/>
            <a:ext cx="4333875" cy="1309688"/>
          </a:xfrm>
          <a:prstGeom prst="bentConnector4">
            <a:avLst>
              <a:gd name="adj1" fmla="val 5275"/>
              <a:gd name="adj2" fmla="val 82545"/>
            </a:avLst>
          </a:prstGeom>
          <a:ln w="16193">
            <a:solidFill>
              <a:srgbClr val="66758A"/>
            </a:solidFill>
            <a:prstDash val="solid"/>
            <a:tailEnd type="triangle" w="sm" len="sm"/>
          </a:ln>
        </p:spPr>
      </p:cxnSp>
      <p:cxnSp>
        <p:nvCxnSpPr>
          <p:cNvPr id="13" name="Connector: Elbow 12">
            <a:extLst>
              <a:ext uri="{FF2B5EF4-FFF2-40B4-BE49-F238E27FC236}">
                <a16:creationId xmlns:a16="http://schemas.microsoft.com/office/drawing/2014/main" id="{F46C3785-07CB-44C9-A317-2E7439115C8B}"/>
              </a:ext>
            </a:extLst>
          </p:cNvPr>
          <p:cNvCxnSpPr>
            <a:stCxn id="4" idx="2"/>
            <a:endCxn id="7" idx="0"/>
          </p:cNvCxnSpPr>
          <p:nvPr/>
        </p:nvCxnSpPr>
        <p:spPr>
          <a:xfrm>
            <a:off x="4714875" y="2571750"/>
            <a:ext cx="47625" cy="904875"/>
          </a:xfrm>
          <a:prstGeom prst="bentConnector4">
            <a:avLst>
              <a:gd name="adj1" fmla="val 0"/>
              <a:gd name="adj2" fmla="val 50000"/>
            </a:avLst>
          </a:prstGeom>
          <a:ln w="16193">
            <a:solidFill>
              <a:srgbClr val="66758A"/>
            </a:solidFill>
            <a:prstDash val="solid"/>
            <a:tailEnd type="triangle" w="sm" len="sm"/>
          </a:ln>
        </p:spPr>
      </p:cxnSp>
      <p:cxnSp>
        <p:nvCxnSpPr>
          <p:cNvPr id="12" name="Straight Arrow Connector 11">
            <a:extLst>
              <a:ext uri="{FF2B5EF4-FFF2-40B4-BE49-F238E27FC236}">
                <a16:creationId xmlns:a16="http://schemas.microsoft.com/office/drawing/2014/main" id="{F2000ADB-6143-409D-9F79-60A7578690B2}"/>
              </a:ext>
            </a:extLst>
          </p:cNvPr>
          <p:cNvCxnSpPr>
            <a:stCxn id="5" idx="3"/>
            <a:endCxn id="6" idx="1"/>
          </p:cNvCxnSpPr>
          <p:nvPr/>
        </p:nvCxnSpPr>
        <p:spPr>
          <a:xfrm>
            <a:off x="8905875" y="2143125"/>
            <a:ext cx="333375" cy="0"/>
          </a:xfrm>
          <a:prstGeom prst="straightConnector1">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5F60B1E1-C270-4538-B107-11B53A2E42ED}"/>
              </a:ext>
            </a:extLst>
          </p:cNvPr>
          <p:cNvCxnSpPr>
            <a:stCxn id="4" idx="3"/>
            <a:endCxn id="5" idx="1"/>
          </p:cNvCxnSpPr>
          <p:nvPr/>
        </p:nvCxnSpPr>
        <p:spPr>
          <a:xfrm>
            <a:off x="6000750" y="2143125"/>
            <a:ext cx="333375"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8E74B951-27C9-4CE0-B230-E694FDFEF4A9}"/>
              </a:ext>
            </a:extLst>
          </p:cNvPr>
          <p:cNvCxnSpPr>
            <a:stCxn id="3" idx="3"/>
            <a:endCxn id="4" idx="1"/>
          </p:cNvCxnSpPr>
          <p:nvPr/>
        </p:nvCxnSpPr>
        <p:spPr>
          <a:xfrm>
            <a:off x="3095625" y="2143125"/>
            <a:ext cx="333375" cy="0"/>
          </a:xfrm>
          <a:prstGeom prst="straightConnector1">
            <a:avLst/>
          </a:prstGeom>
          <a:ln w="16193">
            <a:solidFill>
              <a:srgbClr val="66758A"/>
            </a:solidFill>
            <a:prstDash val="solid"/>
            <a:tailEnd type="triangle" w="sm" len="sm"/>
          </a:ln>
        </p:spPr>
      </p:cxnSp>
      <p:sp>
        <p:nvSpPr>
          <p:cNvPr id="30" name="Rectangle 29">
            <a:extLst>
              <a:ext uri="{FF2B5EF4-FFF2-40B4-BE49-F238E27FC236}">
                <a16:creationId xmlns:a16="http://schemas.microsoft.com/office/drawing/2014/main" id="{0A13414E-2050-47C3-B026-B1D82CC6BAD4}"/>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03  Specialist analysis and retrieval</a:t>
            </a:r>
          </a:p>
        </p:txBody>
      </p:sp>
      <p:sp>
        <p:nvSpPr>
          <p:cNvPr id="2" name="Rectangle 1">
            <a:extLst>
              <a:ext uri="{FF2B5EF4-FFF2-40B4-BE49-F238E27FC236}">
                <a16:creationId xmlns:a16="http://schemas.microsoft.com/office/drawing/2014/main" id="{288FEE67-3A33-4FDF-BEC3-D665192B70AE}"/>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Observations drive shared retrieval, then evidence returns to the Doctor</a:t>
            </a:r>
          </a:p>
        </p:txBody>
      </p:sp>
      <p:sp>
        <p:nvSpPr>
          <p:cNvPr id="3" name="Rectangle: Rounded Corners 2">
            <a:extLst>
              <a:ext uri="{FF2B5EF4-FFF2-40B4-BE49-F238E27FC236}">
                <a16:creationId xmlns:a16="http://schemas.microsoft.com/office/drawing/2014/main" id="{8C87119B-5380-46FF-B0C3-6C009AAF9DC5}"/>
              </a:ext>
            </a:extLst>
          </p:cNvPr>
          <p:cNvSpPr>
            <a:spLocks noGrp="1"/>
          </p:cNvSpPr>
          <p:nvPr/>
        </p:nvSpPr>
        <p:spPr>
          <a:xfrm>
            <a:off x="523875" y="1714500"/>
            <a:ext cx="2571750" cy="857250"/>
          </a:xfrm>
          <a:prstGeom prst="roundRect">
            <a:avLst>
              <a:gd name="adj" fmla="val 11111"/>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Specialist model</a:t>
            </a:r>
          </a:p>
          <a:p>
            <a:pPr algn="ctr">
              <a:defRPr sz="1650" b="0">
                <a:solidFill>
                  <a:srgbClr val="17243A"/>
                </a:solidFill>
                <a:latin typeface="Arial"/>
                <a:ea typeface="Arial"/>
                <a:cs typeface="Arial"/>
              </a:defRPr>
            </a:pPr>
            <a:r>
              <a:rPr sz="1650" b="0">
                <a:solidFill>
                  <a:srgbClr val="17243A"/>
                </a:solidFill>
                <a:latin typeface="Arial"/>
                <a:ea typeface="Arial"/>
                <a:cs typeface="Arial"/>
              </a:rPr>
              <a:t>Extract observations</a:t>
            </a:r>
          </a:p>
        </p:txBody>
      </p:sp>
      <p:sp>
        <p:nvSpPr>
          <p:cNvPr id="4" name="Rectangle: Rounded Corners 3">
            <a:extLst>
              <a:ext uri="{FF2B5EF4-FFF2-40B4-BE49-F238E27FC236}">
                <a16:creationId xmlns:a16="http://schemas.microsoft.com/office/drawing/2014/main" id="{526036BD-54E2-4F31-B037-27DDAEE3CF98}"/>
              </a:ext>
            </a:extLst>
          </p:cNvPr>
          <p:cNvSpPr>
            <a:spLocks noGrp="1"/>
          </p:cNvSpPr>
          <p:nvPr/>
        </p:nvSpPr>
        <p:spPr>
          <a:xfrm>
            <a:off x="3429000" y="1714500"/>
            <a:ext cx="2571750" cy="857250"/>
          </a:xfrm>
          <a:prstGeom prst="roundRect">
            <a:avLst>
              <a:gd name="adj" fmla="val 11111"/>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Construct query</a:t>
            </a:r>
          </a:p>
          <a:p>
            <a:pPr algn="ctr">
              <a:defRPr sz="1650" b="0">
                <a:solidFill>
                  <a:srgbClr val="17243A"/>
                </a:solidFill>
                <a:latin typeface="Arial"/>
                <a:ea typeface="Arial"/>
                <a:cs typeface="Arial"/>
              </a:defRPr>
            </a:pPr>
            <a:r>
              <a:rPr sz="1650" b="0">
                <a:solidFill>
                  <a:srgbClr val="17243A"/>
                </a:solidFill>
                <a:latin typeface="Arial"/>
                <a:ea typeface="Arial"/>
                <a:cs typeface="Arial"/>
              </a:rPr>
              <a:t>Observed facts + need</a:t>
            </a:r>
          </a:p>
        </p:txBody>
      </p:sp>
      <p:sp>
        <p:nvSpPr>
          <p:cNvPr id="5" name="Rectangle: Rounded Corners 4">
            <a:extLst>
              <a:ext uri="{FF2B5EF4-FFF2-40B4-BE49-F238E27FC236}">
                <a16:creationId xmlns:a16="http://schemas.microsoft.com/office/drawing/2014/main" id="{AC7F0FC6-1F51-469E-9FA2-667BDA8D6FCE}"/>
              </a:ext>
            </a:extLst>
          </p:cNvPr>
          <p:cNvSpPr>
            <a:spLocks noGrp="1"/>
          </p:cNvSpPr>
          <p:nvPr/>
        </p:nvSpPr>
        <p:spPr>
          <a:xfrm>
            <a:off x="6334125" y="1714500"/>
            <a:ext cx="2571750" cy="857250"/>
          </a:xfrm>
          <a:prstGeom prst="roundRect">
            <a:avLst>
              <a:gd name="adj" fmla="val 11111"/>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OpenSearch hybrid</a:t>
            </a:r>
          </a:p>
          <a:p>
            <a:pPr algn="ctr">
              <a:defRPr sz="1650" b="0">
                <a:solidFill>
                  <a:srgbClr val="17243A"/>
                </a:solidFill>
                <a:latin typeface="Arial"/>
                <a:ea typeface="Arial"/>
                <a:cs typeface="Arial"/>
              </a:defRPr>
            </a:pPr>
            <a:r>
              <a:rPr sz="1650" b="0">
                <a:solidFill>
                  <a:srgbClr val="17243A"/>
                </a:solidFill>
                <a:latin typeface="Arial"/>
                <a:ea typeface="Arial"/>
                <a:cs typeface="Arial"/>
              </a:rPr>
              <a:t>Keyword + vector + RRF</a:t>
            </a:r>
          </a:p>
        </p:txBody>
      </p:sp>
      <p:sp>
        <p:nvSpPr>
          <p:cNvPr id="6" name="Rectangle: Rounded Corners 5">
            <a:extLst>
              <a:ext uri="{FF2B5EF4-FFF2-40B4-BE49-F238E27FC236}">
                <a16:creationId xmlns:a16="http://schemas.microsoft.com/office/drawing/2014/main" id="{BE8DDFB4-D3F5-4CB8-9F0C-EBA804B12BBE}"/>
              </a:ext>
            </a:extLst>
          </p:cNvPr>
          <p:cNvSpPr>
            <a:spLocks noGrp="1"/>
          </p:cNvSpPr>
          <p:nvPr/>
        </p:nvSpPr>
        <p:spPr>
          <a:xfrm>
            <a:off x="9239250" y="1714500"/>
            <a:ext cx="2571750" cy="857250"/>
          </a:xfrm>
          <a:prstGeom prst="roundRect">
            <a:avLst>
              <a:gd name="adj" fmla="val 11111"/>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Cohere Rerank 3.5</a:t>
            </a:r>
          </a:p>
          <a:p>
            <a:pPr algn="ctr">
              <a:defRPr sz="1650" b="0">
                <a:solidFill>
                  <a:srgbClr val="17243A"/>
                </a:solidFill>
                <a:latin typeface="Arial"/>
                <a:ea typeface="Arial"/>
                <a:cs typeface="Arial"/>
              </a:defRPr>
            </a:pPr>
            <a:r>
              <a:rPr sz="1650" b="0">
                <a:solidFill>
                  <a:srgbClr val="17243A"/>
                </a:solidFill>
                <a:latin typeface="Arial"/>
                <a:ea typeface="Arial"/>
                <a:cs typeface="Arial"/>
              </a:rPr>
              <a:t>Real source candidates</a:t>
            </a:r>
          </a:p>
        </p:txBody>
      </p:sp>
      <p:sp>
        <p:nvSpPr>
          <p:cNvPr id="7" name="Rectangle: Rounded Corners 6">
            <a:extLst>
              <a:ext uri="{FF2B5EF4-FFF2-40B4-BE49-F238E27FC236}">
                <a16:creationId xmlns:a16="http://schemas.microsoft.com/office/drawing/2014/main" id="{CCA2AE16-095D-40F0-9247-6F999F02851A}"/>
              </a:ext>
            </a:extLst>
          </p:cNvPr>
          <p:cNvSpPr>
            <a:spLocks noGrp="1"/>
          </p:cNvSpPr>
          <p:nvPr/>
        </p:nvSpPr>
        <p:spPr>
          <a:xfrm>
            <a:off x="3333750" y="3476625"/>
            <a:ext cx="2857500" cy="809625"/>
          </a:xfrm>
          <a:prstGeom prst="roundRect">
            <a:avLst>
              <a:gd name="adj" fmla="val 1176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Graph search</a:t>
            </a:r>
          </a:p>
          <a:p>
            <a:pPr algn="ctr">
              <a:defRPr sz="1650" b="0">
                <a:solidFill>
                  <a:srgbClr val="17243A"/>
                </a:solidFill>
                <a:latin typeface="Arial"/>
                <a:ea typeface="Arial"/>
                <a:cs typeface="Arial"/>
              </a:defRPr>
            </a:pPr>
            <a:r>
              <a:rPr sz="1650" b="0">
                <a:solidFill>
                  <a:srgbClr val="17243A"/>
                </a:solidFill>
                <a:latin typeface="Arial"/>
                <a:ea typeface="Arial"/>
                <a:cs typeface="Arial"/>
              </a:rPr>
              <a:t>Start 1–2 hops; cap 5</a:t>
            </a:r>
          </a:p>
        </p:txBody>
      </p:sp>
      <p:sp>
        <p:nvSpPr>
          <p:cNvPr id="8" name="Rectangle: Rounded Corners 7">
            <a:extLst>
              <a:ext uri="{FF2B5EF4-FFF2-40B4-BE49-F238E27FC236}">
                <a16:creationId xmlns:a16="http://schemas.microsoft.com/office/drawing/2014/main" id="{0D32677B-3E69-4347-9C3B-74A046C9A02D}"/>
              </a:ext>
            </a:extLst>
          </p:cNvPr>
          <p:cNvSpPr>
            <a:spLocks noGrp="1"/>
          </p:cNvSpPr>
          <p:nvPr/>
        </p:nvSpPr>
        <p:spPr>
          <a:xfrm>
            <a:off x="8572500" y="3476625"/>
            <a:ext cx="3095625" cy="809625"/>
          </a:xfrm>
          <a:prstGeom prst="roundRect">
            <a:avLst>
              <a:gd name="adj" fmla="val 11765"/>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Expand parent context</a:t>
            </a:r>
          </a:p>
          <a:p>
            <a:pPr algn="ctr">
              <a:defRPr sz="1650" b="0">
                <a:solidFill>
                  <a:srgbClr val="17243A"/>
                </a:solidFill>
                <a:latin typeface="Arial"/>
                <a:ea typeface="Arial"/>
                <a:cs typeface="Arial"/>
              </a:defRPr>
            </a:pPr>
            <a:r>
              <a:rPr sz="1650" b="0">
                <a:solidFill>
                  <a:srgbClr val="17243A"/>
                </a:solidFill>
                <a:latin typeface="Arial"/>
                <a:ea typeface="Arial"/>
                <a:cs typeface="Arial"/>
              </a:rPr>
              <a:t>Preserve source offsets</a:t>
            </a:r>
          </a:p>
        </p:txBody>
      </p:sp>
      <p:sp>
        <p:nvSpPr>
          <p:cNvPr id="9" name="Rectangle: Rounded Corners 8">
            <a:extLst>
              <a:ext uri="{FF2B5EF4-FFF2-40B4-BE49-F238E27FC236}">
                <a16:creationId xmlns:a16="http://schemas.microsoft.com/office/drawing/2014/main" id="{0184837E-D2E3-44E6-A2D1-1A31D5BB89F2}"/>
              </a:ext>
            </a:extLst>
          </p:cNvPr>
          <p:cNvSpPr>
            <a:spLocks noGrp="1"/>
          </p:cNvSpPr>
          <p:nvPr/>
        </p:nvSpPr>
        <p:spPr>
          <a:xfrm>
            <a:off x="3333750" y="4762500"/>
            <a:ext cx="8334375" cy="619125"/>
          </a:xfrm>
          <a:prstGeom prst="roundRect">
            <a:avLst>
              <a:gd name="adj" fmla="val 1538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EvidencePackage</a:t>
            </a:r>
          </a:p>
          <a:p>
            <a:pPr algn="ctr">
              <a:defRPr sz="1650" b="0">
                <a:solidFill>
                  <a:srgbClr val="17243A"/>
                </a:solidFill>
                <a:latin typeface="Arial"/>
                <a:ea typeface="Arial"/>
                <a:cs typeface="Arial"/>
              </a:defRPr>
            </a:pPr>
            <a:r>
              <a:rPr sz="1650" b="0">
                <a:solidFill>
                  <a:srgbClr val="17243A"/>
                </a:solidFill>
                <a:latin typeface="Arial"/>
                <a:ea typeface="Arial"/>
                <a:cs typeface="Arial"/>
              </a:rPr>
              <a:t>Observations, interpretations, citations, gaps</a:t>
            </a:r>
          </a:p>
        </p:txBody>
      </p:sp>
      <p:sp>
        <p:nvSpPr>
          <p:cNvPr id="17" name="Rectangle 16">
            <a:extLst>
              <a:ext uri="{FF2B5EF4-FFF2-40B4-BE49-F238E27FC236}">
                <a16:creationId xmlns:a16="http://schemas.microsoft.com/office/drawing/2014/main" id="{3A43E0FE-AB7E-4B0C-975F-043FEAB90F04}"/>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MODEL CHOICES</a:t>
            </a:r>
          </a:p>
        </p:txBody>
      </p:sp>
      <p:sp>
        <p:nvSpPr>
          <p:cNvPr id="18" name="Rectangle 17">
            <a:extLst>
              <a:ext uri="{FF2B5EF4-FFF2-40B4-BE49-F238E27FC236}">
                <a16:creationId xmlns:a16="http://schemas.microsoft.com/office/drawing/2014/main" id="{A7EC5A13-B23C-424D-96DE-609DB452BBFC}"/>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Sonnet; MedGemma candidate for images; ECG-FM deferred for waveforms</a:t>
            </a:r>
          </a:p>
        </p:txBody>
      </p:sp>
      <p:sp>
        <p:nvSpPr>
          <p:cNvPr id="19" name="Rectangle: Rounded Corners 18">
            <a:extLst>
              <a:ext uri="{FF2B5EF4-FFF2-40B4-BE49-F238E27FC236}">
                <a16:creationId xmlns:a16="http://schemas.microsoft.com/office/drawing/2014/main" id="{189660DA-6B51-49CF-B593-2C517E82780D}"/>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20" name="Rectangle 19">
            <a:extLst>
              <a:ext uri="{FF2B5EF4-FFF2-40B4-BE49-F238E27FC236}">
                <a16:creationId xmlns:a16="http://schemas.microsoft.com/office/drawing/2014/main" id="{C146BA99-2711-456F-9BA7-0676A1DAE6F3}"/>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1" name="Rectangle: Rounded Corners 20">
            <a:extLst>
              <a:ext uri="{FF2B5EF4-FFF2-40B4-BE49-F238E27FC236}">
                <a16:creationId xmlns:a16="http://schemas.microsoft.com/office/drawing/2014/main" id="{8DA3DC85-A52A-401A-9A4E-450682283E68}"/>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2" name="Rectangle 21">
            <a:extLst>
              <a:ext uri="{FF2B5EF4-FFF2-40B4-BE49-F238E27FC236}">
                <a16:creationId xmlns:a16="http://schemas.microsoft.com/office/drawing/2014/main" id="{4C7356DB-963D-4DE7-AA8B-8E271A9A0DA8}"/>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3" name="Rectangle: Rounded Corners 22">
            <a:extLst>
              <a:ext uri="{FF2B5EF4-FFF2-40B4-BE49-F238E27FC236}">
                <a16:creationId xmlns:a16="http://schemas.microsoft.com/office/drawing/2014/main" id="{A944BAC3-BE6B-4703-8CB2-334AE4D4D347}"/>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4" name="Rectangle 23">
            <a:extLst>
              <a:ext uri="{FF2B5EF4-FFF2-40B4-BE49-F238E27FC236}">
                <a16:creationId xmlns:a16="http://schemas.microsoft.com/office/drawing/2014/main" id="{BB8EDED8-EF47-422D-908F-B1BEB52A14D6}"/>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5" name="Rectangle: Rounded Corners 24">
            <a:extLst>
              <a:ext uri="{FF2B5EF4-FFF2-40B4-BE49-F238E27FC236}">
                <a16:creationId xmlns:a16="http://schemas.microsoft.com/office/drawing/2014/main" id="{459D7B8B-E8BE-425F-A377-42CE06E37CD3}"/>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6" name="Rectangle 25">
            <a:extLst>
              <a:ext uri="{FF2B5EF4-FFF2-40B4-BE49-F238E27FC236}">
                <a16:creationId xmlns:a16="http://schemas.microsoft.com/office/drawing/2014/main" id="{BEE0A428-7219-43BE-A4C4-91793C317E71}"/>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7" name="Rectangle: Rounded Corners 26">
            <a:extLst>
              <a:ext uri="{FF2B5EF4-FFF2-40B4-BE49-F238E27FC236}">
                <a16:creationId xmlns:a16="http://schemas.microsoft.com/office/drawing/2014/main" id="{EF6E6D83-13F1-4947-8A0B-3FF48C5C7DDA}"/>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8" name="Rectangle 27">
            <a:extLst>
              <a:ext uri="{FF2B5EF4-FFF2-40B4-BE49-F238E27FC236}">
                <a16:creationId xmlns:a16="http://schemas.microsoft.com/office/drawing/2014/main" id="{216BA684-B839-44C0-B74F-3BB4624D738E}"/>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9" name="Rectangle 28">
            <a:extLst>
              <a:ext uri="{FF2B5EF4-FFF2-40B4-BE49-F238E27FC236}">
                <a16:creationId xmlns:a16="http://schemas.microsoft.com/office/drawing/2014/main" id="{573E3178-9196-40B6-880C-F29A8E90FF5E}"/>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08</a:t>
            </a:r>
          </a:p>
        </p:txBody>
      </p:sp>
    </p:spTree>
    <p:extLst>
      <p:ext uri="{BB962C8B-B14F-4D97-AF65-F5344CB8AC3E}">
        <p14:creationId xmlns:p14="http://schemas.microsoft.com/office/powerpoint/2010/main" val="68837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Connector: Elbow 13">
            <a:extLst>
              <a:ext uri="{FF2B5EF4-FFF2-40B4-BE49-F238E27FC236}">
                <a16:creationId xmlns:a16="http://schemas.microsoft.com/office/drawing/2014/main" id="{CD5D615D-9E29-4E13-8133-2D53547E93DA}"/>
              </a:ext>
            </a:extLst>
          </p:cNvPr>
          <p:cNvCxnSpPr>
            <a:stCxn id="8" idx="2"/>
            <a:endCxn id="9" idx="0"/>
          </p:cNvCxnSpPr>
          <p:nvPr/>
        </p:nvCxnSpPr>
        <p:spPr>
          <a:xfrm flipH="1">
            <a:off x="7667625" y="4191000"/>
            <a:ext cx="1857375" cy="571500"/>
          </a:xfrm>
          <a:prstGeom prst="bentConnector4">
            <a:avLst>
              <a:gd name="adj1" fmla="val 0"/>
              <a:gd name="adj2" fmla="val 50000"/>
            </a:avLst>
          </a:prstGeom>
          <a:ln w="16193">
            <a:solidFill>
              <a:srgbClr val="66758A"/>
            </a:solidFill>
            <a:prstDash val="solid"/>
            <a:tailEnd type="triangle" w="sm" len="sm"/>
          </a:ln>
        </p:spPr>
      </p:cxnSp>
      <p:cxnSp>
        <p:nvCxnSpPr>
          <p:cNvPr id="13" name="Straight Arrow Connector 12">
            <a:extLst>
              <a:ext uri="{FF2B5EF4-FFF2-40B4-BE49-F238E27FC236}">
                <a16:creationId xmlns:a16="http://schemas.microsoft.com/office/drawing/2014/main" id="{1B0C9CFD-9A47-46B8-90A3-C0E610B21A12}"/>
              </a:ext>
            </a:extLst>
          </p:cNvPr>
          <p:cNvCxnSpPr>
            <a:stCxn id="7" idx="3"/>
            <a:endCxn id="8" idx="1"/>
          </p:cNvCxnSpPr>
          <p:nvPr/>
        </p:nvCxnSpPr>
        <p:spPr>
          <a:xfrm>
            <a:off x="6762750" y="3762375"/>
            <a:ext cx="762000" cy="0"/>
          </a:xfrm>
          <a:prstGeom prst="straightConnector1">
            <a:avLst/>
          </a:prstGeom>
          <a:ln w="16193">
            <a:solidFill>
              <a:srgbClr val="66758A"/>
            </a:solidFill>
            <a:prstDash val="solid"/>
            <a:tailEnd type="triangle" w="sm" len="sm"/>
          </a:ln>
        </p:spPr>
      </p:cxnSp>
      <p:cxnSp>
        <p:nvCxnSpPr>
          <p:cNvPr id="12" name="Straight Arrow Connector 11">
            <a:extLst>
              <a:ext uri="{FF2B5EF4-FFF2-40B4-BE49-F238E27FC236}">
                <a16:creationId xmlns:a16="http://schemas.microsoft.com/office/drawing/2014/main" id="{4760DB85-A3D1-4E31-ADF8-0F082EA03113}"/>
              </a:ext>
            </a:extLst>
          </p:cNvPr>
          <p:cNvCxnSpPr>
            <a:stCxn id="6" idx="3"/>
            <a:endCxn id="7" idx="1"/>
          </p:cNvCxnSpPr>
          <p:nvPr/>
        </p:nvCxnSpPr>
        <p:spPr>
          <a:xfrm>
            <a:off x="3095625" y="3762375"/>
            <a:ext cx="714375" cy="0"/>
          </a:xfrm>
          <a:prstGeom prst="straightConnector1">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18C1A891-134A-4A06-BA16-AD06400E5C6E}"/>
              </a:ext>
            </a:extLst>
          </p:cNvPr>
          <p:cNvCxnSpPr>
            <a:stCxn id="4" idx="3"/>
            <a:endCxn id="5" idx="1"/>
          </p:cNvCxnSpPr>
          <p:nvPr/>
        </p:nvCxnSpPr>
        <p:spPr>
          <a:xfrm>
            <a:off x="7143750" y="1881188"/>
            <a:ext cx="1428750"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81A2960C-A321-4770-A584-48FC954410A6}"/>
              </a:ext>
            </a:extLst>
          </p:cNvPr>
          <p:cNvCxnSpPr>
            <a:stCxn id="3" idx="3"/>
            <a:endCxn id="4" idx="1"/>
          </p:cNvCxnSpPr>
          <p:nvPr/>
        </p:nvCxnSpPr>
        <p:spPr>
          <a:xfrm>
            <a:off x="3095625" y="1881188"/>
            <a:ext cx="1190625" cy="0"/>
          </a:xfrm>
          <a:prstGeom prst="straightConnector1">
            <a:avLst/>
          </a:prstGeom>
          <a:ln w="16193">
            <a:solidFill>
              <a:srgbClr val="66758A"/>
            </a:solidFill>
            <a:prstDash val="solid"/>
            <a:tailEnd type="triangle" w="sm" len="sm"/>
          </a:ln>
        </p:spPr>
      </p:cxnSp>
      <p:sp>
        <p:nvSpPr>
          <p:cNvPr id="29" name="Rectangle 28">
            <a:extLst>
              <a:ext uri="{FF2B5EF4-FFF2-40B4-BE49-F238E27FC236}">
                <a16:creationId xmlns:a16="http://schemas.microsoft.com/office/drawing/2014/main" id="{457A0AA7-9690-4F89-B69C-25186BEEB015}"/>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03  Graph paths and bounded recovery</a:t>
            </a:r>
          </a:p>
        </p:txBody>
      </p:sp>
      <p:sp>
        <p:nvSpPr>
          <p:cNvPr id="2" name="Rectangle 1">
            <a:extLst>
              <a:ext uri="{FF2B5EF4-FFF2-40B4-BE49-F238E27FC236}">
                <a16:creationId xmlns:a16="http://schemas.microsoft.com/office/drawing/2014/main" id="{A27C585D-633D-402C-BEBB-8B18C46CFF0F}"/>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A supported connection can be short; deeper paths need a reason</a:t>
            </a:r>
          </a:p>
        </p:txBody>
      </p:sp>
      <p:sp>
        <p:nvSpPr>
          <p:cNvPr id="3" name="Rectangle: Rounded Corners 2">
            <a:extLst>
              <a:ext uri="{FF2B5EF4-FFF2-40B4-BE49-F238E27FC236}">
                <a16:creationId xmlns:a16="http://schemas.microsoft.com/office/drawing/2014/main" id="{322C50AF-97F7-4D04-909B-EB76C4906AFB}"/>
              </a:ext>
            </a:extLst>
          </p:cNvPr>
          <p:cNvSpPr>
            <a:spLocks noGrp="1"/>
          </p:cNvSpPr>
          <p:nvPr/>
        </p:nvSpPr>
        <p:spPr>
          <a:xfrm>
            <a:off x="619125" y="1571625"/>
            <a:ext cx="2476500" cy="619125"/>
          </a:xfrm>
          <a:prstGeom prst="roundRect">
            <a:avLst>
              <a:gd name="adj" fmla="val 1538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Observed finding</a:t>
            </a:r>
          </a:p>
        </p:txBody>
      </p:sp>
      <p:sp>
        <p:nvSpPr>
          <p:cNvPr id="4" name="Rectangle: Rounded Corners 3">
            <a:extLst>
              <a:ext uri="{FF2B5EF4-FFF2-40B4-BE49-F238E27FC236}">
                <a16:creationId xmlns:a16="http://schemas.microsoft.com/office/drawing/2014/main" id="{ADFC08CF-9DB7-4D08-A393-75A245A62322}"/>
              </a:ext>
            </a:extLst>
          </p:cNvPr>
          <p:cNvSpPr>
            <a:spLocks noGrp="1"/>
          </p:cNvSpPr>
          <p:nvPr/>
        </p:nvSpPr>
        <p:spPr>
          <a:xfrm>
            <a:off x="4286250" y="1571625"/>
            <a:ext cx="2857500" cy="619125"/>
          </a:xfrm>
          <a:prstGeom prst="roundRect">
            <a:avLst>
              <a:gd name="adj" fmla="val 1538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Possible condition</a:t>
            </a:r>
          </a:p>
        </p:txBody>
      </p:sp>
      <p:sp>
        <p:nvSpPr>
          <p:cNvPr id="5" name="Rectangle: Rounded Corners 4">
            <a:extLst>
              <a:ext uri="{FF2B5EF4-FFF2-40B4-BE49-F238E27FC236}">
                <a16:creationId xmlns:a16="http://schemas.microsoft.com/office/drawing/2014/main" id="{DED09E2C-7FDC-42F7-902C-3EDBF4F89FC0}"/>
              </a:ext>
            </a:extLst>
          </p:cNvPr>
          <p:cNvSpPr>
            <a:spLocks noGrp="1"/>
          </p:cNvSpPr>
          <p:nvPr/>
        </p:nvSpPr>
        <p:spPr>
          <a:xfrm>
            <a:off x="8572500" y="1571625"/>
            <a:ext cx="2952750" cy="619125"/>
          </a:xfrm>
          <a:prstGeom prst="roundRect">
            <a:avLst>
              <a:gd name="adj" fmla="val 15385"/>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Source passage</a:t>
            </a:r>
          </a:p>
          <a:p>
            <a:pPr algn="ctr">
              <a:defRPr sz="1650" b="0">
                <a:solidFill>
                  <a:srgbClr val="17243A"/>
                </a:solidFill>
                <a:latin typeface="Arial"/>
                <a:ea typeface="Arial"/>
                <a:cs typeface="Arial"/>
              </a:defRPr>
            </a:pPr>
            <a:r>
              <a:rPr sz="1650" b="0">
                <a:solidFill>
                  <a:srgbClr val="17243A"/>
                </a:solidFill>
                <a:latin typeface="Arial"/>
                <a:ea typeface="Arial"/>
                <a:cs typeface="Arial"/>
              </a:rPr>
              <a:t>Qualifier + provenance</a:t>
            </a:r>
          </a:p>
        </p:txBody>
      </p:sp>
      <p:sp>
        <p:nvSpPr>
          <p:cNvPr id="6" name="Rectangle: Rounded Corners 5">
            <a:extLst>
              <a:ext uri="{FF2B5EF4-FFF2-40B4-BE49-F238E27FC236}">
                <a16:creationId xmlns:a16="http://schemas.microsoft.com/office/drawing/2014/main" id="{3F2C6D1E-617E-4A2B-BB51-A5EE99E8FCFC}"/>
              </a:ext>
            </a:extLst>
          </p:cNvPr>
          <p:cNvSpPr>
            <a:spLocks noGrp="1"/>
          </p:cNvSpPr>
          <p:nvPr/>
        </p:nvSpPr>
        <p:spPr>
          <a:xfrm>
            <a:off x="619125" y="3333750"/>
            <a:ext cx="2476500" cy="857250"/>
          </a:xfrm>
          <a:prstGeom prst="roundRect">
            <a:avLst>
              <a:gd name="adj" fmla="val 11111"/>
            </a:avLst>
          </a:prstGeom>
          <a:solidFill>
            <a:srgbClr val="EDF5E8"/>
          </a:solidFill>
          <a:ln w="14288">
            <a:solidFill>
              <a:srgbClr val="71A266"/>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Evidence insufficient?</a:t>
            </a:r>
          </a:p>
        </p:txBody>
      </p:sp>
      <p:sp>
        <p:nvSpPr>
          <p:cNvPr id="7" name="Rectangle: Rounded Corners 6">
            <a:extLst>
              <a:ext uri="{FF2B5EF4-FFF2-40B4-BE49-F238E27FC236}">
                <a16:creationId xmlns:a16="http://schemas.microsoft.com/office/drawing/2014/main" id="{CD65FD5C-91AC-45E4-8A4B-5944619D41D7}"/>
              </a:ext>
            </a:extLst>
          </p:cNvPr>
          <p:cNvSpPr>
            <a:spLocks noGrp="1"/>
          </p:cNvSpPr>
          <p:nvPr/>
        </p:nvSpPr>
        <p:spPr>
          <a:xfrm>
            <a:off x="3810000" y="3333750"/>
            <a:ext cx="2952750" cy="857250"/>
          </a:xfrm>
          <a:prstGeom prst="roundRect">
            <a:avLst>
              <a:gd name="adj" fmla="val 11111"/>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Runtime recovery grant</a:t>
            </a:r>
          </a:p>
          <a:p>
            <a:pPr algn="ctr">
              <a:defRPr sz="1650" b="0">
                <a:solidFill>
                  <a:srgbClr val="17243A"/>
                </a:solidFill>
                <a:latin typeface="Arial"/>
                <a:ea typeface="Arial"/>
                <a:cs typeface="Arial"/>
              </a:defRPr>
            </a:pPr>
            <a:r>
              <a:rPr sz="1650" b="0">
                <a:solidFill>
                  <a:srgbClr val="17243A"/>
                </a:solidFill>
                <a:latin typeface="Arial"/>
                <a:ea typeface="Arial"/>
                <a:cs typeface="Arial"/>
              </a:rPr>
              <a:t>One per run</a:t>
            </a:r>
          </a:p>
        </p:txBody>
      </p:sp>
      <p:sp>
        <p:nvSpPr>
          <p:cNvPr id="8" name="Rectangle: Rounded Corners 7">
            <a:extLst>
              <a:ext uri="{FF2B5EF4-FFF2-40B4-BE49-F238E27FC236}">
                <a16:creationId xmlns:a16="http://schemas.microsoft.com/office/drawing/2014/main" id="{EE370BD4-556E-450F-9F1C-0538BC02A507}"/>
              </a:ext>
            </a:extLst>
          </p:cNvPr>
          <p:cNvSpPr>
            <a:spLocks noGrp="1"/>
          </p:cNvSpPr>
          <p:nvPr/>
        </p:nvSpPr>
        <p:spPr>
          <a:xfrm>
            <a:off x="7524750" y="3333750"/>
            <a:ext cx="4000500" cy="857250"/>
          </a:xfrm>
          <a:prstGeom prst="roundRect">
            <a:avLst>
              <a:gd name="adj" fmla="val 11111"/>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recovery generator</a:t>
            </a:r>
          </a:p>
          <a:p>
            <a:pPr algn="ctr">
              <a:defRPr sz="1650" b="0">
                <a:solidFill>
                  <a:srgbClr val="17243A"/>
                </a:solidFill>
                <a:latin typeface="Arial"/>
                <a:ea typeface="Arial"/>
                <a:cs typeface="Arial"/>
              </a:defRPr>
            </a:pPr>
            <a:r>
              <a:rPr sz="1650" b="0">
                <a:solidFill>
                  <a:srgbClr val="17243A"/>
                </a:solidFill>
                <a:latin typeface="Arial"/>
                <a:ea typeface="Arial"/>
                <a:cs typeface="Arial"/>
              </a:rPr>
              <a:t>Paraphrase + step-back + HyDE</a:t>
            </a:r>
          </a:p>
        </p:txBody>
      </p:sp>
      <p:sp>
        <p:nvSpPr>
          <p:cNvPr id="9" name="Rectangle: Rounded Corners 8">
            <a:extLst>
              <a:ext uri="{FF2B5EF4-FFF2-40B4-BE49-F238E27FC236}">
                <a16:creationId xmlns:a16="http://schemas.microsoft.com/office/drawing/2014/main" id="{7AA2FD6D-38DC-4752-B470-7B4C4C493CD3}"/>
              </a:ext>
            </a:extLst>
          </p:cNvPr>
          <p:cNvSpPr>
            <a:spLocks noGrp="1"/>
          </p:cNvSpPr>
          <p:nvPr/>
        </p:nvSpPr>
        <p:spPr>
          <a:xfrm>
            <a:off x="3810000" y="4762500"/>
            <a:ext cx="7715250" cy="619125"/>
          </a:xfrm>
          <a:prstGeom prst="roundRect">
            <a:avLst>
              <a:gd name="adj" fmla="val 15385"/>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Retrieve real sources / rerank / reassess</a:t>
            </a:r>
          </a:p>
        </p:txBody>
      </p:sp>
      <p:sp>
        <p:nvSpPr>
          <p:cNvPr id="15" name="Rectangle 14">
            <a:extLst>
              <a:ext uri="{FF2B5EF4-FFF2-40B4-BE49-F238E27FC236}">
                <a16:creationId xmlns:a16="http://schemas.microsoft.com/office/drawing/2014/main" id="{A9E9ADDE-3762-4DC5-A801-090024B7B3BC}"/>
              </a:ext>
            </a:extLst>
          </p:cNvPr>
          <p:cNvSpPr>
            <a:spLocks noGrp="1"/>
          </p:cNvSpPr>
          <p:nvPr/>
        </p:nvSpPr>
        <p:spPr>
          <a:xfrm>
            <a:off x="619125" y="2428875"/>
            <a:ext cx="10858500" cy="381000"/>
          </a:xfrm>
          <a:prstGeom prst="rect">
            <a:avLst/>
          </a:prstGeom>
          <a:noFill/>
          <a:ln w="0">
            <a:noFill/>
          </a:ln>
        </p:spPr>
        <p:txBody>
          <a:bodyPr wrap="square" lIns="0" tIns="0" rIns="0" bIns="0" anchor="ctr">
            <a:noAutofit/>
          </a:bodyPr>
          <a:lstStyle>
            <a:defPPr algn="l">
              <a:defRPr sz="1800" b="0">
                <a:solidFill>
                  <a:srgbClr val="17243A"/>
                </a:solidFill>
                <a:latin typeface="Arial"/>
                <a:ea typeface="Arial"/>
                <a:cs typeface="Arial"/>
              </a:defRPr>
            </a:defPPr>
            <a:lvl1pPr algn="l">
              <a:defRPr sz="1800" b="0">
                <a:solidFill>
                  <a:srgbClr val="17243A"/>
                </a:solidFill>
                <a:latin typeface="Arial"/>
                <a:ea typeface="Arial"/>
                <a:cs typeface="Arial"/>
              </a:defRPr>
            </a:lvl1pPr>
            <a:lvl2pPr algn="l">
              <a:defRPr sz="1800" b="0">
                <a:solidFill>
                  <a:srgbClr val="17243A"/>
                </a:solidFill>
                <a:latin typeface="Arial"/>
                <a:ea typeface="Arial"/>
                <a:cs typeface="Arial"/>
              </a:defRPr>
            </a:lvl2pPr>
            <a:lvl3pPr algn="l">
              <a:defRPr sz="1800" b="0">
                <a:solidFill>
                  <a:srgbClr val="17243A"/>
                </a:solidFill>
                <a:latin typeface="Arial"/>
                <a:ea typeface="Arial"/>
                <a:cs typeface="Arial"/>
              </a:defRPr>
            </a:lvl3pPr>
            <a:lvl4pPr algn="l">
              <a:defRPr sz="1800" b="0">
                <a:solidFill>
                  <a:srgbClr val="17243A"/>
                </a:solidFill>
                <a:latin typeface="Arial"/>
                <a:ea typeface="Arial"/>
                <a:cs typeface="Arial"/>
              </a:defRPr>
            </a:lvl4pPr>
            <a:lvl5pPr algn="l">
              <a:defRPr sz="1800" b="0">
                <a:solidFill>
                  <a:srgbClr val="17243A"/>
                </a:solidFill>
                <a:latin typeface="Arial"/>
                <a:ea typeface="Arial"/>
                <a:cs typeface="Arial"/>
              </a:defRPr>
            </a:lvl5pPr>
            <a:lvl6pPr algn="l">
              <a:defRPr sz="1800" b="0">
                <a:solidFill>
                  <a:srgbClr val="17243A"/>
                </a:solidFill>
                <a:latin typeface="Arial"/>
                <a:ea typeface="Arial"/>
                <a:cs typeface="Arial"/>
              </a:defRPr>
            </a:lvl6pPr>
            <a:lvl7pPr algn="l">
              <a:defRPr sz="1800" b="0">
                <a:solidFill>
                  <a:srgbClr val="17243A"/>
                </a:solidFill>
                <a:latin typeface="Arial"/>
                <a:ea typeface="Arial"/>
                <a:cs typeface="Arial"/>
              </a:defRPr>
            </a:lvl7pPr>
            <a:lvl8pPr algn="l">
              <a:defRPr sz="1800" b="0">
                <a:solidFill>
                  <a:srgbClr val="17243A"/>
                </a:solidFill>
                <a:latin typeface="Arial"/>
                <a:ea typeface="Arial"/>
                <a:cs typeface="Arial"/>
              </a:defRPr>
            </a:lvl8pPr>
            <a:lvl9pPr algn="l">
              <a:defRPr sz="1800" b="0">
                <a:solidFill>
                  <a:srgbClr val="17243A"/>
                </a:solidFill>
                <a:latin typeface="Arial"/>
                <a:ea typeface="Arial"/>
                <a:cs typeface="Arial"/>
              </a:defRPr>
            </a:lvl9pPr>
          </a:lstStyle>
          <a:p>
            <a:pPr algn="l">
              <a:defRPr sz="1800" b="0">
                <a:solidFill>
                  <a:srgbClr val="17243A"/>
                </a:solidFill>
                <a:latin typeface="Arial"/>
                <a:ea typeface="Arial"/>
                <a:cs typeface="Arial"/>
              </a:defRPr>
            </a:pPr>
            <a:r>
              <a:rPr sz="1800" b="0">
                <a:solidFill>
                  <a:srgbClr val="17243A"/>
                </a:solidFill>
                <a:latin typeface="Arial"/>
                <a:ea typeface="Arial"/>
                <a:cs typeface="Arial"/>
              </a:rPr>
              <a:t>Allowlisted relationships, cycle prevention, node/edge/time limits</a:t>
            </a:r>
          </a:p>
        </p:txBody>
      </p:sp>
      <p:sp>
        <p:nvSpPr>
          <p:cNvPr id="16" name="Rectangle 15">
            <a:extLst>
              <a:ext uri="{FF2B5EF4-FFF2-40B4-BE49-F238E27FC236}">
                <a16:creationId xmlns:a16="http://schemas.microsoft.com/office/drawing/2014/main" id="{237EC81E-966A-45F8-92B4-9290A7556649}"/>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STOP RULE</a:t>
            </a:r>
          </a:p>
        </p:txBody>
      </p:sp>
      <p:sp>
        <p:nvSpPr>
          <p:cNvPr id="17" name="Rectangle 16">
            <a:extLst>
              <a:ext uri="{FF2B5EF4-FFF2-40B4-BE49-F238E27FC236}">
                <a16:creationId xmlns:a16="http://schemas.microsoft.com/office/drawing/2014/main" id="{C1431148-436C-41C6-A42D-7988A757E7A9}"/>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After one recovery round: qualified explanation, clarification or human review</a:t>
            </a:r>
          </a:p>
        </p:txBody>
      </p:sp>
      <p:sp>
        <p:nvSpPr>
          <p:cNvPr id="18" name="Rectangle: Rounded Corners 17">
            <a:extLst>
              <a:ext uri="{FF2B5EF4-FFF2-40B4-BE49-F238E27FC236}">
                <a16:creationId xmlns:a16="http://schemas.microsoft.com/office/drawing/2014/main" id="{65C60A54-1F37-4E42-87C8-9E645A9123B8}"/>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9" name="Rectangle 18">
            <a:extLst>
              <a:ext uri="{FF2B5EF4-FFF2-40B4-BE49-F238E27FC236}">
                <a16:creationId xmlns:a16="http://schemas.microsoft.com/office/drawing/2014/main" id="{EA3EBDF6-34DF-4659-A9FF-C12014BD9745}"/>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0" name="Rectangle: Rounded Corners 19">
            <a:extLst>
              <a:ext uri="{FF2B5EF4-FFF2-40B4-BE49-F238E27FC236}">
                <a16:creationId xmlns:a16="http://schemas.microsoft.com/office/drawing/2014/main" id="{FE7635DD-8343-4F58-8A3A-7EE9B6473D88}"/>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1" name="Rectangle 20">
            <a:extLst>
              <a:ext uri="{FF2B5EF4-FFF2-40B4-BE49-F238E27FC236}">
                <a16:creationId xmlns:a16="http://schemas.microsoft.com/office/drawing/2014/main" id="{72F0D70F-C20C-413D-BBD5-DA0711648578}"/>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2" name="Rectangle: Rounded Corners 21">
            <a:extLst>
              <a:ext uri="{FF2B5EF4-FFF2-40B4-BE49-F238E27FC236}">
                <a16:creationId xmlns:a16="http://schemas.microsoft.com/office/drawing/2014/main" id="{8434A084-559B-4858-BC34-8403B9F57E68}"/>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3" name="Rectangle 22">
            <a:extLst>
              <a:ext uri="{FF2B5EF4-FFF2-40B4-BE49-F238E27FC236}">
                <a16:creationId xmlns:a16="http://schemas.microsoft.com/office/drawing/2014/main" id="{F98738AE-355F-4C04-9832-05C0CB1AEBBB}"/>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4" name="Rectangle: Rounded Corners 23">
            <a:extLst>
              <a:ext uri="{FF2B5EF4-FFF2-40B4-BE49-F238E27FC236}">
                <a16:creationId xmlns:a16="http://schemas.microsoft.com/office/drawing/2014/main" id="{8CFF4E9C-67D5-4BE9-99C1-C902D234E951}"/>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5" name="Rectangle 24">
            <a:extLst>
              <a:ext uri="{FF2B5EF4-FFF2-40B4-BE49-F238E27FC236}">
                <a16:creationId xmlns:a16="http://schemas.microsoft.com/office/drawing/2014/main" id="{CF9E76E8-E3B7-4ECF-9BB5-F68708BC8DA7}"/>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6" name="Rectangle: Rounded Corners 25">
            <a:extLst>
              <a:ext uri="{FF2B5EF4-FFF2-40B4-BE49-F238E27FC236}">
                <a16:creationId xmlns:a16="http://schemas.microsoft.com/office/drawing/2014/main" id="{E3346BBF-F8FC-438D-AC70-A5A95301A42F}"/>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7" name="Rectangle 26">
            <a:extLst>
              <a:ext uri="{FF2B5EF4-FFF2-40B4-BE49-F238E27FC236}">
                <a16:creationId xmlns:a16="http://schemas.microsoft.com/office/drawing/2014/main" id="{5945CD5F-67B4-44BB-BDDA-AFC844FC1341}"/>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8" name="Rectangle 27">
            <a:extLst>
              <a:ext uri="{FF2B5EF4-FFF2-40B4-BE49-F238E27FC236}">
                <a16:creationId xmlns:a16="http://schemas.microsoft.com/office/drawing/2014/main" id="{62BC841E-929C-473D-8967-91299B034324}"/>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09</a:t>
            </a:r>
          </a:p>
        </p:txBody>
      </p:sp>
    </p:spTree>
    <p:extLst>
      <p:ext uri="{BB962C8B-B14F-4D97-AF65-F5344CB8AC3E}">
        <p14:creationId xmlns:p14="http://schemas.microsoft.com/office/powerpoint/2010/main" val="207403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 name="Connector: Elbow 14">
            <a:extLst>
              <a:ext uri="{FF2B5EF4-FFF2-40B4-BE49-F238E27FC236}">
                <a16:creationId xmlns:a16="http://schemas.microsoft.com/office/drawing/2014/main" id="{2CDE534F-AE8A-4C05-ADE0-8D6F96A9E66B}"/>
              </a:ext>
            </a:extLst>
          </p:cNvPr>
          <p:cNvCxnSpPr>
            <a:stCxn id="5" idx="2"/>
            <a:endCxn id="9" idx="0"/>
          </p:cNvCxnSpPr>
          <p:nvPr/>
        </p:nvCxnSpPr>
        <p:spPr>
          <a:xfrm>
            <a:off x="10048875" y="2381250"/>
            <a:ext cx="500063" cy="1333500"/>
          </a:xfrm>
          <a:prstGeom prst="bentConnector4">
            <a:avLst>
              <a:gd name="adj1" fmla="val 0"/>
              <a:gd name="adj2" fmla="val 50000"/>
            </a:avLst>
          </a:prstGeom>
          <a:ln w="16193">
            <a:solidFill>
              <a:srgbClr val="66758A"/>
            </a:solidFill>
            <a:prstDash val="solid"/>
            <a:tailEnd type="triangle" w="sm" len="sm"/>
          </a:ln>
        </p:spPr>
      </p:cxnSp>
      <p:cxnSp>
        <p:nvCxnSpPr>
          <p:cNvPr id="14" name="Connector: Elbow 13">
            <a:extLst>
              <a:ext uri="{FF2B5EF4-FFF2-40B4-BE49-F238E27FC236}">
                <a16:creationId xmlns:a16="http://schemas.microsoft.com/office/drawing/2014/main" id="{9336BF91-9576-4820-915A-084CBE34C4CD}"/>
              </a:ext>
            </a:extLst>
          </p:cNvPr>
          <p:cNvCxnSpPr>
            <a:stCxn id="5" idx="2"/>
            <a:endCxn id="8" idx="0"/>
          </p:cNvCxnSpPr>
          <p:nvPr/>
        </p:nvCxnSpPr>
        <p:spPr>
          <a:xfrm flipH="1">
            <a:off x="7596188" y="2381250"/>
            <a:ext cx="2452688" cy="1333500"/>
          </a:xfrm>
          <a:prstGeom prst="bentConnector4">
            <a:avLst>
              <a:gd name="adj1" fmla="val 0"/>
              <a:gd name="adj2" fmla="val 50000"/>
            </a:avLst>
          </a:prstGeom>
          <a:ln w="16193">
            <a:solidFill>
              <a:srgbClr val="66758A"/>
            </a:solidFill>
            <a:prstDash val="solid"/>
            <a:tailEnd type="triangle" w="sm" len="sm"/>
          </a:ln>
        </p:spPr>
      </p:cxnSp>
      <p:cxnSp>
        <p:nvCxnSpPr>
          <p:cNvPr id="13" name="Connector: Elbow 12">
            <a:extLst>
              <a:ext uri="{FF2B5EF4-FFF2-40B4-BE49-F238E27FC236}">
                <a16:creationId xmlns:a16="http://schemas.microsoft.com/office/drawing/2014/main" id="{9D879E7C-0063-4CB2-A42B-0FD6F9966DAE}"/>
              </a:ext>
            </a:extLst>
          </p:cNvPr>
          <p:cNvCxnSpPr>
            <a:stCxn id="5" idx="2"/>
            <a:endCxn id="7" idx="0"/>
          </p:cNvCxnSpPr>
          <p:nvPr/>
        </p:nvCxnSpPr>
        <p:spPr>
          <a:xfrm flipH="1">
            <a:off x="4643438" y="2381250"/>
            <a:ext cx="5405438" cy="1333500"/>
          </a:xfrm>
          <a:prstGeom prst="bentConnector4">
            <a:avLst>
              <a:gd name="adj1" fmla="val 0"/>
              <a:gd name="adj2" fmla="val 50000"/>
            </a:avLst>
          </a:prstGeom>
          <a:ln w="16193">
            <a:solidFill>
              <a:srgbClr val="66758A"/>
            </a:solidFill>
            <a:prstDash val="solid"/>
            <a:tailEnd type="triangle" w="sm" len="sm"/>
          </a:ln>
        </p:spPr>
      </p:cxnSp>
      <p:cxnSp>
        <p:nvCxnSpPr>
          <p:cNvPr id="12" name="Connector: Elbow 11">
            <a:extLst>
              <a:ext uri="{FF2B5EF4-FFF2-40B4-BE49-F238E27FC236}">
                <a16:creationId xmlns:a16="http://schemas.microsoft.com/office/drawing/2014/main" id="{F59936EB-B44F-41F0-9263-65A532EA3C4B}"/>
              </a:ext>
            </a:extLst>
          </p:cNvPr>
          <p:cNvCxnSpPr>
            <a:stCxn id="5" idx="2"/>
            <a:endCxn id="6" idx="0"/>
          </p:cNvCxnSpPr>
          <p:nvPr/>
        </p:nvCxnSpPr>
        <p:spPr>
          <a:xfrm flipH="1">
            <a:off x="1690688" y="2381250"/>
            <a:ext cx="8358188" cy="1333500"/>
          </a:xfrm>
          <a:prstGeom prst="bentConnector4">
            <a:avLst>
              <a:gd name="adj1" fmla="val 0"/>
              <a:gd name="adj2" fmla="val 50000"/>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B52E11A7-054A-49F0-8553-D93C2BB4A6A0}"/>
              </a:ext>
            </a:extLst>
          </p:cNvPr>
          <p:cNvCxnSpPr>
            <a:stCxn id="4" idx="3"/>
            <a:endCxn id="5" idx="1"/>
          </p:cNvCxnSpPr>
          <p:nvPr/>
        </p:nvCxnSpPr>
        <p:spPr>
          <a:xfrm>
            <a:off x="7524750" y="2000250"/>
            <a:ext cx="1047750"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1516AEBB-20B4-4699-972F-AEE915EA2B79}"/>
              </a:ext>
            </a:extLst>
          </p:cNvPr>
          <p:cNvCxnSpPr>
            <a:stCxn id="3" idx="3"/>
            <a:endCxn id="4" idx="1"/>
          </p:cNvCxnSpPr>
          <p:nvPr/>
        </p:nvCxnSpPr>
        <p:spPr>
          <a:xfrm>
            <a:off x="3286125" y="2000250"/>
            <a:ext cx="809625" cy="0"/>
          </a:xfrm>
          <a:prstGeom prst="straightConnector1">
            <a:avLst/>
          </a:prstGeom>
          <a:ln w="16193">
            <a:solidFill>
              <a:srgbClr val="66758A"/>
            </a:solidFill>
            <a:prstDash val="solid"/>
            <a:tailEnd type="triangle" w="sm" len="sm"/>
          </a:ln>
        </p:spPr>
      </p:cxnSp>
      <p:sp>
        <p:nvSpPr>
          <p:cNvPr id="29" name="Rectangle 28">
            <a:extLst>
              <a:ext uri="{FF2B5EF4-FFF2-40B4-BE49-F238E27FC236}">
                <a16:creationId xmlns:a16="http://schemas.microsoft.com/office/drawing/2014/main" id="{331086FF-8D1F-4470-B7CE-223FC3A1495E}"/>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04  Doctor synthesis and evidence review</a:t>
            </a:r>
          </a:p>
        </p:txBody>
      </p:sp>
      <p:sp>
        <p:nvSpPr>
          <p:cNvPr id="2" name="Rectangle 1">
            <a:extLst>
              <a:ext uri="{FF2B5EF4-FFF2-40B4-BE49-F238E27FC236}">
                <a16:creationId xmlns:a16="http://schemas.microsoft.com/office/drawing/2014/main" id="{BDE8C123-3694-4039-808F-CE3168E90AB1}"/>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The Doctor evaluates support across the specialist packages</a:t>
            </a:r>
          </a:p>
        </p:txBody>
      </p:sp>
      <p:sp>
        <p:nvSpPr>
          <p:cNvPr id="3" name="Rectangle: Rounded Corners 2">
            <a:extLst>
              <a:ext uri="{FF2B5EF4-FFF2-40B4-BE49-F238E27FC236}">
                <a16:creationId xmlns:a16="http://schemas.microsoft.com/office/drawing/2014/main" id="{BA313039-3E2C-472B-9062-4F875C5B5B8B}"/>
              </a:ext>
            </a:extLst>
          </p:cNvPr>
          <p:cNvSpPr>
            <a:spLocks noGrp="1"/>
          </p:cNvSpPr>
          <p:nvPr/>
        </p:nvSpPr>
        <p:spPr>
          <a:xfrm>
            <a:off x="571500" y="1619250"/>
            <a:ext cx="2714625" cy="762000"/>
          </a:xfrm>
          <a:prstGeom prst="roundRect">
            <a:avLst>
              <a:gd name="adj" fmla="val 12500"/>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Evidence packages</a:t>
            </a:r>
          </a:p>
          <a:p>
            <a:pPr algn="ctr">
              <a:defRPr sz="1650" b="0">
                <a:solidFill>
                  <a:srgbClr val="17243A"/>
                </a:solidFill>
                <a:latin typeface="Arial"/>
                <a:ea typeface="Arial"/>
                <a:cs typeface="Arial"/>
              </a:defRPr>
            </a:pPr>
            <a:r>
              <a:rPr sz="1650" b="0">
                <a:solidFill>
                  <a:srgbClr val="17243A"/>
                </a:solidFill>
                <a:latin typeface="Arial"/>
                <a:ea typeface="Arial"/>
                <a:cs typeface="Arial"/>
              </a:rPr>
              <a:t>Include failed workers</a:t>
            </a:r>
          </a:p>
        </p:txBody>
      </p:sp>
      <p:sp>
        <p:nvSpPr>
          <p:cNvPr id="4" name="Rectangle: Rounded Corners 3">
            <a:extLst>
              <a:ext uri="{FF2B5EF4-FFF2-40B4-BE49-F238E27FC236}">
                <a16:creationId xmlns:a16="http://schemas.microsoft.com/office/drawing/2014/main" id="{1505D6BB-81A2-4560-B3DF-5DC92D41C0E6}"/>
              </a:ext>
            </a:extLst>
          </p:cNvPr>
          <p:cNvSpPr>
            <a:spLocks noGrp="1"/>
          </p:cNvSpPr>
          <p:nvPr/>
        </p:nvSpPr>
        <p:spPr>
          <a:xfrm>
            <a:off x="4095750" y="1619250"/>
            <a:ext cx="3429000" cy="762000"/>
          </a:xfrm>
          <a:prstGeom prst="roundRect">
            <a:avLst>
              <a:gd name="adj" fmla="val 12500"/>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Doctor review</a:t>
            </a:r>
          </a:p>
          <a:p>
            <a:pPr algn="ctr">
              <a:defRPr sz="1650" b="0">
                <a:solidFill>
                  <a:srgbClr val="17243A"/>
                </a:solidFill>
                <a:latin typeface="Arial"/>
                <a:ea typeface="Arial"/>
                <a:cs typeface="Arial"/>
              </a:defRPr>
            </a:pPr>
            <a:r>
              <a:rPr sz="1650" b="0">
                <a:solidFill>
                  <a:srgbClr val="17243A"/>
                </a:solidFill>
                <a:latin typeface="Arial"/>
                <a:ea typeface="Arial"/>
                <a:cs typeface="Arial"/>
              </a:rPr>
              <a:t>Support + contradictions</a:t>
            </a:r>
          </a:p>
        </p:txBody>
      </p:sp>
      <p:sp>
        <p:nvSpPr>
          <p:cNvPr id="5" name="Rectangle: Rounded Corners 4">
            <a:extLst>
              <a:ext uri="{FF2B5EF4-FFF2-40B4-BE49-F238E27FC236}">
                <a16:creationId xmlns:a16="http://schemas.microsoft.com/office/drawing/2014/main" id="{68F2680D-F499-4DD5-AF1A-4841BC8C388A}"/>
              </a:ext>
            </a:extLst>
          </p:cNvPr>
          <p:cNvSpPr>
            <a:spLocks noGrp="1"/>
          </p:cNvSpPr>
          <p:nvPr/>
        </p:nvSpPr>
        <p:spPr>
          <a:xfrm>
            <a:off x="8572500" y="1619250"/>
            <a:ext cx="2952750" cy="762000"/>
          </a:xfrm>
          <a:prstGeom prst="roundRect">
            <a:avLst>
              <a:gd name="adj" fmla="val 12500"/>
            </a:avLst>
          </a:prstGeom>
          <a:solidFill>
            <a:srgbClr val="EDF5E8"/>
          </a:solidFill>
          <a:ln w="14288">
            <a:solidFill>
              <a:srgbClr val="71A266"/>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Runtime decision gate</a:t>
            </a:r>
          </a:p>
        </p:txBody>
      </p:sp>
      <p:sp>
        <p:nvSpPr>
          <p:cNvPr id="6" name="Rectangle: Rounded Corners 5">
            <a:extLst>
              <a:ext uri="{FF2B5EF4-FFF2-40B4-BE49-F238E27FC236}">
                <a16:creationId xmlns:a16="http://schemas.microsoft.com/office/drawing/2014/main" id="{D22DDC39-A334-4E7B-A567-7C9D0CF14D9C}"/>
              </a:ext>
            </a:extLst>
          </p:cNvPr>
          <p:cNvSpPr>
            <a:spLocks noGrp="1"/>
          </p:cNvSpPr>
          <p:nvPr/>
        </p:nvSpPr>
        <p:spPr>
          <a:xfrm>
            <a:off x="523875" y="3714750"/>
            <a:ext cx="2333625" cy="952500"/>
          </a:xfrm>
          <a:prstGeom prst="roundRect">
            <a:avLst>
              <a:gd name="adj" fmla="val 10000"/>
            </a:avLst>
          </a:prstGeom>
          <a:solidFill>
            <a:srgbClr val="EDF5E8"/>
          </a:solidFill>
          <a:ln w="14288">
            <a:solidFill>
              <a:srgbClr val="71A266"/>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Proceed</a:t>
            </a:r>
          </a:p>
          <a:p>
            <a:pPr algn="ctr">
              <a:defRPr sz="1725" b="0">
                <a:solidFill>
                  <a:srgbClr val="17243A"/>
                </a:solidFill>
                <a:latin typeface="Arial"/>
                <a:ea typeface="Arial"/>
                <a:cs typeface="Arial"/>
              </a:defRPr>
            </a:pPr>
            <a:r>
              <a:rPr sz="1725" b="0">
                <a:solidFill>
                  <a:srgbClr val="17243A"/>
                </a:solidFill>
                <a:latin typeface="Arial"/>
                <a:ea typeface="Arial"/>
                <a:cs typeface="Arial"/>
              </a:rPr>
              <a:t>Permitted explanation</a:t>
            </a:r>
          </a:p>
        </p:txBody>
      </p:sp>
      <p:sp>
        <p:nvSpPr>
          <p:cNvPr id="7" name="Rectangle: Rounded Corners 6">
            <a:extLst>
              <a:ext uri="{FF2B5EF4-FFF2-40B4-BE49-F238E27FC236}">
                <a16:creationId xmlns:a16="http://schemas.microsoft.com/office/drawing/2014/main" id="{5ECBE318-6C64-47C0-8584-4D4569AD7ED9}"/>
              </a:ext>
            </a:extLst>
          </p:cNvPr>
          <p:cNvSpPr>
            <a:spLocks noGrp="1"/>
          </p:cNvSpPr>
          <p:nvPr/>
        </p:nvSpPr>
        <p:spPr>
          <a:xfrm>
            <a:off x="3476625" y="3714750"/>
            <a:ext cx="2333625" cy="952500"/>
          </a:xfrm>
          <a:prstGeom prst="roundRect">
            <a:avLst>
              <a:gd name="adj" fmla="val 10000"/>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Retrieve more</a:t>
            </a:r>
          </a:p>
          <a:p>
            <a:pPr algn="ctr">
              <a:defRPr sz="1725" b="0">
                <a:solidFill>
                  <a:srgbClr val="17243A"/>
                </a:solidFill>
                <a:latin typeface="Arial"/>
                <a:ea typeface="Arial"/>
                <a:cs typeface="Arial"/>
              </a:defRPr>
            </a:pPr>
            <a:r>
              <a:rPr sz="1725" b="0">
                <a:solidFill>
                  <a:srgbClr val="17243A"/>
                </a:solidFill>
                <a:latin typeface="Arial"/>
                <a:ea typeface="Arial"/>
                <a:cs typeface="Arial"/>
              </a:rPr>
              <a:t>Only if grant remains</a:t>
            </a:r>
          </a:p>
        </p:txBody>
      </p:sp>
      <p:sp>
        <p:nvSpPr>
          <p:cNvPr id="8" name="Rectangle: Rounded Corners 7">
            <a:extLst>
              <a:ext uri="{FF2B5EF4-FFF2-40B4-BE49-F238E27FC236}">
                <a16:creationId xmlns:a16="http://schemas.microsoft.com/office/drawing/2014/main" id="{3E56E0BF-11EA-44FA-A308-DB9B6AA40192}"/>
              </a:ext>
            </a:extLst>
          </p:cNvPr>
          <p:cNvSpPr>
            <a:spLocks noGrp="1"/>
          </p:cNvSpPr>
          <p:nvPr/>
        </p:nvSpPr>
        <p:spPr>
          <a:xfrm>
            <a:off x="6429375" y="3714750"/>
            <a:ext cx="2333625" cy="952500"/>
          </a:xfrm>
          <a:prstGeom prst="roundRect">
            <a:avLst>
              <a:gd name="adj" fmla="val 10000"/>
            </a:avLst>
          </a:prstGeom>
          <a:solidFill>
            <a:srgbClr val="FFF2DC"/>
          </a:solidFill>
          <a:ln w="14288">
            <a:solidFill>
              <a:srgbClr val="CD9648"/>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Clarify</a:t>
            </a:r>
          </a:p>
          <a:p>
            <a:pPr algn="ctr">
              <a:defRPr sz="1725" b="0">
                <a:solidFill>
                  <a:srgbClr val="17243A"/>
                </a:solidFill>
                <a:latin typeface="Arial"/>
                <a:ea typeface="Arial"/>
                <a:cs typeface="Arial"/>
              </a:defRPr>
            </a:pPr>
            <a:r>
              <a:rPr sz="1725" b="0">
                <a:solidFill>
                  <a:srgbClr val="17243A"/>
                </a:solidFill>
                <a:latin typeface="Arial"/>
                <a:ea typeface="Arial"/>
                <a:cs typeface="Arial"/>
              </a:rPr>
              <a:t>Missing patient facts</a:t>
            </a:r>
          </a:p>
        </p:txBody>
      </p:sp>
      <p:sp>
        <p:nvSpPr>
          <p:cNvPr id="9" name="Rectangle: Rounded Corners 8">
            <a:extLst>
              <a:ext uri="{FF2B5EF4-FFF2-40B4-BE49-F238E27FC236}">
                <a16:creationId xmlns:a16="http://schemas.microsoft.com/office/drawing/2014/main" id="{62DA04AD-23F3-4EC7-86AE-C87F000570FA}"/>
              </a:ext>
            </a:extLst>
          </p:cNvPr>
          <p:cNvSpPr>
            <a:spLocks noGrp="1"/>
          </p:cNvSpPr>
          <p:nvPr/>
        </p:nvSpPr>
        <p:spPr>
          <a:xfrm>
            <a:off x="9382125" y="3714750"/>
            <a:ext cx="2333625" cy="952500"/>
          </a:xfrm>
          <a:prstGeom prst="roundRect">
            <a:avLst>
              <a:gd name="adj" fmla="val 10000"/>
            </a:avLst>
          </a:prstGeom>
          <a:solidFill>
            <a:srgbClr val="FFF2DC"/>
          </a:solidFill>
          <a:ln w="14288">
            <a:solidFill>
              <a:srgbClr val="CD9648"/>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Human review</a:t>
            </a:r>
          </a:p>
          <a:p>
            <a:pPr algn="ctr">
              <a:defRPr sz="1725" b="0">
                <a:solidFill>
                  <a:srgbClr val="17243A"/>
                </a:solidFill>
                <a:latin typeface="Arial"/>
                <a:ea typeface="Arial"/>
                <a:cs typeface="Arial"/>
              </a:defRPr>
            </a:pPr>
            <a:r>
              <a:rPr sz="1725" b="0">
                <a:solidFill>
                  <a:srgbClr val="17243A"/>
                </a:solidFill>
                <a:latin typeface="Arial"/>
                <a:ea typeface="Arial"/>
                <a:cs typeface="Arial"/>
              </a:rPr>
              <a:t>Pause care guidance</a:t>
            </a:r>
          </a:p>
        </p:txBody>
      </p:sp>
      <p:sp>
        <p:nvSpPr>
          <p:cNvPr id="16" name="Rectangle 15">
            <a:extLst>
              <a:ext uri="{FF2B5EF4-FFF2-40B4-BE49-F238E27FC236}">
                <a16:creationId xmlns:a16="http://schemas.microsoft.com/office/drawing/2014/main" id="{6CF4DEF7-93C8-414A-80CB-9246B1AE69D1}"/>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OUTPUT</a:t>
            </a:r>
          </a:p>
        </p:txBody>
      </p:sp>
      <p:sp>
        <p:nvSpPr>
          <p:cNvPr id="17" name="Rectangle 16">
            <a:extLst>
              <a:ext uri="{FF2B5EF4-FFF2-40B4-BE49-F238E27FC236}">
                <a16:creationId xmlns:a16="http://schemas.microsoft.com/office/drawing/2014/main" id="{73E1008F-4801-4DA2-8FD5-68280CAB1290}"/>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DoctorReview: coverage, claims, evidence links, gaps, flags, guidance scope</a:t>
            </a:r>
          </a:p>
        </p:txBody>
      </p:sp>
      <p:sp>
        <p:nvSpPr>
          <p:cNvPr id="18" name="Rectangle: Rounded Corners 17">
            <a:extLst>
              <a:ext uri="{FF2B5EF4-FFF2-40B4-BE49-F238E27FC236}">
                <a16:creationId xmlns:a16="http://schemas.microsoft.com/office/drawing/2014/main" id="{0B6948D0-B274-4EE5-B06F-CA492481E440}"/>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9" name="Rectangle 18">
            <a:extLst>
              <a:ext uri="{FF2B5EF4-FFF2-40B4-BE49-F238E27FC236}">
                <a16:creationId xmlns:a16="http://schemas.microsoft.com/office/drawing/2014/main" id="{F234CE85-F79C-4074-AAAD-A86CD2F3F727}"/>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0" name="Rectangle: Rounded Corners 19">
            <a:extLst>
              <a:ext uri="{FF2B5EF4-FFF2-40B4-BE49-F238E27FC236}">
                <a16:creationId xmlns:a16="http://schemas.microsoft.com/office/drawing/2014/main" id="{3230F832-4789-4B66-B370-FE10E80C7345}"/>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1" name="Rectangle 20">
            <a:extLst>
              <a:ext uri="{FF2B5EF4-FFF2-40B4-BE49-F238E27FC236}">
                <a16:creationId xmlns:a16="http://schemas.microsoft.com/office/drawing/2014/main" id="{FC964F15-4A13-4F64-8B91-8DB041EFFF0E}"/>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2" name="Rectangle: Rounded Corners 21">
            <a:extLst>
              <a:ext uri="{FF2B5EF4-FFF2-40B4-BE49-F238E27FC236}">
                <a16:creationId xmlns:a16="http://schemas.microsoft.com/office/drawing/2014/main" id="{32A8B283-1A76-4B67-8DC4-29B019277509}"/>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3" name="Rectangle 22">
            <a:extLst>
              <a:ext uri="{FF2B5EF4-FFF2-40B4-BE49-F238E27FC236}">
                <a16:creationId xmlns:a16="http://schemas.microsoft.com/office/drawing/2014/main" id="{48566834-DE27-49AD-A850-57BBE91C7580}"/>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4" name="Rectangle: Rounded Corners 23">
            <a:extLst>
              <a:ext uri="{FF2B5EF4-FFF2-40B4-BE49-F238E27FC236}">
                <a16:creationId xmlns:a16="http://schemas.microsoft.com/office/drawing/2014/main" id="{2D529BCD-F7B4-4BC1-8860-59E8EBF31BCD}"/>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5" name="Rectangle 24">
            <a:extLst>
              <a:ext uri="{FF2B5EF4-FFF2-40B4-BE49-F238E27FC236}">
                <a16:creationId xmlns:a16="http://schemas.microsoft.com/office/drawing/2014/main" id="{0C4820F2-B659-43C4-AE32-193E40408E6E}"/>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6" name="Rectangle: Rounded Corners 25">
            <a:extLst>
              <a:ext uri="{FF2B5EF4-FFF2-40B4-BE49-F238E27FC236}">
                <a16:creationId xmlns:a16="http://schemas.microsoft.com/office/drawing/2014/main" id="{6FBABD9B-F6FE-4A50-8A34-E8AA2DF0A822}"/>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7" name="Rectangle 26">
            <a:extLst>
              <a:ext uri="{FF2B5EF4-FFF2-40B4-BE49-F238E27FC236}">
                <a16:creationId xmlns:a16="http://schemas.microsoft.com/office/drawing/2014/main" id="{40D2010D-8ABD-4C23-9B50-050159DCD28E}"/>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8" name="Rectangle 27">
            <a:extLst>
              <a:ext uri="{FF2B5EF4-FFF2-40B4-BE49-F238E27FC236}">
                <a16:creationId xmlns:a16="http://schemas.microsoft.com/office/drawing/2014/main" id="{FB70BD7E-79B3-4D60-A4F4-4B7E01C659AE}"/>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10</a:t>
            </a:r>
          </a:p>
        </p:txBody>
      </p:sp>
    </p:spTree>
    <p:extLst>
      <p:ext uri="{BB962C8B-B14F-4D97-AF65-F5344CB8AC3E}">
        <p14:creationId xmlns:p14="http://schemas.microsoft.com/office/powerpoint/2010/main" val="391367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0" name="Connector: Elbow 9">
            <a:extLst>
              <a:ext uri="{FF2B5EF4-FFF2-40B4-BE49-F238E27FC236}">
                <a16:creationId xmlns:a16="http://schemas.microsoft.com/office/drawing/2014/main" id="{4ACE05D1-FE76-4ECC-9631-51D669238376}"/>
              </a:ext>
            </a:extLst>
          </p:cNvPr>
          <p:cNvCxnSpPr>
            <a:stCxn id="5" idx="1"/>
            <a:endCxn id="6" idx="0"/>
          </p:cNvCxnSpPr>
          <p:nvPr/>
        </p:nvCxnSpPr>
        <p:spPr>
          <a:xfrm flipH="1">
            <a:off x="6096000" y="3357563"/>
            <a:ext cx="1571625" cy="1404938"/>
          </a:xfrm>
          <a:prstGeom prst="bentConnector2">
            <a:avLst/>
          </a:prstGeom>
          <a:ln w="16193">
            <a:solidFill>
              <a:srgbClr val="66758A"/>
            </a:solidFill>
            <a:prstDash val="solid"/>
            <a:tailEnd type="triangle" w="sm" len="sm"/>
          </a:ln>
        </p:spPr>
      </p:cxnSp>
      <p:cxnSp>
        <p:nvCxnSpPr>
          <p:cNvPr id="9" name="Connector: Elbow 8">
            <a:extLst>
              <a:ext uri="{FF2B5EF4-FFF2-40B4-BE49-F238E27FC236}">
                <a16:creationId xmlns:a16="http://schemas.microsoft.com/office/drawing/2014/main" id="{D0A1831A-8144-4228-ACE1-52E933AD3D9F}"/>
              </a:ext>
            </a:extLst>
          </p:cNvPr>
          <p:cNvCxnSpPr>
            <a:stCxn id="4" idx="3"/>
            <a:endCxn id="6" idx="0"/>
          </p:cNvCxnSpPr>
          <p:nvPr/>
        </p:nvCxnSpPr>
        <p:spPr>
          <a:xfrm>
            <a:off x="4524375" y="3357563"/>
            <a:ext cx="1571625" cy="1404938"/>
          </a:xfrm>
          <a:prstGeom prst="bentConnector2">
            <a:avLst/>
          </a:prstGeom>
          <a:ln w="16193">
            <a:solidFill>
              <a:srgbClr val="66758A"/>
            </a:solidFill>
            <a:prstDash val="solid"/>
            <a:tailEnd type="triangle" w="sm" len="sm"/>
          </a:ln>
        </p:spPr>
      </p:cxnSp>
      <p:cxnSp>
        <p:nvCxnSpPr>
          <p:cNvPr id="8" name="Connector: Elbow 7">
            <a:extLst>
              <a:ext uri="{FF2B5EF4-FFF2-40B4-BE49-F238E27FC236}">
                <a16:creationId xmlns:a16="http://schemas.microsoft.com/office/drawing/2014/main" id="{B09C7F55-9860-4DCA-9004-6D6DEB7F2EC5}"/>
              </a:ext>
            </a:extLst>
          </p:cNvPr>
          <p:cNvCxnSpPr>
            <a:stCxn id="3" idx="2"/>
            <a:endCxn id="5" idx="0"/>
          </p:cNvCxnSpPr>
          <p:nvPr/>
        </p:nvCxnSpPr>
        <p:spPr>
          <a:xfrm>
            <a:off x="6096000" y="2143125"/>
            <a:ext cx="3429000" cy="809625"/>
          </a:xfrm>
          <a:prstGeom prst="bentConnector4">
            <a:avLst>
              <a:gd name="adj1" fmla="val 0"/>
              <a:gd name="adj2" fmla="val 50000"/>
            </a:avLst>
          </a:prstGeom>
          <a:ln w="16193">
            <a:solidFill>
              <a:srgbClr val="66758A"/>
            </a:solidFill>
            <a:prstDash val="solid"/>
            <a:tailEnd type="triangle" w="sm" len="sm"/>
          </a:ln>
        </p:spPr>
      </p:cxnSp>
      <p:cxnSp>
        <p:nvCxnSpPr>
          <p:cNvPr id="7" name="Connector: Elbow 6">
            <a:extLst>
              <a:ext uri="{FF2B5EF4-FFF2-40B4-BE49-F238E27FC236}">
                <a16:creationId xmlns:a16="http://schemas.microsoft.com/office/drawing/2014/main" id="{CE528085-B3E2-4056-A225-08E77244615C}"/>
              </a:ext>
            </a:extLst>
          </p:cNvPr>
          <p:cNvCxnSpPr>
            <a:stCxn id="3" idx="2"/>
            <a:endCxn id="4" idx="0"/>
          </p:cNvCxnSpPr>
          <p:nvPr/>
        </p:nvCxnSpPr>
        <p:spPr>
          <a:xfrm flipH="1">
            <a:off x="2667000" y="2143125"/>
            <a:ext cx="3429000" cy="809625"/>
          </a:xfrm>
          <a:prstGeom prst="bentConnector4">
            <a:avLst>
              <a:gd name="adj1" fmla="val 0"/>
              <a:gd name="adj2" fmla="val 50000"/>
            </a:avLst>
          </a:prstGeom>
          <a:ln w="16193">
            <a:solidFill>
              <a:srgbClr val="66758A"/>
            </a:solidFill>
            <a:prstDash val="solid"/>
            <a:tailEnd type="triangle" w="sm" len="sm"/>
          </a:ln>
        </p:spPr>
      </p:cxnSp>
      <p:sp>
        <p:nvSpPr>
          <p:cNvPr id="26" name="Rectangle 25">
            <a:extLst>
              <a:ext uri="{FF2B5EF4-FFF2-40B4-BE49-F238E27FC236}">
                <a16:creationId xmlns:a16="http://schemas.microsoft.com/office/drawing/2014/main" id="{7DC84CD5-23EB-409A-BA0A-D21A877E1FAF}"/>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Nutrition and physio knowledge scopes</a:t>
            </a:r>
          </a:p>
        </p:txBody>
      </p:sp>
      <p:sp>
        <p:nvSpPr>
          <p:cNvPr id="2" name="Rectangle 1">
            <a:extLst>
              <a:ext uri="{FF2B5EF4-FFF2-40B4-BE49-F238E27FC236}">
                <a16:creationId xmlns:a16="http://schemas.microsoft.com/office/drawing/2014/main" id="{531A8681-513A-49F3-AA7B-1BE29C0E12F7}"/>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Both workers retrieve guidance after Doctor review</a:t>
            </a:r>
          </a:p>
        </p:txBody>
      </p:sp>
      <p:sp>
        <p:nvSpPr>
          <p:cNvPr id="3" name="Rectangle: Rounded Corners 2">
            <a:extLst>
              <a:ext uri="{FF2B5EF4-FFF2-40B4-BE49-F238E27FC236}">
                <a16:creationId xmlns:a16="http://schemas.microsoft.com/office/drawing/2014/main" id="{6281BD6E-77DE-4D33-A7AA-45D9E6028A4A}"/>
              </a:ext>
            </a:extLst>
          </p:cNvPr>
          <p:cNvSpPr>
            <a:spLocks noGrp="1"/>
          </p:cNvSpPr>
          <p:nvPr/>
        </p:nvSpPr>
        <p:spPr>
          <a:xfrm>
            <a:off x="4095750" y="1428750"/>
            <a:ext cx="4000500" cy="714375"/>
          </a:xfrm>
          <a:prstGeom prst="roundRect">
            <a:avLst>
              <a:gd name="adj" fmla="val 13333"/>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Reviewed findings + restrictions</a:t>
            </a:r>
          </a:p>
          <a:p>
            <a:pPr algn="ctr">
              <a:defRPr sz="1650" b="0">
                <a:solidFill>
                  <a:srgbClr val="17243A"/>
                </a:solidFill>
                <a:latin typeface="Arial"/>
                <a:ea typeface="Arial"/>
                <a:cs typeface="Arial"/>
              </a:defRPr>
            </a:pPr>
            <a:r>
              <a:rPr sz="1650" b="0">
                <a:solidFill>
                  <a:srgbClr val="17243A"/>
                </a:solidFill>
                <a:latin typeface="Arial"/>
                <a:ea typeface="Arial"/>
                <a:cs typeface="Arial"/>
              </a:rPr>
              <a:t>Pinned review / corpus version</a:t>
            </a:r>
          </a:p>
        </p:txBody>
      </p:sp>
      <p:sp>
        <p:nvSpPr>
          <p:cNvPr id="4" name="Rectangle: Rounded Corners 3">
            <a:extLst>
              <a:ext uri="{FF2B5EF4-FFF2-40B4-BE49-F238E27FC236}">
                <a16:creationId xmlns:a16="http://schemas.microsoft.com/office/drawing/2014/main" id="{2B029ED9-F8B1-4BE3-A224-CE1977A556C6}"/>
              </a:ext>
            </a:extLst>
          </p:cNvPr>
          <p:cNvSpPr>
            <a:spLocks noGrp="1"/>
          </p:cNvSpPr>
          <p:nvPr/>
        </p:nvSpPr>
        <p:spPr>
          <a:xfrm>
            <a:off x="809625" y="2952750"/>
            <a:ext cx="3714750" cy="809625"/>
          </a:xfrm>
          <a:prstGeom prst="roundRect">
            <a:avLst>
              <a:gd name="adj" fmla="val 11765"/>
            </a:avLst>
          </a:prstGeom>
          <a:solidFill>
            <a:srgbClr val="F0E8FC"/>
          </a:solidFill>
          <a:ln w="14288">
            <a:solidFill>
              <a:srgbClr val="8B5FC7"/>
            </a:solidFill>
          </a:ln>
        </p:spPr>
        <p:txBody>
          <a:bodyPr wrap="square" lIns="95250" tIns="95250" rIns="95250" bIns="95250" anchor="ctr">
            <a:noAutofit/>
          </a:bodyPr>
          <a:lstStyle>
            <a:defPPr algn="ctr">
              <a:defRPr sz="1800" b="0">
                <a:solidFill>
                  <a:srgbClr val="17243A"/>
                </a:solidFill>
                <a:latin typeface="Arial"/>
                <a:ea typeface="Arial"/>
                <a:cs typeface="Arial"/>
              </a:defRPr>
            </a:defPPr>
            <a:lvl1pPr algn="ctr">
              <a:defRPr sz="1800" b="0">
                <a:solidFill>
                  <a:srgbClr val="17243A"/>
                </a:solidFill>
                <a:latin typeface="Arial"/>
                <a:ea typeface="Arial"/>
                <a:cs typeface="Arial"/>
              </a:defRPr>
            </a:lvl1pPr>
            <a:lvl2pPr algn="ctr">
              <a:defRPr sz="1800" b="0">
                <a:solidFill>
                  <a:srgbClr val="17243A"/>
                </a:solidFill>
                <a:latin typeface="Arial"/>
                <a:ea typeface="Arial"/>
                <a:cs typeface="Arial"/>
              </a:defRPr>
            </a:lvl2pPr>
            <a:lvl3pPr algn="ctr">
              <a:defRPr sz="1800" b="0">
                <a:solidFill>
                  <a:srgbClr val="17243A"/>
                </a:solidFill>
                <a:latin typeface="Arial"/>
                <a:ea typeface="Arial"/>
                <a:cs typeface="Arial"/>
              </a:defRPr>
            </a:lvl3pPr>
            <a:lvl4pPr algn="ctr">
              <a:defRPr sz="1800" b="0">
                <a:solidFill>
                  <a:srgbClr val="17243A"/>
                </a:solidFill>
                <a:latin typeface="Arial"/>
                <a:ea typeface="Arial"/>
                <a:cs typeface="Arial"/>
              </a:defRPr>
            </a:lvl4pPr>
            <a:lvl5pPr algn="ctr">
              <a:defRPr sz="1800" b="0">
                <a:solidFill>
                  <a:srgbClr val="17243A"/>
                </a:solidFill>
                <a:latin typeface="Arial"/>
                <a:ea typeface="Arial"/>
                <a:cs typeface="Arial"/>
              </a:defRPr>
            </a:lvl5pPr>
            <a:lvl6pPr algn="ctr">
              <a:defRPr sz="1800" b="0">
                <a:solidFill>
                  <a:srgbClr val="17243A"/>
                </a:solidFill>
                <a:latin typeface="Arial"/>
                <a:ea typeface="Arial"/>
                <a:cs typeface="Arial"/>
              </a:defRPr>
            </a:lvl6pPr>
            <a:lvl7pPr algn="ctr">
              <a:defRPr sz="1800" b="0">
                <a:solidFill>
                  <a:srgbClr val="17243A"/>
                </a:solidFill>
                <a:latin typeface="Arial"/>
                <a:ea typeface="Arial"/>
                <a:cs typeface="Arial"/>
              </a:defRPr>
            </a:lvl7pPr>
            <a:lvl8pPr algn="ctr">
              <a:defRPr sz="1800" b="0">
                <a:solidFill>
                  <a:srgbClr val="17243A"/>
                </a:solidFill>
                <a:latin typeface="Arial"/>
                <a:ea typeface="Arial"/>
                <a:cs typeface="Arial"/>
              </a:defRPr>
            </a:lvl8pPr>
            <a:lvl9pPr algn="ctr">
              <a:defRPr sz="1800" b="0">
                <a:solidFill>
                  <a:srgbClr val="17243A"/>
                </a:solidFill>
                <a:latin typeface="Arial"/>
                <a:ea typeface="Arial"/>
                <a:cs typeface="Arial"/>
              </a:defRPr>
            </a:lvl9pPr>
          </a:lstStyle>
          <a:p>
            <a:pPr algn="ctr">
              <a:defRPr sz="1800" b="0">
                <a:solidFill>
                  <a:srgbClr val="17243A"/>
                </a:solidFill>
                <a:latin typeface="Arial"/>
                <a:ea typeface="Arial"/>
                <a:cs typeface="Arial"/>
              </a:defRPr>
            </a:pPr>
            <a:r>
              <a:rPr sz="1800" b="0">
                <a:solidFill>
                  <a:srgbClr val="17243A"/>
                </a:solidFill>
                <a:latin typeface="Arial"/>
                <a:ea typeface="Arial"/>
                <a:cs typeface="Arial"/>
              </a:rPr>
              <a:t>Nutrition worker</a:t>
            </a:r>
          </a:p>
          <a:p>
            <a:pPr algn="ctr">
              <a:defRPr sz="1800" b="0">
                <a:solidFill>
                  <a:srgbClr val="17243A"/>
                </a:solidFill>
                <a:latin typeface="Arial"/>
                <a:ea typeface="Arial"/>
                <a:cs typeface="Arial"/>
              </a:defRPr>
            </a:pPr>
            <a:r>
              <a:rPr sz="1800" b="0">
                <a:solidFill>
                  <a:srgbClr val="17243A"/>
                </a:solidFill>
                <a:latin typeface="Arial"/>
                <a:ea typeface="Arial"/>
                <a:cs typeface="Arial"/>
              </a:rPr>
              <a:t>Sonnet + scoped retrieval</a:t>
            </a:r>
          </a:p>
        </p:txBody>
      </p:sp>
      <p:sp>
        <p:nvSpPr>
          <p:cNvPr id="5" name="Rectangle: Rounded Corners 4">
            <a:extLst>
              <a:ext uri="{FF2B5EF4-FFF2-40B4-BE49-F238E27FC236}">
                <a16:creationId xmlns:a16="http://schemas.microsoft.com/office/drawing/2014/main" id="{D2EF5AFC-DE47-4CA6-B620-39559A549CBA}"/>
              </a:ext>
            </a:extLst>
          </p:cNvPr>
          <p:cNvSpPr>
            <a:spLocks noGrp="1"/>
          </p:cNvSpPr>
          <p:nvPr/>
        </p:nvSpPr>
        <p:spPr>
          <a:xfrm>
            <a:off x="7667625" y="2952750"/>
            <a:ext cx="3714750" cy="809625"/>
          </a:xfrm>
          <a:prstGeom prst="roundRect">
            <a:avLst>
              <a:gd name="adj" fmla="val 11765"/>
            </a:avLst>
          </a:prstGeom>
          <a:solidFill>
            <a:srgbClr val="F0E8FC"/>
          </a:solidFill>
          <a:ln w="14288">
            <a:solidFill>
              <a:srgbClr val="8B5FC7"/>
            </a:solidFill>
          </a:ln>
        </p:spPr>
        <p:txBody>
          <a:bodyPr wrap="square" lIns="95250" tIns="95250" rIns="95250" bIns="95250" anchor="ctr">
            <a:noAutofit/>
          </a:bodyPr>
          <a:lstStyle>
            <a:defPPr algn="ctr">
              <a:defRPr sz="1800" b="0">
                <a:solidFill>
                  <a:srgbClr val="17243A"/>
                </a:solidFill>
                <a:latin typeface="Arial"/>
                <a:ea typeface="Arial"/>
                <a:cs typeface="Arial"/>
              </a:defRPr>
            </a:defPPr>
            <a:lvl1pPr algn="ctr">
              <a:defRPr sz="1800" b="0">
                <a:solidFill>
                  <a:srgbClr val="17243A"/>
                </a:solidFill>
                <a:latin typeface="Arial"/>
                <a:ea typeface="Arial"/>
                <a:cs typeface="Arial"/>
              </a:defRPr>
            </a:lvl1pPr>
            <a:lvl2pPr algn="ctr">
              <a:defRPr sz="1800" b="0">
                <a:solidFill>
                  <a:srgbClr val="17243A"/>
                </a:solidFill>
                <a:latin typeface="Arial"/>
                <a:ea typeface="Arial"/>
                <a:cs typeface="Arial"/>
              </a:defRPr>
            </a:lvl2pPr>
            <a:lvl3pPr algn="ctr">
              <a:defRPr sz="1800" b="0">
                <a:solidFill>
                  <a:srgbClr val="17243A"/>
                </a:solidFill>
                <a:latin typeface="Arial"/>
                <a:ea typeface="Arial"/>
                <a:cs typeface="Arial"/>
              </a:defRPr>
            </a:lvl3pPr>
            <a:lvl4pPr algn="ctr">
              <a:defRPr sz="1800" b="0">
                <a:solidFill>
                  <a:srgbClr val="17243A"/>
                </a:solidFill>
                <a:latin typeface="Arial"/>
                <a:ea typeface="Arial"/>
                <a:cs typeface="Arial"/>
              </a:defRPr>
            </a:lvl4pPr>
            <a:lvl5pPr algn="ctr">
              <a:defRPr sz="1800" b="0">
                <a:solidFill>
                  <a:srgbClr val="17243A"/>
                </a:solidFill>
                <a:latin typeface="Arial"/>
                <a:ea typeface="Arial"/>
                <a:cs typeface="Arial"/>
              </a:defRPr>
            </a:lvl5pPr>
            <a:lvl6pPr algn="ctr">
              <a:defRPr sz="1800" b="0">
                <a:solidFill>
                  <a:srgbClr val="17243A"/>
                </a:solidFill>
                <a:latin typeface="Arial"/>
                <a:ea typeface="Arial"/>
                <a:cs typeface="Arial"/>
              </a:defRPr>
            </a:lvl6pPr>
            <a:lvl7pPr algn="ctr">
              <a:defRPr sz="1800" b="0">
                <a:solidFill>
                  <a:srgbClr val="17243A"/>
                </a:solidFill>
                <a:latin typeface="Arial"/>
                <a:ea typeface="Arial"/>
                <a:cs typeface="Arial"/>
              </a:defRPr>
            </a:lvl7pPr>
            <a:lvl8pPr algn="ctr">
              <a:defRPr sz="1800" b="0">
                <a:solidFill>
                  <a:srgbClr val="17243A"/>
                </a:solidFill>
                <a:latin typeface="Arial"/>
                <a:ea typeface="Arial"/>
                <a:cs typeface="Arial"/>
              </a:defRPr>
            </a:lvl8pPr>
            <a:lvl9pPr algn="ctr">
              <a:defRPr sz="1800" b="0">
                <a:solidFill>
                  <a:srgbClr val="17243A"/>
                </a:solidFill>
                <a:latin typeface="Arial"/>
                <a:ea typeface="Arial"/>
                <a:cs typeface="Arial"/>
              </a:defRPr>
            </a:lvl9pPr>
          </a:lstStyle>
          <a:p>
            <a:pPr algn="ctr">
              <a:defRPr sz="1800" b="0">
                <a:solidFill>
                  <a:srgbClr val="17243A"/>
                </a:solidFill>
                <a:latin typeface="Arial"/>
                <a:ea typeface="Arial"/>
                <a:cs typeface="Arial"/>
              </a:defRPr>
            </a:pPr>
            <a:r>
              <a:rPr sz="1800" b="0">
                <a:solidFill>
                  <a:srgbClr val="17243A"/>
                </a:solidFill>
                <a:latin typeface="Arial"/>
                <a:ea typeface="Arial"/>
                <a:cs typeface="Arial"/>
              </a:rPr>
              <a:t>Physio worker</a:t>
            </a:r>
          </a:p>
          <a:p>
            <a:pPr algn="ctr">
              <a:defRPr sz="1800" b="0">
                <a:solidFill>
                  <a:srgbClr val="17243A"/>
                </a:solidFill>
                <a:latin typeface="Arial"/>
                <a:ea typeface="Arial"/>
                <a:cs typeface="Arial"/>
              </a:defRPr>
            </a:pPr>
            <a:r>
              <a:rPr sz="1800" b="0">
                <a:solidFill>
                  <a:srgbClr val="17243A"/>
                </a:solidFill>
                <a:latin typeface="Arial"/>
                <a:ea typeface="Arial"/>
                <a:cs typeface="Arial"/>
              </a:rPr>
              <a:t>Sonnet + scoped retrieval</a:t>
            </a:r>
          </a:p>
        </p:txBody>
      </p:sp>
      <p:sp>
        <p:nvSpPr>
          <p:cNvPr id="6" name="Rectangle: Rounded Corners 5">
            <a:extLst>
              <a:ext uri="{FF2B5EF4-FFF2-40B4-BE49-F238E27FC236}">
                <a16:creationId xmlns:a16="http://schemas.microsoft.com/office/drawing/2014/main" id="{0015B5B2-AEC6-4195-A5E5-6A7E51C9E37A}"/>
              </a:ext>
            </a:extLst>
          </p:cNvPr>
          <p:cNvSpPr>
            <a:spLocks noGrp="1"/>
          </p:cNvSpPr>
          <p:nvPr/>
        </p:nvSpPr>
        <p:spPr>
          <a:xfrm>
            <a:off x="4095750" y="4762500"/>
            <a:ext cx="4000500" cy="619125"/>
          </a:xfrm>
          <a:prstGeom prst="roundRect">
            <a:avLst>
              <a:gd name="adj" fmla="val 15385"/>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guidance support check</a:t>
            </a:r>
          </a:p>
        </p:txBody>
      </p:sp>
      <p:sp>
        <p:nvSpPr>
          <p:cNvPr id="11" name="Rectangle 10">
            <a:extLst>
              <a:ext uri="{FF2B5EF4-FFF2-40B4-BE49-F238E27FC236}">
                <a16:creationId xmlns:a16="http://schemas.microsoft.com/office/drawing/2014/main" id="{97BDEC72-7F19-4E19-BD45-0A550D982021}"/>
              </a:ext>
            </a:extLst>
          </p:cNvPr>
          <p:cNvSpPr>
            <a:spLocks noGrp="1"/>
          </p:cNvSpPr>
          <p:nvPr/>
        </p:nvSpPr>
        <p:spPr>
          <a:xfrm>
            <a:off x="809625" y="4000500"/>
            <a:ext cx="4095750" cy="809625"/>
          </a:xfrm>
          <a:prstGeom prst="rect">
            <a:avLst/>
          </a:prstGeom>
          <a:noFill/>
          <a:ln w="0">
            <a:noFill/>
          </a:ln>
        </p:spPr>
        <p:txBody>
          <a:bodyPr wrap="square" lIns="0" tIns="0" rIns="0" bIns="0" anchor="ctr">
            <a:noAutofit/>
          </a:bodyPr>
          <a:lstStyle>
            <a:defPPr algn="l">
              <a:defRPr sz="1725" b="0">
                <a:solidFill>
                  <a:srgbClr val="17243A"/>
                </a:solidFill>
                <a:latin typeface="Arial"/>
                <a:ea typeface="Arial"/>
                <a:cs typeface="Arial"/>
              </a:defRPr>
            </a:defPPr>
            <a:lvl1pPr algn="l">
              <a:defRPr sz="1725" b="0">
                <a:solidFill>
                  <a:srgbClr val="17243A"/>
                </a:solidFill>
                <a:latin typeface="Arial"/>
                <a:ea typeface="Arial"/>
                <a:cs typeface="Arial"/>
              </a:defRPr>
            </a:lvl1pPr>
            <a:lvl2pPr algn="l">
              <a:defRPr sz="1725" b="0">
                <a:solidFill>
                  <a:srgbClr val="17243A"/>
                </a:solidFill>
                <a:latin typeface="Arial"/>
                <a:ea typeface="Arial"/>
                <a:cs typeface="Arial"/>
              </a:defRPr>
            </a:lvl2pPr>
            <a:lvl3pPr algn="l">
              <a:defRPr sz="1725" b="0">
                <a:solidFill>
                  <a:srgbClr val="17243A"/>
                </a:solidFill>
                <a:latin typeface="Arial"/>
                <a:ea typeface="Arial"/>
                <a:cs typeface="Arial"/>
              </a:defRPr>
            </a:lvl3pPr>
            <a:lvl4pPr algn="l">
              <a:defRPr sz="1725" b="0">
                <a:solidFill>
                  <a:srgbClr val="17243A"/>
                </a:solidFill>
                <a:latin typeface="Arial"/>
                <a:ea typeface="Arial"/>
                <a:cs typeface="Arial"/>
              </a:defRPr>
            </a:lvl4pPr>
            <a:lvl5pPr algn="l">
              <a:defRPr sz="1725" b="0">
                <a:solidFill>
                  <a:srgbClr val="17243A"/>
                </a:solidFill>
                <a:latin typeface="Arial"/>
                <a:ea typeface="Arial"/>
                <a:cs typeface="Arial"/>
              </a:defRPr>
            </a:lvl5pPr>
            <a:lvl6pPr algn="l">
              <a:defRPr sz="1725" b="0">
                <a:solidFill>
                  <a:srgbClr val="17243A"/>
                </a:solidFill>
                <a:latin typeface="Arial"/>
                <a:ea typeface="Arial"/>
                <a:cs typeface="Arial"/>
              </a:defRPr>
            </a:lvl6pPr>
            <a:lvl7pPr algn="l">
              <a:defRPr sz="1725" b="0">
                <a:solidFill>
                  <a:srgbClr val="17243A"/>
                </a:solidFill>
                <a:latin typeface="Arial"/>
                <a:ea typeface="Arial"/>
                <a:cs typeface="Arial"/>
              </a:defRPr>
            </a:lvl7pPr>
            <a:lvl8pPr algn="l">
              <a:defRPr sz="1725" b="0">
                <a:solidFill>
                  <a:srgbClr val="17243A"/>
                </a:solidFill>
                <a:latin typeface="Arial"/>
                <a:ea typeface="Arial"/>
                <a:cs typeface="Arial"/>
              </a:defRPr>
            </a:lvl8pPr>
            <a:lvl9pPr algn="l">
              <a:defRPr sz="1725" b="0">
                <a:solidFill>
                  <a:srgbClr val="17243A"/>
                </a:solidFill>
                <a:latin typeface="Arial"/>
                <a:ea typeface="Arial"/>
                <a:cs typeface="Arial"/>
              </a:defRPr>
            </a:lvl9pPr>
          </a:lstStyle>
          <a:p>
            <a:pPr algn="l">
              <a:defRPr sz="1725" b="0">
                <a:solidFill>
                  <a:srgbClr val="17243A"/>
                </a:solidFill>
                <a:latin typeface="Arial"/>
                <a:ea typeface="Arial"/>
                <a:cs typeface="Arial"/>
              </a:defRPr>
            </a:pPr>
            <a:r>
              <a:rPr sz="1725" b="0">
                <a:solidFill>
                  <a:srgbClr val="17243A"/>
                </a:solidFill>
                <a:latin typeface="Arial"/>
                <a:ea typeface="Arial"/>
                <a:cs typeface="Arial"/>
              </a:rPr>
              <a:t>Food patterns and relevant lab context</a:t>
            </a:r>
          </a:p>
          <a:p>
            <a:pPr algn="l">
              <a:defRPr sz="1725" b="0">
                <a:solidFill>
                  <a:srgbClr val="17243A"/>
                </a:solidFill>
                <a:latin typeface="Arial"/>
                <a:ea typeface="Arial"/>
                <a:cs typeface="Arial"/>
              </a:defRPr>
            </a:pPr>
            <a:r>
              <a:rPr sz="1725" b="0">
                <a:solidFill>
                  <a:srgbClr val="17243A"/>
                </a:solidFill>
                <a:latin typeface="Arial"/>
                <a:ea typeface="Arial"/>
                <a:cs typeface="Arial"/>
              </a:rPr>
              <a:t>Primary: ref-foods, ref-hf-living</a:t>
            </a:r>
          </a:p>
        </p:txBody>
      </p:sp>
      <p:sp>
        <p:nvSpPr>
          <p:cNvPr id="12" name="Rectangle 11">
            <a:extLst>
              <a:ext uri="{FF2B5EF4-FFF2-40B4-BE49-F238E27FC236}">
                <a16:creationId xmlns:a16="http://schemas.microsoft.com/office/drawing/2014/main" id="{0C2223C9-EED2-40BF-B2DB-5A5FB9ED0ACE}"/>
              </a:ext>
            </a:extLst>
          </p:cNvPr>
          <p:cNvSpPr>
            <a:spLocks noGrp="1"/>
          </p:cNvSpPr>
          <p:nvPr/>
        </p:nvSpPr>
        <p:spPr>
          <a:xfrm>
            <a:off x="7667625" y="4000500"/>
            <a:ext cx="4095750" cy="809625"/>
          </a:xfrm>
          <a:prstGeom prst="rect">
            <a:avLst/>
          </a:prstGeom>
          <a:noFill/>
          <a:ln w="0">
            <a:noFill/>
          </a:ln>
        </p:spPr>
        <p:txBody>
          <a:bodyPr wrap="square" lIns="0" tIns="0" rIns="0" bIns="0" anchor="ctr">
            <a:noAutofit/>
          </a:bodyPr>
          <a:lstStyle>
            <a:defPPr algn="l">
              <a:defRPr sz="1725" b="0">
                <a:solidFill>
                  <a:srgbClr val="17243A"/>
                </a:solidFill>
                <a:latin typeface="Arial"/>
                <a:ea typeface="Arial"/>
                <a:cs typeface="Arial"/>
              </a:defRPr>
            </a:defPPr>
            <a:lvl1pPr algn="l">
              <a:defRPr sz="1725" b="0">
                <a:solidFill>
                  <a:srgbClr val="17243A"/>
                </a:solidFill>
                <a:latin typeface="Arial"/>
                <a:ea typeface="Arial"/>
                <a:cs typeface="Arial"/>
              </a:defRPr>
            </a:lvl1pPr>
            <a:lvl2pPr algn="l">
              <a:defRPr sz="1725" b="0">
                <a:solidFill>
                  <a:srgbClr val="17243A"/>
                </a:solidFill>
                <a:latin typeface="Arial"/>
                <a:ea typeface="Arial"/>
                <a:cs typeface="Arial"/>
              </a:defRPr>
            </a:lvl2pPr>
            <a:lvl3pPr algn="l">
              <a:defRPr sz="1725" b="0">
                <a:solidFill>
                  <a:srgbClr val="17243A"/>
                </a:solidFill>
                <a:latin typeface="Arial"/>
                <a:ea typeface="Arial"/>
                <a:cs typeface="Arial"/>
              </a:defRPr>
            </a:lvl3pPr>
            <a:lvl4pPr algn="l">
              <a:defRPr sz="1725" b="0">
                <a:solidFill>
                  <a:srgbClr val="17243A"/>
                </a:solidFill>
                <a:latin typeface="Arial"/>
                <a:ea typeface="Arial"/>
                <a:cs typeface="Arial"/>
              </a:defRPr>
            </a:lvl4pPr>
            <a:lvl5pPr algn="l">
              <a:defRPr sz="1725" b="0">
                <a:solidFill>
                  <a:srgbClr val="17243A"/>
                </a:solidFill>
                <a:latin typeface="Arial"/>
                <a:ea typeface="Arial"/>
                <a:cs typeface="Arial"/>
              </a:defRPr>
            </a:lvl5pPr>
            <a:lvl6pPr algn="l">
              <a:defRPr sz="1725" b="0">
                <a:solidFill>
                  <a:srgbClr val="17243A"/>
                </a:solidFill>
                <a:latin typeface="Arial"/>
                <a:ea typeface="Arial"/>
                <a:cs typeface="Arial"/>
              </a:defRPr>
            </a:lvl6pPr>
            <a:lvl7pPr algn="l">
              <a:defRPr sz="1725" b="0">
                <a:solidFill>
                  <a:srgbClr val="17243A"/>
                </a:solidFill>
                <a:latin typeface="Arial"/>
                <a:ea typeface="Arial"/>
                <a:cs typeface="Arial"/>
              </a:defRPr>
            </a:lvl7pPr>
            <a:lvl8pPr algn="l">
              <a:defRPr sz="1725" b="0">
                <a:solidFill>
                  <a:srgbClr val="17243A"/>
                </a:solidFill>
                <a:latin typeface="Arial"/>
                <a:ea typeface="Arial"/>
                <a:cs typeface="Arial"/>
              </a:defRPr>
            </a:lvl8pPr>
            <a:lvl9pPr algn="l">
              <a:defRPr sz="1725" b="0">
                <a:solidFill>
                  <a:srgbClr val="17243A"/>
                </a:solidFill>
                <a:latin typeface="Arial"/>
                <a:ea typeface="Arial"/>
                <a:cs typeface="Arial"/>
              </a:defRPr>
            </a:lvl9pPr>
          </a:lstStyle>
          <a:p>
            <a:pPr algn="l">
              <a:defRPr sz="1725" b="0">
                <a:solidFill>
                  <a:srgbClr val="17243A"/>
                </a:solidFill>
                <a:latin typeface="Arial"/>
                <a:ea typeface="Arial"/>
                <a:cs typeface="Arial"/>
              </a:defRPr>
            </a:pPr>
            <a:r>
              <a:rPr sz="1725" b="0">
                <a:solidFill>
                  <a:srgbClr val="17243A"/>
                </a:solidFill>
                <a:latin typeface="Arial"/>
                <a:ea typeface="Arial"/>
                <a:cs typeface="Arial"/>
              </a:rPr>
              <a:t>Activity education and limitations</a:t>
            </a:r>
          </a:p>
          <a:p>
            <a:pPr algn="l">
              <a:defRPr sz="1725" b="0">
                <a:solidFill>
                  <a:srgbClr val="17243A"/>
                </a:solidFill>
                <a:latin typeface="Arial"/>
                <a:ea typeface="Arial"/>
                <a:cs typeface="Arial"/>
              </a:defRPr>
            </a:pPr>
            <a:r>
              <a:rPr sz="1725" b="0">
                <a:solidFill>
                  <a:srgbClr val="17243A"/>
                </a:solidFill>
                <a:latin typeface="Arial"/>
                <a:ea typeface="Arial"/>
                <a:cs typeface="Arial"/>
              </a:rPr>
              <a:t>Primary: ref-activity, ref-hf-living</a:t>
            </a:r>
          </a:p>
        </p:txBody>
      </p:sp>
      <p:sp>
        <p:nvSpPr>
          <p:cNvPr id="13" name="Rectangle 12">
            <a:extLst>
              <a:ext uri="{FF2B5EF4-FFF2-40B4-BE49-F238E27FC236}">
                <a16:creationId xmlns:a16="http://schemas.microsoft.com/office/drawing/2014/main" id="{4F544FA4-8E76-4ED0-8CB0-A2023CD30E28}"/>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BOUNDARY</a:t>
            </a:r>
          </a:p>
        </p:txBody>
      </p:sp>
      <p:sp>
        <p:nvSpPr>
          <p:cNvPr id="14" name="Rectangle 13">
            <a:extLst>
              <a:ext uri="{FF2B5EF4-FFF2-40B4-BE49-F238E27FC236}">
                <a16:creationId xmlns:a16="http://schemas.microsoft.com/office/drawing/2014/main" id="{5E886C04-1779-4BC9-B990-31299EE0788C}"/>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Withhold unsupported personalized diets, rehabilitation plans or clearance.</a:t>
            </a:r>
          </a:p>
        </p:txBody>
      </p:sp>
      <p:sp>
        <p:nvSpPr>
          <p:cNvPr id="15" name="Rectangle: Rounded Corners 14">
            <a:extLst>
              <a:ext uri="{FF2B5EF4-FFF2-40B4-BE49-F238E27FC236}">
                <a16:creationId xmlns:a16="http://schemas.microsoft.com/office/drawing/2014/main" id="{2E4E4941-05EB-4213-8350-8FA8228B0F5A}"/>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6" name="Rectangle 15">
            <a:extLst>
              <a:ext uri="{FF2B5EF4-FFF2-40B4-BE49-F238E27FC236}">
                <a16:creationId xmlns:a16="http://schemas.microsoft.com/office/drawing/2014/main" id="{C914F7AE-972C-4796-AC11-C6798BC0D5AD}"/>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7" name="Rectangle: Rounded Corners 16">
            <a:extLst>
              <a:ext uri="{FF2B5EF4-FFF2-40B4-BE49-F238E27FC236}">
                <a16:creationId xmlns:a16="http://schemas.microsoft.com/office/drawing/2014/main" id="{115579FA-32E9-46A8-A1C4-0FFC1EF6D680}"/>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18" name="Rectangle 17">
            <a:extLst>
              <a:ext uri="{FF2B5EF4-FFF2-40B4-BE49-F238E27FC236}">
                <a16:creationId xmlns:a16="http://schemas.microsoft.com/office/drawing/2014/main" id="{57AAB370-AA29-49AE-8BC7-328F043EC338}"/>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19" name="Rectangle: Rounded Corners 18">
            <a:extLst>
              <a:ext uri="{FF2B5EF4-FFF2-40B4-BE49-F238E27FC236}">
                <a16:creationId xmlns:a16="http://schemas.microsoft.com/office/drawing/2014/main" id="{18E2AF91-4C29-4B6F-8AB4-0E293C739418}"/>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0" name="Rectangle 19">
            <a:extLst>
              <a:ext uri="{FF2B5EF4-FFF2-40B4-BE49-F238E27FC236}">
                <a16:creationId xmlns:a16="http://schemas.microsoft.com/office/drawing/2014/main" id="{90359E24-C42D-49E7-B1D5-F614397B9E5E}"/>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1" name="Rectangle: Rounded Corners 20">
            <a:extLst>
              <a:ext uri="{FF2B5EF4-FFF2-40B4-BE49-F238E27FC236}">
                <a16:creationId xmlns:a16="http://schemas.microsoft.com/office/drawing/2014/main" id="{1CC872F1-42E1-44DF-AFD2-ECC8C500C290}"/>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2" name="Rectangle 21">
            <a:extLst>
              <a:ext uri="{FF2B5EF4-FFF2-40B4-BE49-F238E27FC236}">
                <a16:creationId xmlns:a16="http://schemas.microsoft.com/office/drawing/2014/main" id="{9994C47E-9D26-41D6-8E74-214E7A6D7839}"/>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3" name="Rectangle: Rounded Corners 22">
            <a:extLst>
              <a:ext uri="{FF2B5EF4-FFF2-40B4-BE49-F238E27FC236}">
                <a16:creationId xmlns:a16="http://schemas.microsoft.com/office/drawing/2014/main" id="{002866B2-611E-4707-B4FB-EE6767E36DBA}"/>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4" name="Rectangle 23">
            <a:extLst>
              <a:ext uri="{FF2B5EF4-FFF2-40B4-BE49-F238E27FC236}">
                <a16:creationId xmlns:a16="http://schemas.microsoft.com/office/drawing/2014/main" id="{ACB5E4E4-B554-43B5-A592-CDD0340CEF1D}"/>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5" name="Rectangle 24">
            <a:extLst>
              <a:ext uri="{FF2B5EF4-FFF2-40B4-BE49-F238E27FC236}">
                <a16:creationId xmlns:a16="http://schemas.microsoft.com/office/drawing/2014/main" id="{A4482BAA-0FAE-47C4-A265-BCB654BD4311}"/>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11</a:t>
            </a:r>
          </a:p>
        </p:txBody>
      </p:sp>
    </p:spTree>
    <p:extLst>
      <p:ext uri="{BB962C8B-B14F-4D97-AF65-F5344CB8AC3E}">
        <p14:creationId xmlns:p14="http://schemas.microsoft.com/office/powerpoint/2010/main" val="990354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Connector: Elbow 8">
            <a:extLst>
              <a:ext uri="{FF2B5EF4-FFF2-40B4-BE49-F238E27FC236}">
                <a16:creationId xmlns:a16="http://schemas.microsoft.com/office/drawing/2014/main" id="{FECC425C-1BF1-476C-8308-A3265B5A3608}"/>
              </a:ext>
            </a:extLst>
          </p:cNvPr>
          <p:cNvCxnSpPr>
            <a:stCxn id="5" idx="2"/>
            <a:endCxn id="6" idx="0"/>
          </p:cNvCxnSpPr>
          <p:nvPr/>
        </p:nvCxnSpPr>
        <p:spPr>
          <a:xfrm flipH="1">
            <a:off x="8072438" y="2571750"/>
            <a:ext cx="1976438" cy="952500"/>
          </a:xfrm>
          <a:prstGeom prst="bentConnector4">
            <a:avLst>
              <a:gd name="adj1" fmla="val 0"/>
              <a:gd name="adj2" fmla="val 50000"/>
            </a:avLst>
          </a:prstGeom>
          <a:ln w="16193">
            <a:solidFill>
              <a:srgbClr val="66758A"/>
            </a:solidFill>
            <a:prstDash val="solid"/>
            <a:tailEnd type="triangle" w="sm" len="sm"/>
          </a:ln>
        </p:spPr>
      </p:cxnSp>
      <p:cxnSp>
        <p:nvCxnSpPr>
          <p:cNvPr id="8" name="Straight Arrow Connector 7">
            <a:extLst>
              <a:ext uri="{FF2B5EF4-FFF2-40B4-BE49-F238E27FC236}">
                <a16:creationId xmlns:a16="http://schemas.microsoft.com/office/drawing/2014/main" id="{29A43F68-DA0A-468D-A3C6-BE1685734BFA}"/>
              </a:ext>
            </a:extLst>
          </p:cNvPr>
          <p:cNvCxnSpPr>
            <a:stCxn id="4" idx="3"/>
            <a:endCxn id="5" idx="1"/>
          </p:cNvCxnSpPr>
          <p:nvPr/>
        </p:nvCxnSpPr>
        <p:spPr>
          <a:xfrm>
            <a:off x="7620000" y="2143125"/>
            <a:ext cx="904875" cy="0"/>
          </a:xfrm>
          <a:prstGeom prst="straightConnector1">
            <a:avLst/>
          </a:prstGeom>
          <a:ln w="16193">
            <a:solidFill>
              <a:srgbClr val="66758A"/>
            </a:solidFill>
            <a:prstDash val="solid"/>
            <a:tailEnd type="triangle" w="sm" len="sm"/>
          </a:ln>
        </p:spPr>
      </p:cxnSp>
      <p:cxnSp>
        <p:nvCxnSpPr>
          <p:cNvPr id="7" name="Straight Arrow Connector 6">
            <a:extLst>
              <a:ext uri="{FF2B5EF4-FFF2-40B4-BE49-F238E27FC236}">
                <a16:creationId xmlns:a16="http://schemas.microsoft.com/office/drawing/2014/main" id="{12374147-65C5-496D-BAE9-CFC8CB7CB4C3}"/>
              </a:ext>
            </a:extLst>
          </p:cNvPr>
          <p:cNvCxnSpPr>
            <a:stCxn id="3" idx="3"/>
            <a:endCxn id="4" idx="1"/>
          </p:cNvCxnSpPr>
          <p:nvPr/>
        </p:nvCxnSpPr>
        <p:spPr>
          <a:xfrm>
            <a:off x="3667125" y="2143125"/>
            <a:ext cx="904875" cy="0"/>
          </a:xfrm>
          <a:prstGeom prst="straightConnector1">
            <a:avLst/>
          </a:prstGeom>
          <a:ln w="16193">
            <a:solidFill>
              <a:srgbClr val="66758A"/>
            </a:solidFill>
            <a:prstDash val="solid"/>
            <a:tailEnd type="triangle" w="sm" len="sm"/>
          </a:ln>
        </p:spPr>
      </p:cxnSp>
      <p:sp>
        <p:nvSpPr>
          <p:cNvPr id="24" name="Rectangle 23">
            <a:extLst>
              <a:ext uri="{FF2B5EF4-FFF2-40B4-BE49-F238E27FC236}">
                <a16:creationId xmlns:a16="http://schemas.microsoft.com/office/drawing/2014/main" id="{09AA597E-DDF7-4DFD-A9DD-297ADAB39D08}"/>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05  Patient-facing generation</a:t>
            </a:r>
          </a:p>
        </p:txBody>
      </p:sp>
      <p:sp>
        <p:nvSpPr>
          <p:cNvPr id="2" name="Rectangle 1">
            <a:extLst>
              <a:ext uri="{FF2B5EF4-FFF2-40B4-BE49-F238E27FC236}">
                <a16:creationId xmlns:a16="http://schemas.microsoft.com/office/drawing/2014/main" id="{3C5E90ED-7CC1-4583-BA17-4746550869CF}"/>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One final call explains the reviewed content with citations</a:t>
            </a:r>
          </a:p>
        </p:txBody>
      </p:sp>
      <p:sp>
        <p:nvSpPr>
          <p:cNvPr id="3" name="Rectangle: Rounded Corners 2">
            <a:extLst>
              <a:ext uri="{FF2B5EF4-FFF2-40B4-BE49-F238E27FC236}">
                <a16:creationId xmlns:a16="http://schemas.microsoft.com/office/drawing/2014/main" id="{E5ADD3EE-58C7-40E3-82E6-1310A030D49C}"/>
              </a:ext>
            </a:extLst>
          </p:cNvPr>
          <p:cNvSpPr>
            <a:spLocks noGrp="1"/>
          </p:cNvSpPr>
          <p:nvPr/>
        </p:nvSpPr>
        <p:spPr>
          <a:xfrm>
            <a:off x="619125" y="1714500"/>
            <a:ext cx="3048000" cy="857250"/>
          </a:xfrm>
          <a:prstGeom prst="roundRect">
            <a:avLst>
              <a:gd name="adj" fmla="val 11111"/>
            </a:avLst>
          </a:prstGeom>
          <a:solidFill>
            <a:srgbClr val="E6F3F1"/>
          </a:solidFill>
          <a:ln w="14288">
            <a:solidFill>
              <a:srgbClr val="4D978E"/>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ReviewedContentBundle</a:t>
            </a:r>
          </a:p>
          <a:p>
            <a:pPr algn="ctr">
              <a:defRPr sz="1650" b="0">
                <a:solidFill>
                  <a:srgbClr val="17243A"/>
                </a:solidFill>
                <a:latin typeface="Arial"/>
                <a:ea typeface="Arial"/>
                <a:cs typeface="Arial"/>
              </a:defRPr>
            </a:pPr>
            <a:r>
              <a:rPr sz="1650" b="0">
                <a:solidFill>
                  <a:srgbClr val="17243A"/>
                </a:solidFill>
                <a:latin typeface="Arial"/>
                <a:ea typeface="Arial"/>
                <a:cs typeface="Arial"/>
              </a:rPr>
              <a:t>Claims + guidance + limits</a:t>
            </a:r>
          </a:p>
        </p:txBody>
      </p:sp>
      <p:sp>
        <p:nvSpPr>
          <p:cNvPr id="4" name="Rectangle: Rounded Corners 3">
            <a:extLst>
              <a:ext uri="{FF2B5EF4-FFF2-40B4-BE49-F238E27FC236}">
                <a16:creationId xmlns:a16="http://schemas.microsoft.com/office/drawing/2014/main" id="{556A7902-324E-411E-A3DB-58F5AC44CE8A}"/>
              </a:ext>
            </a:extLst>
          </p:cNvPr>
          <p:cNvSpPr>
            <a:spLocks noGrp="1"/>
          </p:cNvSpPr>
          <p:nvPr/>
        </p:nvSpPr>
        <p:spPr>
          <a:xfrm>
            <a:off x="4572000" y="1714500"/>
            <a:ext cx="3048000" cy="857250"/>
          </a:xfrm>
          <a:prstGeom prst="roundRect">
            <a:avLst>
              <a:gd name="adj" fmla="val 11111"/>
            </a:avLst>
          </a:prstGeom>
          <a:solidFill>
            <a:srgbClr val="F0E8FC"/>
          </a:solidFill>
          <a:ln w="14288">
            <a:solidFill>
              <a:srgbClr val="8B5FC7"/>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Sonnet generation</a:t>
            </a:r>
          </a:p>
          <a:p>
            <a:pPr algn="ctr">
              <a:defRPr sz="1650" b="0">
                <a:solidFill>
                  <a:srgbClr val="17243A"/>
                </a:solidFill>
                <a:latin typeface="Arial"/>
                <a:ea typeface="Arial"/>
                <a:cs typeface="Arial"/>
              </a:defRPr>
            </a:pPr>
            <a:r>
              <a:rPr sz="1650" b="0">
                <a:solidFill>
                  <a:srgbClr val="17243A"/>
                </a:solidFill>
                <a:latin typeface="Arial"/>
                <a:ea typeface="Arial"/>
                <a:cs typeface="Arial"/>
              </a:rPr>
              <a:t>Plain-language sections</a:t>
            </a:r>
          </a:p>
        </p:txBody>
      </p:sp>
      <p:sp>
        <p:nvSpPr>
          <p:cNvPr id="5" name="Rectangle: Rounded Corners 4">
            <a:extLst>
              <a:ext uri="{FF2B5EF4-FFF2-40B4-BE49-F238E27FC236}">
                <a16:creationId xmlns:a16="http://schemas.microsoft.com/office/drawing/2014/main" id="{5445F4E6-797B-4CB9-9690-03BF5A936E5F}"/>
              </a:ext>
            </a:extLst>
          </p:cNvPr>
          <p:cNvSpPr>
            <a:spLocks noGrp="1"/>
          </p:cNvSpPr>
          <p:nvPr/>
        </p:nvSpPr>
        <p:spPr>
          <a:xfrm>
            <a:off x="8524875" y="1714500"/>
            <a:ext cx="3048000" cy="857250"/>
          </a:xfrm>
          <a:prstGeom prst="roundRect">
            <a:avLst>
              <a:gd name="adj" fmla="val 11111"/>
            </a:avLst>
          </a:prstGeom>
          <a:solidFill>
            <a:srgbClr val="EAF1FB"/>
          </a:solidFill>
          <a:ln w="14288">
            <a:solidFill>
              <a:srgbClr val="6D91C9"/>
            </a:solidFill>
          </a:ln>
        </p:spPr>
        <p:txBody>
          <a:bodyPr wrap="square" lIns="95250" tIns="95250" rIns="95250" bIns="95250" anchor="ctr">
            <a:noAutofit/>
          </a:bodyPr>
          <a:lstStyle>
            <a:defPPr algn="ctr">
              <a:defRPr sz="1650" b="0">
                <a:solidFill>
                  <a:srgbClr val="17243A"/>
                </a:solidFill>
                <a:latin typeface="Arial"/>
                <a:ea typeface="Arial"/>
                <a:cs typeface="Arial"/>
              </a:defRPr>
            </a:defPPr>
            <a:lvl1pPr algn="ctr">
              <a:defRPr sz="1650" b="0">
                <a:solidFill>
                  <a:srgbClr val="17243A"/>
                </a:solidFill>
                <a:latin typeface="Arial"/>
                <a:ea typeface="Arial"/>
                <a:cs typeface="Arial"/>
              </a:defRPr>
            </a:lvl1pPr>
            <a:lvl2pPr algn="ctr">
              <a:defRPr sz="1650" b="0">
                <a:solidFill>
                  <a:srgbClr val="17243A"/>
                </a:solidFill>
                <a:latin typeface="Arial"/>
                <a:ea typeface="Arial"/>
                <a:cs typeface="Arial"/>
              </a:defRPr>
            </a:lvl2pPr>
            <a:lvl3pPr algn="ctr">
              <a:defRPr sz="1650" b="0">
                <a:solidFill>
                  <a:srgbClr val="17243A"/>
                </a:solidFill>
                <a:latin typeface="Arial"/>
                <a:ea typeface="Arial"/>
                <a:cs typeface="Arial"/>
              </a:defRPr>
            </a:lvl3pPr>
            <a:lvl4pPr algn="ctr">
              <a:defRPr sz="1650" b="0">
                <a:solidFill>
                  <a:srgbClr val="17243A"/>
                </a:solidFill>
                <a:latin typeface="Arial"/>
                <a:ea typeface="Arial"/>
                <a:cs typeface="Arial"/>
              </a:defRPr>
            </a:lvl4pPr>
            <a:lvl5pPr algn="ctr">
              <a:defRPr sz="1650" b="0">
                <a:solidFill>
                  <a:srgbClr val="17243A"/>
                </a:solidFill>
                <a:latin typeface="Arial"/>
                <a:ea typeface="Arial"/>
                <a:cs typeface="Arial"/>
              </a:defRPr>
            </a:lvl5pPr>
            <a:lvl6pPr algn="ctr">
              <a:defRPr sz="1650" b="0">
                <a:solidFill>
                  <a:srgbClr val="17243A"/>
                </a:solidFill>
                <a:latin typeface="Arial"/>
                <a:ea typeface="Arial"/>
                <a:cs typeface="Arial"/>
              </a:defRPr>
            </a:lvl6pPr>
            <a:lvl7pPr algn="ctr">
              <a:defRPr sz="1650" b="0">
                <a:solidFill>
                  <a:srgbClr val="17243A"/>
                </a:solidFill>
                <a:latin typeface="Arial"/>
                <a:ea typeface="Arial"/>
                <a:cs typeface="Arial"/>
              </a:defRPr>
            </a:lvl7pPr>
            <a:lvl8pPr algn="ctr">
              <a:defRPr sz="1650" b="0">
                <a:solidFill>
                  <a:srgbClr val="17243A"/>
                </a:solidFill>
                <a:latin typeface="Arial"/>
                <a:ea typeface="Arial"/>
                <a:cs typeface="Arial"/>
              </a:defRPr>
            </a:lvl8pPr>
            <a:lvl9pPr algn="ctr">
              <a:defRPr sz="1650" b="0">
                <a:solidFill>
                  <a:srgbClr val="17243A"/>
                </a:solidFill>
                <a:latin typeface="Arial"/>
                <a:ea typeface="Arial"/>
                <a:cs typeface="Arial"/>
              </a:defRPr>
            </a:lvl9pPr>
          </a:lstStyle>
          <a:p>
            <a:pPr algn="ctr">
              <a:defRPr sz="1650" b="0">
                <a:solidFill>
                  <a:srgbClr val="17243A"/>
                </a:solidFill>
                <a:latin typeface="Arial"/>
                <a:ea typeface="Arial"/>
                <a:cs typeface="Arial"/>
              </a:defRPr>
            </a:pPr>
            <a:r>
              <a:rPr sz="1650" b="0">
                <a:solidFill>
                  <a:srgbClr val="17243A"/>
                </a:solidFill>
                <a:latin typeface="Arial"/>
                <a:ea typeface="Arial"/>
                <a:cs typeface="Arial"/>
              </a:rPr>
              <a:t>Section validation</a:t>
            </a:r>
          </a:p>
          <a:p>
            <a:pPr algn="ctr">
              <a:defRPr sz="1650" b="0">
                <a:solidFill>
                  <a:srgbClr val="17243A"/>
                </a:solidFill>
                <a:latin typeface="Arial"/>
                <a:ea typeface="Arial"/>
                <a:cs typeface="Arial"/>
              </a:defRPr>
            </a:pPr>
            <a:r>
              <a:rPr sz="1650" b="0">
                <a:solidFill>
                  <a:srgbClr val="17243A"/>
                </a:solidFill>
                <a:latin typeface="Arial"/>
                <a:ea typeface="Arial"/>
                <a:cs typeface="Arial"/>
              </a:rPr>
              <a:t>Citations + permitted scope</a:t>
            </a:r>
          </a:p>
        </p:txBody>
      </p:sp>
      <p:sp>
        <p:nvSpPr>
          <p:cNvPr id="6" name="Rectangle: Rounded Corners 5">
            <a:extLst>
              <a:ext uri="{FF2B5EF4-FFF2-40B4-BE49-F238E27FC236}">
                <a16:creationId xmlns:a16="http://schemas.microsoft.com/office/drawing/2014/main" id="{FD0B65C3-2427-44F8-B33A-CF98744C594E}"/>
              </a:ext>
            </a:extLst>
          </p:cNvPr>
          <p:cNvSpPr>
            <a:spLocks noGrp="1"/>
          </p:cNvSpPr>
          <p:nvPr/>
        </p:nvSpPr>
        <p:spPr>
          <a:xfrm>
            <a:off x="4572000" y="3524250"/>
            <a:ext cx="7000875" cy="1666875"/>
          </a:xfrm>
          <a:prstGeom prst="roundRect">
            <a:avLst>
              <a:gd name="adj" fmla="val 5714"/>
            </a:avLst>
          </a:prstGeom>
          <a:solidFill>
            <a:srgbClr val="EDF5E8"/>
          </a:solidFill>
          <a:ln w="14288">
            <a:solidFill>
              <a:srgbClr val="71A266"/>
            </a:solidFill>
          </a:ln>
        </p:spPr>
        <p:txBody>
          <a:bodyPr wrap="square" lIns="95250" tIns="95250" rIns="95250" bIns="95250" anchor="ctr">
            <a:noAutofit/>
          </a:bodyPr>
          <a:lstStyle>
            <a:defPPr algn="ctr">
              <a:defRPr sz="2025" b="0">
                <a:solidFill>
                  <a:srgbClr val="17243A"/>
                </a:solidFill>
                <a:latin typeface="Arial"/>
                <a:ea typeface="Arial"/>
                <a:cs typeface="Arial"/>
              </a:defRPr>
            </a:defPPr>
            <a:lvl1pPr algn="ctr">
              <a:defRPr sz="2025" b="0">
                <a:solidFill>
                  <a:srgbClr val="17243A"/>
                </a:solidFill>
                <a:latin typeface="Arial"/>
                <a:ea typeface="Arial"/>
                <a:cs typeface="Arial"/>
              </a:defRPr>
            </a:lvl1pPr>
            <a:lvl2pPr algn="ctr">
              <a:defRPr sz="2025" b="0">
                <a:solidFill>
                  <a:srgbClr val="17243A"/>
                </a:solidFill>
                <a:latin typeface="Arial"/>
                <a:ea typeface="Arial"/>
                <a:cs typeface="Arial"/>
              </a:defRPr>
            </a:lvl2pPr>
            <a:lvl3pPr algn="ctr">
              <a:defRPr sz="2025" b="0">
                <a:solidFill>
                  <a:srgbClr val="17243A"/>
                </a:solidFill>
                <a:latin typeface="Arial"/>
                <a:ea typeface="Arial"/>
                <a:cs typeface="Arial"/>
              </a:defRPr>
            </a:lvl3pPr>
            <a:lvl4pPr algn="ctr">
              <a:defRPr sz="2025" b="0">
                <a:solidFill>
                  <a:srgbClr val="17243A"/>
                </a:solidFill>
                <a:latin typeface="Arial"/>
                <a:ea typeface="Arial"/>
                <a:cs typeface="Arial"/>
              </a:defRPr>
            </a:lvl4pPr>
            <a:lvl5pPr algn="ctr">
              <a:defRPr sz="2025" b="0">
                <a:solidFill>
                  <a:srgbClr val="17243A"/>
                </a:solidFill>
                <a:latin typeface="Arial"/>
                <a:ea typeface="Arial"/>
                <a:cs typeface="Arial"/>
              </a:defRPr>
            </a:lvl5pPr>
            <a:lvl6pPr algn="ctr">
              <a:defRPr sz="2025" b="0">
                <a:solidFill>
                  <a:srgbClr val="17243A"/>
                </a:solidFill>
                <a:latin typeface="Arial"/>
                <a:ea typeface="Arial"/>
                <a:cs typeface="Arial"/>
              </a:defRPr>
            </a:lvl6pPr>
            <a:lvl7pPr algn="ctr">
              <a:defRPr sz="2025" b="0">
                <a:solidFill>
                  <a:srgbClr val="17243A"/>
                </a:solidFill>
                <a:latin typeface="Arial"/>
                <a:ea typeface="Arial"/>
                <a:cs typeface="Arial"/>
              </a:defRPr>
            </a:lvl7pPr>
            <a:lvl8pPr algn="ctr">
              <a:defRPr sz="2025" b="0">
                <a:solidFill>
                  <a:srgbClr val="17243A"/>
                </a:solidFill>
                <a:latin typeface="Arial"/>
                <a:ea typeface="Arial"/>
                <a:cs typeface="Arial"/>
              </a:defRPr>
            </a:lvl8pPr>
            <a:lvl9pPr algn="ctr">
              <a:defRPr sz="2025" b="0">
                <a:solidFill>
                  <a:srgbClr val="17243A"/>
                </a:solidFill>
                <a:latin typeface="Arial"/>
                <a:ea typeface="Arial"/>
                <a:cs typeface="Arial"/>
              </a:defRPr>
            </a:lvl9pPr>
          </a:lstStyle>
          <a:p>
            <a:pPr algn="ctr">
              <a:defRPr sz="2025" b="0">
                <a:solidFill>
                  <a:srgbClr val="17243A"/>
                </a:solidFill>
                <a:latin typeface="Arial"/>
                <a:ea typeface="Arial"/>
                <a:cs typeface="Arial"/>
              </a:defRPr>
            </a:pPr>
            <a:r>
              <a:rPr sz="2025" b="0">
                <a:solidFill>
                  <a:srgbClr val="17243A"/>
                </a:solidFill>
                <a:latin typeface="Arial"/>
                <a:ea typeface="Arial"/>
                <a:cs typeface="Arial"/>
              </a:rPr>
              <a:t>Patient response</a:t>
            </a:r>
          </a:p>
          <a:p>
            <a:pPr algn="ctr">
              <a:defRPr sz="2025" b="0">
                <a:solidFill>
                  <a:srgbClr val="17243A"/>
                </a:solidFill>
                <a:latin typeface="Arial"/>
                <a:ea typeface="Arial"/>
                <a:cs typeface="Arial"/>
              </a:defRPr>
            </a:pPr>
            <a:r>
              <a:rPr sz="2025" b="0">
                <a:solidFill>
                  <a:srgbClr val="17243A"/>
                </a:solidFill>
                <a:latin typeface="Arial"/>
                <a:ea typeface="Arial"/>
                <a:cs typeface="Arial"/>
              </a:rPr>
              <a:t>What was reviewed</a:t>
            </a:r>
          </a:p>
          <a:p>
            <a:pPr algn="ctr">
              <a:defRPr sz="2025" b="0">
                <a:solidFill>
                  <a:srgbClr val="17243A"/>
                </a:solidFill>
                <a:latin typeface="Arial"/>
                <a:ea typeface="Arial"/>
                <a:cs typeface="Arial"/>
              </a:defRPr>
            </a:pPr>
            <a:r>
              <a:rPr sz="2025" b="0">
                <a:solidFill>
                  <a:srgbClr val="17243A"/>
                </a:solidFill>
                <a:latin typeface="Arial"/>
                <a:ea typeface="Arial"/>
                <a:cs typeface="Arial"/>
              </a:rPr>
              <a:t>What it may mean</a:t>
            </a:r>
          </a:p>
          <a:p>
            <a:pPr algn="ctr">
              <a:defRPr sz="2025" b="0">
                <a:solidFill>
                  <a:srgbClr val="17243A"/>
                </a:solidFill>
                <a:latin typeface="Arial"/>
                <a:ea typeface="Arial"/>
                <a:cs typeface="Arial"/>
              </a:defRPr>
            </a:pPr>
            <a:r>
              <a:rPr sz="2025" b="0">
                <a:solidFill>
                  <a:srgbClr val="17243A"/>
                </a:solidFill>
                <a:latin typeface="Arial"/>
                <a:ea typeface="Arial"/>
                <a:cs typeface="Arial"/>
              </a:rPr>
              <a:t>Uncertainty and next questions</a:t>
            </a:r>
          </a:p>
        </p:txBody>
      </p:sp>
      <p:sp>
        <p:nvSpPr>
          <p:cNvPr id="10" name="Rectangle 9">
            <a:extLst>
              <a:ext uri="{FF2B5EF4-FFF2-40B4-BE49-F238E27FC236}">
                <a16:creationId xmlns:a16="http://schemas.microsoft.com/office/drawing/2014/main" id="{DB021DE8-4F18-4F84-B8A7-3F9385EDD345}"/>
              </a:ext>
            </a:extLst>
          </p:cNvPr>
          <p:cNvSpPr>
            <a:spLocks noGrp="1"/>
          </p:cNvSpPr>
          <p:nvPr/>
        </p:nvSpPr>
        <p:spPr>
          <a:xfrm>
            <a:off x="619125" y="3619500"/>
            <a:ext cx="3143250" cy="1428750"/>
          </a:xfrm>
          <a:prstGeom prst="rect">
            <a:avLst/>
          </a:prstGeom>
          <a:noFill/>
          <a:ln w="0">
            <a:noFill/>
          </a:ln>
        </p:spPr>
        <p:txBody>
          <a:bodyPr wrap="square" lIns="0" tIns="0" rIns="0" bIns="0" anchor="ctr">
            <a:noAutofit/>
          </a:bodyPr>
          <a:lstStyle>
            <a:defPPr algn="l">
              <a:defRPr sz="1875" b="0">
                <a:solidFill>
                  <a:srgbClr val="17243A"/>
                </a:solidFill>
                <a:latin typeface="Arial"/>
                <a:ea typeface="Arial"/>
                <a:cs typeface="Arial"/>
              </a:defRPr>
            </a:defPPr>
            <a:lvl1pPr algn="l">
              <a:defRPr sz="1875" b="0">
                <a:solidFill>
                  <a:srgbClr val="17243A"/>
                </a:solidFill>
                <a:latin typeface="Arial"/>
                <a:ea typeface="Arial"/>
                <a:cs typeface="Arial"/>
              </a:defRPr>
            </a:lvl1pPr>
            <a:lvl2pPr algn="l">
              <a:defRPr sz="1875" b="0">
                <a:solidFill>
                  <a:srgbClr val="17243A"/>
                </a:solidFill>
                <a:latin typeface="Arial"/>
                <a:ea typeface="Arial"/>
                <a:cs typeface="Arial"/>
              </a:defRPr>
            </a:lvl2pPr>
            <a:lvl3pPr algn="l">
              <a:defRPr sz="1875" b="0">
                <a:solidFill>
                  <a:srgbClr val="17243A"/>
                </a:solidFill>
                <a:latin typeface="Arial"/>
                <a:ea typeface="Arial"/>
                <a:cs typeface="Arial"/>
              </a:defRPr>
            </a:lvl3pPr>
            <a:lvl4pPr algn="l">
              <a:defRPr sz="1875" b="0">
                <a:solidFill>
                  <a:srgbClr val="17243A"/>
                </a:solidFill>
                <a:latin typeface="Arial"/>
                <a:ea typeface="Arial"/>
                <a:cs typeface="Arial"/>
              </a:defRPr>
            </a:lvl4pPr>
            <a:lvl5pPr algn="l">
              <a:defRPr sz="1875" b="0">
                <a:solidFill>
                  <a:srgbClr val="17243A"/>
                </a:solidFill>
                <a:latin typeface="Arial"/>
                <a:ea typeface="Arial"/>
                <a:cs typeface="Arial"/>
              </a:defRPr>
            </a:lvl5pPr>
            <a:lvl6pPr algn="l">
              <a:defRPr sz="1875" b="0">
                <a:solidFill>
                  <a:srgbClr val="17243A"/>
                </a:solidFill>
                <a:latin typeface="Arial"/>
                <a:ea typeface="Arial"/>
                <a:cs typeface="Arial"/>
              </a:defRPr>
            </a:lvl6pPr>
            <a:lvl7pPr algn="l">
              <a:defRPr sz="1875" b="0">
                <a:solidFill>
                  <a:srgbClr val="17243A"/>
                </a:solidFill>
                <a:latin typeface="Arial"/>
                <a:ea typeface="Arial"/>
                <a:cs typeface="Arial"/>
              </a:defRPr>
            </a:lvl7pPr>
            <a:lvl8pPr algn="l">
              <a:defRPr sz="1875" b="0">
                <a:solidFill>
                  <a:srgbClr val="17243A"/>
                </a:solidFill>
                <a:latin typeface="Arial"/>
                <a:ea typeface="Arial"/>
                <a:cs typeface="Arial"/>
              </a:defRPr>
            </a:lvl8pPr>
            <a:lvl9pPr algn="l">
              <a:defRPr sz="1875" b="0">
                <a:solidFill>
                  <a:srgbClr val="17243A"/>
                </a:solidFill>
                <a:latin typeface="Arial"/>
                <a:ea typeface="Arial"/>
                <a:cs typeface="Arial"/>
              </a:defRPr>
            </a:lvl9pPr>
          </a:lstStyle>
          <a:p>
            <a:pPr algn="l">
              <a:defRPr sz="1875" b="0">
                <a:solidFill>
                  <a:srgbClr val="17243A"/>
                </a:solidFill>
                <a:latin typeface="Arial"/>
                <a:ea typeface="Arial"/>
                <a:cs typeface="Arial"/>
              </a:defRPr>
            </a:pPr>
            <a:r>
              <a:rPr sz="1875" b="0">
                <a:solidFill>
                  <a:srgbClr val="17243A"/>
                </a:solidFill>
                <a:latin typeface="Arial"/>
                <a:ea typeface="Arial"/>
                <a:cs typeface="Arial"/>
              </a:rPr>
              <a:t>If validation fails:</a:t>
            </a:r>
          </a:p>
          <a:p>
            <a:pPr algn="l">
              <a:defRPr sz="1875" b="0">
                <a:solidFill>
                  <a:srgbClr val="17243A"/>
                </a:solidFill>
                <a:latin typeface="Arial"/>
                <a:ea typeface="Arial"/>
                <a:cs typeface="Arial"/>
              </a:defRPr>
            </a:pPr>
            <a:r>
              <a:rPr sz="1875" b="0">
                <a:solidFill>
                  <a:srgbClr val="17243A"/>
                </a:solidFill>
                <a:latin typeface="Arial"/>
                <a:ea typeface="Arial"/>
                <a:cs typeface="Arial"/>
              </a:rPr>
              <a:t>withhold the section</a:t>
            </a:r>
          </a:p>
          <a:p>
            <a:pPr algn="l">
              <a:defRPr sz="1875" b="0">
                <a:solidFill>
                  <a:srgbClr val="17243A"/>
                </a:solidFill>
                <a:latin typeface="Arial"/>
                <a:ea typeface="Arial"/>
                <a:cs typeface="Arial"/>
              </a:defRPr>
            </a:pPr>
            <a:r>
              <a:rPr sz="1875" b="0">
                <a:solidFill>
                  <a:srgbClr val="17243A"/>
                </a:solidFill>
                <a:latin typeface="Arial"/>
                <a:ea typeface="Arial"/>
                <a:cs typeface="Arial"/>
              </a:rPr>
              <a:t>and render supported</a:t>
            </a:r>
          </a:p>
          <a:p>
            <a:pPr algn="l">
              <a:defRPr sz="1875" b="0">
                <a:solidFill>
                  <a:srgbClr val="17243A"/>
                </a:solidFill>
                <a:latin typeface="Arial"/>
                <a:ea typeface="Arial"/>
                <a:cs typeface="Arial"/>
              </a:defRPr>
            </a:pPr>
            <a:r>
              <a:rPr sz="1875" b="0">
                <a:solidFill>
                  <a:srgbClr val="17243A"/>
                </a:solidFill>
                <a:latin typeface="Arial"/>
                <a:ea typeface="Arial"/>
                <a:cs typeface="Arial"/>
              </a:rPr>
              <a:t>content from a template.</a:t>
            </a:r>
          </a:p>
        </p:txBody>
      </p:sp>
      <p:sp>
        <p:nvSpPr>
          <p:cNvPr id="11" name="Rectangle 10">
            <a:extLst>
              <a:ext uri="{FF2B5EF4-FFF2-40B4-BE49-F238E27FC236}">
                <a16:creationId xmlns:a16="http://schemas.microsoft.com/office/drawing/2014/main" id="{FC4ED73D-FEA2-4F14-BCEB-802DDDA44D0C}"/>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DELIVERY</a:t>
            </a:r>
          </a:p>
        </p:txBody>
      </p:sp>
      <p:sp>
        <p:nvSpPr>
          <p:cNvPr id="12" name="Rectangle 11">
            <a:extLst>
              <a:ext uri="{FF2B5EF4-FFF2-40B4-BE49-F238E27FC236}">
                <a16:creationId xmlns:a16="http://schemas.microsoft.com/office/drawing/2014/main" id="{73D213D3-AC64-4C0D-86E2-9294D3318556}"/>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Live progress throughout; validated answer sections appear incrementally.</a:t>
            </a:r>
          </a:p>
        </p:txBody>
      </p:sp>
      <p:sp>
        <p:nvSpPr>
          <p:cNvPr id="13" name="Rectangle: Rounded Corners 12">
            <a:extLst>
              <a:ext uri="{FF2B5EF4-FFF2-40B4-BE49-F238E27FC236}">
                <a16:creationId xmlns:a16="http://schemas.microsoft.com/office/drawing/2014/main" id="{57668A2B-6EF9-419F-9955-B2ECD913A4CB}"/>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4" name="Rectangle 13">
            <a:extLst>
              <a:ext uri="{FF2B5EF4-FFF2-40B4-BE49-F238E27FC236}">
                <a16:creationId xmlns:a16="http://schemas.microsoft.com/office/drawing/2014/main" id="{A0EB5F51-A0E1-4D6A-8503-78C41493A3A7}"/>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5" name="Rectangle: Rounded Corners 14">
            <a:extLst>
              <a:ext uri="{FF2B5EF4-FFF2-40B4-BE49-F238E27FC236}">
                <a16:creationId xmlns:a16="http://schemas.microsoft.com/office/drawing/2014/main" id="{11F00076-8C1B-4E0F-9176-8939481006B0}"/>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16" name="Rectangle 15">
            <a:extLst>
              <a:ext uri="{FF2B5EF4-FFF2-40B4-BE49-F238E27FC236}">
                <a16:creationId xmlns:a16="http://schemas.microsoft.com/office/drawing/2014/main" id="{A0671192-A035-4392-83DB-DED03E6CE25E}"/>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17" name="Rectangle: Rounded Corners 16">
            <a:extLst>
              <a:ext uri="{FF2B5EF4-FFF2-40B4-BE49-F238E27FC236}">
                <a16:creationId xmlns:a16="http://schemas.microsoft.com/office/drawing/2014/main" id="{D06BE294-950E-4EA3-9E90-A11395B9136A}"/>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18" name="Rectangle 17">
            <a:extLst>
              <a:ext uri="{FF2B5EF4-FFF2-40B4-BE49-F238E27FC236}">
                <a16:creationId xmlns:a16="http://schemas.microsoft.com/office/drawing/2014/main" id="{2276B82E-72B1-4795-AEE6-57D2D715E488}"/>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19" name="Rectangle: Rounded Corners 18">
            <a:extLst>
              <a:ext uri="{FF2B5EF4-FFF2-40B4-BE49-F238E27FC236}">
                <a16:creationId xmlns:a16="http://schemas.microsoft.com/office/drawing/2014/main" id="{0ED8B834-F690-4D9C-A4CA-29A7645F99E7}"/>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0" name="Rectangle 19">
            <a:extLst>
              <a:ext uri="{FF2B5EF4-FFF2-40B4-BE49-F238E27FC236}">
                <a16:creationId xmlns:a16="http://schemas.microsoft.com/office/drawing/2014/main" id="{AD37C221-A3C5-482B-BF0D-1075CFBD2EAD}"/>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1" name="Rectangle: Rounded Corners 20">
            <a:extLst>
              <a:ext uri="{FF2B5EF4-FFF2-40B4-BE49-F238E27FC236}">
                <a16:creationId xmlns:a16="http://schemas.microsoft.com/office/drawing/2014/main" id="{2E38B0CB-B3AF-496D-9C5E-B5FEC082BFAA}"/>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2" name="Rectangle 21">
            <a:extLst>
              <a:ext uri="{FF2B5EF4-FFF2-40B4-BE49-F238E27FC236}">
                <a16:creationId xmlns:a16="http://schemas.microsoft.com/office/drawing/2014/main" id="{182A1F86-2980-41C1-AD9D-6549BF1212DB}"/>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3" name="Rectangle 22">
            <a:extLst>
              <a:ext uri="{FF2B5EF4-FFF2-40B4-BE49-F238E27FC236}">
                <a16:creationId xmlns:a16="http://schemas.microsoft.com/office/drawing/2014/main" id="{1A85D9AD-EFE3-4694-B0E7-967FE48846D0}"/>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12</a:t>
            </a:r>
          </a:p>
        </p:txBody>
      </p:sp>
    </p:spTree>
    <p:extLst>
      <p:ext uri="{BB962C8B-B14F-4D97-AF65-F5344CB8AC3E}">
        <p14:creationId xmlns:p14="http://schemas.microsoft.com/office/powerpoint/2010/main" val="1585217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A2D39A4A-4BE5-4FFB-8750-EBEFFD0CF979}"/>
              </a:ext>
            </a:extLst>
          </p:cNvPr>
          <p:cNvCxnSpPr>
            <a:stCxn id="7" idx="3"/>
            <a:endCxn id="8" idx="1"/>
          </p:cNvCxnSpPr>
          <p:nvPr/>
        </p:nvCxnSpPr>
        <p:spPr>
          <a:xfrm>
            <a:off x="7810500" y="3500438"/>
            <a:ext cx="523875" cy="0"/>
          </a:xfrm>
          <a:prstGeom prst="straightConnector1">
            <a:avLst/>
          </a:prstGeom>
          <a:ln w="16193">
            <a:solidFill>
              <a:srgbClr val="66758A"/>
            </a:solidFill>
            <a:prstDash val="solid"/>
            <a:tailEnd type="triangle" w="sm" len="sm"/>
          </a:ln>
        </p:spPr>
      </p:cxnSp>
      <p:cxnSp>
        <p:nvCxnSpPr>
          <p:cNvPr id="11" name="Straight Arrow Connector 10">
            <a:extLst>
              <a:ext uri="{FF2B5EF4-FFF2-40B4-BE49-F238E27FC236}">
                <a16:creationId xmlns:a16="http://schemas.microsoft.com/office/drawing/2014/main" id="{0D66B189-1F9A-42FA-AC9F-F5EA27A2AB93}"/>
              </a:ext>
            </a:extLst>
          </p:cNvPr>
          <p:cNvCxnSpPr>
            <a:stCxn id="6" idx="3"/>
            <a:endCxn id="7" idx="1"/>
          </p:cNvCxnSpPr>
          <p:nvPr/>
        </p:nvCxnSpPr>
        <p:spPr>
          <a:xfrm>
            <a:off x="3952875" y="3500438"/>
            <a:ext cx="523875" cy="0"/>
          </a:xfrm>
          <a:prstGeom prst="straightConnector1">
            <a:avLst/>
          </a:prstGeom>
          <a:ln w="16193">
            <a:solidFill>
              <a:srgbClr val="66758A"/>
            </a:solidFill>
            <a:prstDash val="solid"/>
            <a:tailEnd type="triangle" w="sm" len="sm"/>
          </a:ln>
        </p:spPr>
      </p:cxnSp>
      <p:cxnSp>
        <p:nvCxnSpPr>
          <p:cNvPr id="10" name="Straight Arrow Connector 9">
            <a:extLst>
              <a:ext uri="{FF2B5EF4-FFF2-40B4-BE49-F238E27FC236}">
                <a16:creationId xmlns:a16="http://schemas.microsoft.com/office/drawing/2014/main" id="{DAACFF15-23DF-40C3-89BC-FF67DA4E3284}"/>
              </a:ext>
            </a:extLst>
          </p:cNvPr>
          <p:cNvCxnSpPr>
            <a:stCxn id="4" idx="3"/>
            <a:endCxn id="5" idx="1"/>
          </p:cNvCxnSpPr>
          <p:nvPr/>
        </p:nvCxnSpPr>
        <p:spPr>
          <a:xfrm>
            <a:off x="7810500" y="2071688"/>
            <a:ext cx="523875" cy="0"/>
          </a:xfrm>
          <a:prstGeom prst="straightConnector1">
            <a:avLst/>
          </a:prstGeom>
          <a:ln w="16193">
            <a:solidFill>
              <a:srgbClr val="66758A"/>
            </a:solidFill>
            <a:prstDash val="solid"/>
            <a:tailEnd type="triangle" w="sm" len="sm"/>
          </a:ln>
        </p:spPr>
      </p:cxnSp>
      <p:cxnSp>
        <p:nvCxnSpPr>
          <p:cNvPr id="9" name="Straight Arrow Connector 8">
            <a:extLst>
              <a:ext uri="{FF2B5EF4-FFF2-40B4-BE49-F238E27FC236}">
                <a16:creationId xmlns:a16="http://schemas.microsoft.com/office/drawing/2014/main" id="{0891DD52-CFA3-49D0-8255-5CC43D59FC0D}"/>
              </a:ext>
            </a:extLst>
          </p:cNvPr>
          <p:cNvCxnSpPr>
            <a:stCxn id="3" idx="3"/>
            <a:endCxn id="4" idx="1"/>
          </p:cNvCxnSpPr>
          <p:nvPr/>
        </p:nvCxnSpPr>
        <p:spPr>
          <a:xfrm>
            <a:off x="3952875" y="2071688"/>
            <a:ext cx="523875" cy="0"/>
          </a:xfrm>
          <a:prstGeom prst="straightConnector1">
            <a:avLst/>
          </a:prstGeom>
          <a:ln w="16193">
            <a:solidFill>
              <a:srgbClr val="66758A"/>
            </a:solidFill>
            <a:prstDash val="solid"/>
            <a:tailEnd type="triangle" w="sm" len="sm"/>
          </a:ln>
        </p:spPr>
      </p:cxnSp>
      <p:sp>
        <p:nvSpPr>
          <p:cNvPr id="28" name="Rectangle 27">
            <a:extLst>
              <a:ext uri="{FF2B5EF4-FFF2-40B4-BE49-F238E27FC236}">
                <a16:creationId xmlns:a16="http://schemas.microsoft.com/office/drawing/2014/main" id="{40300C3E-3DA7-448E-9424-655236788FF8}"/>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Live streaming and traceability</a:t>
            </a:r>
          </a:p>
        </p:txBody>
      </p:sp>
      <p:sp>
        <p:nvSpPr>
          <p:cNvPr id="2" name="Rectangle 1">
            <a:extLst>
              <a:ext uri="{FF2B5EF4-FFF2-40B4-BE49-F238E27FC236}">
                <a16:creationId xmlns:a16="http://schemas.microsoft.com/office/drawing/2014/main" id="{6529DD1A-CD74-4BC4-83FE-B2BBA3E8361C}"/>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Every question, handoff and recovery action has an event</a:t>
            </a:r>
          </a:p>
        </p:txBody>
      </p:sp>
      <p:sp>
        <p:nvSpPr>
          <p:cNvPr id="3" name="Rectangle: Rounded Corners 2">
            <a:extLst>
              <a:ext uri="{FF2B5EF4-FFF2-40B4-BE49-F238E27FC236}">
                <a16:creationId xmlns:a16="http://schemas.microsoft.com/office/drawing/2014/main" id="{2E7D79AA-79B2-494F-8B0A-33D2DCF603D5}"/>
              </a:ext>
            </a:extLst>
          </p:cNvPr>
          <p:cNvSpPr>
            <a:spLocks noGrp="1"/>
          </p:cNvSpPr>
          <p:nvPr/>
        </p:nvSpPr>
        <p:spPr>
          <a:xfrm>
            <a:off x="619125" y="1571625"/>
            <a:ext cx="3333750" cy="1000125"/>
          </a:xfrm>
          <a:prstGeom prst="roundRect">
            <a:avLst>
              <a:gd name="adj" fmla="val 9524"/>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Decomposed</a:t>
            </a:r>
          </a:p>
          <a:p>
            <a:pPr algn="ctr">
              <a:defRPr sz="1725" b="0">
                <a:solidFill>
                  <a:srgbClr val="17243A"/>
                </a:solidFill>
                <a:latin typeface="Arial"/>
                <a:ea typeface="Arial"/>
                <a:cs typeface="Arial"/>
              </a:defRPr>
            </a:pPr>
            <a:r>
              <a:rPr sz="1725" b="0">
                <a:solidFill>
                  <a:srgbClr val="17243A"/>
                </a:solidFill>
                <a:latin typeface="Arial"/>
                <a:ea typeface="Arial"/>
                <a:cs typeface="Arial"/>
              </a:rPr>
              <a:t>4 validated questions</a:t>
            </a:r>
          </a:p>
        </p:txBody>
      </p:sp>
      <p:sp>
        <p:nvSpPr>
          <p:cNvPr id="4" name="Rectangle: Rounded Corners 3">
            <a:extLst>
              <a:ext uri="{FF2B5EF4-FFF2-40B4-BE49-F238E27FC236}">
                <a16:creationId xmlns:a16="http://schemas.microsoft.com/office/drawing/2014/main" id="{BDE2342D-3C2D-4533-A7EB-E80DEB53FDF2}"/>
              </a:ext>
            </a:extLst>
          </p:cNvPr>
          <p:cNvSpPr>
            <a:spLocks noGrp="1"/>
          </p:cNvSpPr>
          <p:nvPr/>
        </p:nvSpPr>
        <p:spPr>
          <a:xfrm>
            <a:off x="4476750" y="1571625"/>
            <a:ext cx="3333750" cy="1000125"/>
          </a:xfrm>
          <a:prstGeom prst="roundRect">
            <a:avLst>
              <a:gd name="adj" fmla="val 9524"/>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Assigned</a:t>
            </a:r>
          </a:p>
          <a:p>
            <a:pPr algn="ctr">
              <a:defRPr sz="1725" b="0">
                <a:solidFill>
                  <a:srgbClr val="17243A"/>
                </a:solidFill>
                <a:latin typeface="Arial"/>
                <a:ea typeface="Arial"/>
                <a:cs typeface="Arial"/>
              </a:defRPr>
            </a:pPr>
            <a:r>
              <a:rPr sz="1725" b="0">
                <a:solidFill>
                  <a:srgbClr val="17243A"/>
                </a:solidFill>
                <a:latin typeface="Arial"/>
                <a:ea typeface="Arial"/>
                <a:cs typeface="Arial"/>
              </a:rPr>
              <a:t>Q1 Lab / Q2 Radiology</a:t>
            </a:r>
          </a:p>
        </p:txBody>
      </p:sp>
      <p:sp>
        <p:nvSpPr>
          <p:cNvPr id="5" name="Rectangle: Rounded Corners 4">
            <a:extLst>
              <a:ext uri="{FF2B5EF4-FFF2-40B4-BE49-F238E27FC236}">
                <a16:creationId xmlns:a16="http://schemas.microsoft.com/office/drawing/2014/main" id="{82771066-9E8D-4A90-9434-B33800C443FD}"/>
              </a:ext>
            </a:extLst>
          </p:cNvPr>
          <p:cNvSpPr>
            <a:spLocks noGrp="1"/>
          </p:cNvSpPr>
          <p:nvPr/>
        </p:nvSpPr>
        <p:spPr>
          <a:xfrm>
            <a:off x="8334375" y="1571625"/>
            <a:ext cx="3333750" cy="1000125"/>
          </a:xfrm>
          <a:prstGeom prst="roundRect">
            <a:avLst>
              <a:gd name="adj" fmla="val 9524"/>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Evaluating</a:t>
            </a:r>
          </a:p>
          <a:p>
            <a:pPr algn="ctr">
              <a:defRPr sz="1725" b="0">
                <a:solidFill>
                  <a:srgbClr val="17243A"/>
                </a:solidFill>
                <a:latin typeface="Arial"/>
                <a:ea typeface="Arial"/>
                <a:cs typeface="Arial"/>
              </a:defRPr>
            </a:pPr>
            <a:r>
              <a:rPr sz="1725" b="0">
                <a:solidFill>
                  <a:srgbClr val="17243A"/>
                </a:solidFill>
                <a:latin typeface="Arial"/>
                <a:ea typeface="Arial"/>
                <a:cs typeface="Arial"/>
              </a:rPr>
              <a:t>Support gap identified</a:t>
            </a:r>
          </a:p>
        </p:txBody>
      </p:sp>
      <p:sp>
        <p:nvSpPr>
          <p:cNvPr id="6" name="Rectangle: Rounded Corners 5">
            <a:extLst>
              <a:ext uri="{FF2B5EF4-FFF2-40B4-BE49-F238E27FC236}">
                <a16:creationId xmlns:a16="http://schemas.microsoft.com/office/drawing/2014/main" id="{DA467DBA-38E1-4FB8-8F83-88709D8DA738}"/>
              </a:ext>
            </a:extLst>
          </p:cNvPr>
          <p:cNvSpPr>
            <a:spLocks noGrp="1"/>
          </p:cNvSpPr>
          <p:nvPr/>
        </p:nvSpPr>
        <p:spPr>
          <a:xfrm>
            <a:off x="619125" y="3000375"/>
            <a:ext cx="3333750" cy="1000125"/>
          </a:xfrm>
          <a:prstGeom prst="roundRect">
            <a:avLst>
              <a:gd name="adj" fmla="val 9524"/>
            </a:avLst>
          </a:prstGeom>
          <a:solidFill>
            <a:srgbClr val="F0E8FC"/>
          </a:solidFill>
          <a:ln w="14288">
            <a:solidFill>
              <a:srgbClr val="8B5FC7"/>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Recovering</a:t>
            </a:r>
          </a:p>
          <a:p>
            <a:pPr algn="ctr">
              <a:defRPr sz="1725" b="0">
                <a:solidFill>
                  <a:srgbClr val="17243A"/>
                </a:solidFill>
                <a:latin typeface="Arial"/>
                <a:ea typeface="Arial"/>
                <a:cs typeface="Arial"/>
              </a:defRPr>
            </a:pPr>
            <a:r>
              <a:rPr sz="1725" b="0">
                <a:solidFill>
                  <a:srgbClr val="17243A"/>
                </a:solidFill>
                <a:latin typeface="Arial"/>
                <a:ea typeface="Arial"/>
                <a:cs typeface="Arial"/>
              </a:rPr>
              <a:t>Multi-query + HyDE + step-back</a:t>
            </a:r>
          </a:p>
        </p:txBody>
      </p:sp>
      <p:sp>
        <p:nvSpPr>
          <p:cNvPr id="7" name="Rectangle: Rounded Corners 6">
            <a:extLst>
              <a:ext uri="{FF2B5EF4-FFF2-40B4-BE49-F238E27FC236}">
                <a16:creationId xmlns:a16="http://schemas.microsoft.com/office/drawing/2014/main" id="{62FD7D5E-30F8-4F63-B63D-23E835817FAB}"/>
              </a:ext>
            </a:extLst>
          </p:cNvPr>
          <p:cNvSpPr>
            <a:spLocks noGrp="1"/>
          </p:cNvSpPr>
          <p:nvPr/>
        </p:nvSpPr>
        <p:spPr>
          <a:xfrm>
            <a:off x="4476750" y="3000375"/>
            <a:ext cx="3333750" cy="1000125"/>
          </a:xfrm>
          <a:prstGeom prst="roundRect">
            <a:avLst>
              <a:gd name="adj" fmla="val 9524"/>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Continuing</a:t>
            </a:r>
          </a:p>
          <a:p>
            <a:pPr algn="ctr">
              <a:defRPr sz="1725" b="0">
                <a:solidFill>
                  <a:srgbClr val="17243A"/>
                </a:solidFill>
                <a:latin typeface="Arial"/>
                <a:ea typeface="Arial"/>
                <a:cs typeface="Arial"/>
              </a:defRPr>
            </a:pPr>
            <a:r>
              <a:rPr sz="1725" b="0">
                <a:solidFill>
                  <a:srgbClr val="17243A"/>
                </a:solidFill>
                <a:latin typeface="Arial"/>
                <a:ea typeface="Arial"/>
                <a:cs typeface="Arial"/>
              </a:rPr>
              <a:t>Qualified explanation</a:t>
            </a:r>
          </a:p>
        </p:txBody>
      </p:sp>
      <p:sp>
        <p:nvSpPr>
          <p:cNvPr id="8" name="Rectangle: Rounded Corners 7">
            <a:extLst>
              <a:ext uri="{FF2B5EF4-FFF2-40B4-BE49-F238E27FC236}">
                <a16:creationId xmlns:a16="http://schemas.microsoft.com/office/drawing/2014/main" id="{E90621CC-67A7-4734-AB9B-4969B054D1ED}"/>
              </a:ext>
            </a:extLst>
          </p:cNvPr>
          <p:cNvSpPr>
            <a:spLocks noGrp="1"/>
          </p:cNvSpPr>
          <p:nvPr/>
        </p:nvSpPr>
        <p:spPr>
          <a:xfrm>
            <a:off x="8334375" y="3000375"/>
            <a:ext cx="3333750" cy="1000125"/>
          </a:xfrm>
          <a:prstGeom prst="roundRect">
            <a:avLst>
              <a:gd name="adj" fmla="val 9524"/>
            </a:avLst>
          </a:prstGeom>
          <a:solidFill>
            <a:srgbClr val="EAF1FB"/>
          </a:solidFill>
          <a:ln w="14288">
            <a:solidFill>
              <a:srgbClr val="6D91C9"/>
            </a:solidFill>
          </a:ln>
        </p:spPr>
        <p:txBody>
          <a:bodyPr wrap="square" lIns="95250" tIns="95250" rIns="95250" bIns="95250" anchor="ctr">
            <a:noAutofit/>
          </a:bodyPr>
          <a:lstStyle>
            <a:defPPr algn="ctr">
              <a:defRPr sz="1725" b="0">
                <a:solidFill>
                  <a:srgbClr val="17243A"/>
                </a:solidFill>
                <a:latin typeface="Arial"/>
                <a:ea typeface="Arial"/>
                <a:cs typeface="Arial"/>
              </a:defRPr>
            </a:defPPr>
            <a:lvl1pPr algn="ctr">
              <a:defRPr sz="1725" b="0">
                <a:solidFill>
                  <a:srgbClr val="17243A"/>
                </a:solidFill>
                <a:latin typeface="Arial"/>
                <a:ea typeface="Arial"/>
                <a:cs typeface="Arial"/>
              </a:defRPr>
            </a:lvl1pPr>
            <a:lvl2pPr algn="ctr">
              <a:defRPr sz="1725" b="0">
                <a:solidFill>
                  <a:srgbClr val="17243A"/>
                </a:solidFill>
                <a:latin typeface="Arial"/>
                <a:ea typeface="Arial"/>
                <a:cs typeface="Arial"/>
              </a:defRPr>
            </a:lvl2pPr>
            <a:lvl3pPr algn="ctr">
              <a:defRPr sz="1725" b="0">
                <a:solidFill>
                  <a:srgbClr val="17243A"/>
                </a:solidFill>
                <a:latin typeface="Arial"/>
                <a:ea typeface="Arial"/>
                <a:cs typeface="Arial"/>
              </a:defRPr>
            </a:lvl3pPr>
            <a:lvl4pPr algn="ctr">
              <a:defRPr sz="1725" b="0">
                <a:solidFill>
                  <a:srgbClr val="17243A"/>
                </a:solidFill>
                <a:latin typeface="Arial"/>
                <a:ea typeface="Arial"/>
                <a:cs typeface="Arial"/>
              </a:defRPr>
            </a:lvl4pPr>
            <a:lvl5pPr algn="ctr">
              <a:defRPr sz="1725" b="0">
                <a:solidFill>
                  <a:srgbClr val="17243A"/>
                </a:solidFill>
                <a:latin typeface="Arial"/>
                <a:ea typeface="Arial"/>
                <a:cs typeface="Arial"/>
              </a:defRPr>
            </a:lvl5pPr>
            <a:lvl6pPr algn="ctr">
              <a:defRPr sz="1725" b="0">
                <a:solidFill>
                  <a:srgbClr val="17243A"/>
                </a:solidFill>
                <a:latin typeface="Arial"/>
                <a:ea typeface="Arial"/>
                <a:cs typeface="Arial"/>
              </a:defRPr>
            </a:lvl6pPr>
            <a:lvl7pPr algn="ctr">
              <a:defRPr sz="1725" b="0">
                <a:solidFill>
                  <a:srgbClr val="17243A"/>
                </a:solidFill>
                <a:latin typeface="Arial"/>
                <a:ea typeface="Arial"/>
                <a:cs typeface="Arial"/>
              </a:defRPr>
            </a:lvl7pPr>
            <a:lvl8pPr algn="ctr">
              <a:defRPr sz="1725" b="0">
                <a:solidFill>
                  <a:srgbClr val="17243A"/>
                </a:solidFill>
                <a:latin typeface="Arial"/>
                <a:ea typeface="Arial"/>
                <a:cs typeface="Arial"/>
              </a:defRPr>
            </a:lvl8pPr>
            <a:lvl9pPr algn="ctr">
              <a:defRPr sz="1725" b="0">
                <a:solidFill>
                  <a:srgbClr val="17243A"/>
                </a:solidFill>
                <a:latin typeface="Arial"/>
                <a:ea typeface="Arial"/>
                <a:cs typeface="Arial"/>
              </a:defRPr>
            </a:lvl9pPr>
          </a:lstStyle>
          <a:p>
            <a:pPr algn="ctr">
              <a:defRPr sz="1725" b="0">
                <a:solidFill>
                  <a:srgbClr val="17243A"/>
                </a:solidFill>
                <a:latin typeface="Arial"/>
                <a:ea typeface="Arial"/>
                <a:cs typeface="Arial"/>
              </a:defRPr>
            </a:pPr>
            <a:r>
              <a:rPr sz="1725" b="0">
                <a:solidFill>
                  <a:srgbClr val="17243A"/>
                </a:solidFill>
                <a:latin typeface="Arial"/>
                <a:ea typeface="Arial"/>
                <a:cs typeface="Arial"/>
              </a:rPr>
              <a:t>Presenting</a:t>
            </a:r>
          </a:p>
          <a:p>
            <a:pPr algn="ctr">
              <a:defRPr sz="1725" b="0">
                <a:solidFill>
                  <a:srgbClr val="17243A"/>
                </a:solidFill>
                <a:latin typeface="Arial"/>
                <a:ea typeface="Arial"/>
                <a:cs typeface="Arial"/>
              </a:defRPr>
            </a:pPr>
            <a:r>
              <a:rPr sz="1725" b="0">
                <a:solidFill>
                  <a:srgbClr val="17243A"/>
                </a:solidFill>
                <a:latin typeface="Arial"/>
                <a:ea typeface="Arial"/>
                <a:cs typeface="Arial"/>
              </a:rPr>
              <a:t>Reviewed answer sections</a:t>
            </a:r>
          </a:p>
        </p:txBody>
      </p:sp>
      <p:sp>
        <p:nvSpPr>
          <p:cNvPr id="13" name="Rectangle 12">
            <a:extLst>
              <a:ext uri="{FF2B5EF4-FFF2-40B4-BE49-F238E27FC236}">
                <a16:creationId xmlns:a16="http://schemas.microsoft.com/office/drawing/2014/main" id="{43303062-C015-4CA8-8779-0B7C78040326}"/>
              </a:ext>
            </a:extLst>
          </p:cNvPr>
          <p:cNvSpPr>
            <a:spLocks noGrp="1"/>
          </p:cNvSpPr>
          <p:nvPr/>
        </p:nvSpPr>
        <p:spPr>
          <a:xfrm>
            <a:off x="619125" y="4762500"/>
            <a:ext cx="10953750" cy="400050"/>
          </a:xfrm>
          <a:prstGeom prst="rect">
            <a:avLst/>
          </a:prstGeom>
          <a:noFill/>
          <a:ln w="0">
            <a:noFill/>
          </a:ln>
        </p:spPr>
        <p:txBody>
          <a:bodyPr wrap="square" lIns="0" tIns="0" rIns="0" bIns="0" anchor="ctr">
            <a:noAutofit/>
          </a:bodyPr>
          <a:lstStyle>
            <a:defPPr algn="l">
              <a:defRPr sz="1875" b="0">
                <a:solidFill>
                  <a:srgbClr val="17243A"/>
                </a:solidFill>
                <a:latin typeface="Arial"/>
                <a:ea typeface="Arial"/>
                <a:cs typeface="Arial"/>
              </a:defRPr>
            </a:defPPr>
            <a:lvl1pPr algn="l">
              <a:defRPr sz="1875" b="0">
                <a:solidFill>
                  <a:srgbClr val="17243A"/>
                </a:solidFill>
                <a:latin typeface="Arial"/>
                <a:ea typeface="Arial"/>
                <a:cs typeface="Arial"/>
              </a:defRPr>
            </a:lvl1pPr>
            <a:lvl2pPr algn="l">
              <a:defRPr sz="1875" b="0">
                <a:solidFill>
                  <a:srgbClr val="17243A"/>
                </a:solidFill>
                <a:latin typeface="Arial"/>
                <a:ea typeface="Arial"/>
                <a:cs typeface="Arial"/>
              </a:defRPr>
            </a:lvl2pPr>
            <a:lvl3pPr algn="l">
              <a:defRPr sz="1875" b="0">
                <a:solidFill>
                  <a:srgbClr val="17243A"/>
                </a:solidFill>
                <a:latin typeface="Arial"/>
                <a:ea typeface="Arial"/>
                <a:cs typeface="Arial"/>
              </a:defRPr>
            </a:lvl3pPr>
            <a:lvl4pPr algn="l">
              <a:defRPr sz="1875" b="0">
                <a:solidFill>
                  <a:srgbClr val="17243A"/>
                </a:solidFill>
                <a:latin typeface="Arial"/>
                <a:ea typeface="Arial"/>
                <a:cs typeface="Arial"/>
              </a:defRPr>
            </a:lvl4pPr>
            <a:lvl5pPr algn="l">
              <a:defRPr sz="1875" b="0">
                <a:solidFill>
                  <a:srgbClr val="17243A"/>
                </a:solidFill>
                <a:latin typeface="Arial"/>
                <a:ea typeface="Arial"/>
                <a:cs typeface="Arial"/>
              </a:defRPr>
            </a:lvl5pPr>
            <a:lvl6pPr algn="l">
              <a:defRPr sz="1875" b="0">
                <a:solidFill>
                  <a:srgbClr val="17243A"/>
                </a:solidFill>
                <a:latin typeface="Arial"/>
                <a:ea typeface="Arial"/>
                <a:cs typeface="Arial"/>
              </a:defRPr>
            </a:lvl6pPr>
            <a:lvl7pPr algn="l">
              <a:defRPr sz="1875" b="0">
                <a:solidFill>
                  <a:srgbClr val="17243A"/>
                </a:solidFill>
                <a:latin typeface="Arial"/>
                <a:ea typeface="Arial"/>
                <a:cs typeface="Arial"/>
              </a:defRPr>
            </a:lvl7pPr>
            <a:lvl8pPr algn="l">
              <a:defRPr sz="1875" b="0">
                <a:solidFill>
                  <a:srgbClr val="17243A"/>
                </a:solidFill>
                <a:latin typeface="Arial"/>
                <a:ea typeface="Arial"/>
                <a:cs typeface="Arial"/>
              </a:defRPr>
            </a:lvl8pPr>
            <a:lvl9pPr algn="l">
              <a:defRPr sz="1875" b="0">
                <a:solidFill>
                  <a:srgbClr val="17243A"/>
                </a:solidFill>
                <a:latin typeface="Arial"/>
                <a:ea typeface="Arial"/>
                <a:cs typeface="Arial"/>
              </a:defRPr>
            </a:lvl9pPr>
          </a:lstStyle>
          <a:p>
            <a:pPr algn="l">
              <a:defRPr sz="1875" b="0">
                <a:solidFill>
                  <a:srgbClr val="17243A"/>
                </a:solidFill>
                <a:latin typeface="Arial"/>
                <a:ea typeface="Arial"/>
                <a:cs typeface="Arial"/>
              </a:defRPr>
            </a:pPr>
            <a:r>
              <a:rPr sz="1875" b="0">
                <a:solidFill>
                  <a:srgbClr val="17243A"/>
                </a:solidFill>
                <a:latin typeface="Arial"/>
                <a:ea typeface="Arial"/>
                <a:cs typeface="Arial"/>
              </a:rPr>
              <a:t>Durable events: run/task/need IDs, sequence, source links and verdicts</a:t>
            </a:r>
          </a:p>
        </p:txBody>
      </p:sp>
      <p:sp>
        <p:nvSpPr>
          <p:cNvPr id="14" name="Rectangle 13">
            <a:extLst>
              <a:ext uri="{FF2B5EF4-FFF2-40B4-BE49-F238E27FC236}">
                <a16:creationId xmlns:a16="http://schemas.microsoft.com/office/drawing/2014/main" id="{504A8829-7BAB-4340-88C6-0D4708DB6F18}"/>
              </a:ext>
            </a:extLst>
          </p:cNvPr>
          <p:cNvSpPr>
            <a:spLocks noGrp="1"/>
          </p:cNvSpPr>
          <p:nvPr/>
        </p:nvSpPr>
        <p:spPr>
          <a:xfrm>
            <a:off x="619125" y="5191125"/>
            <a:ext cx="10953750" cy="400050"/>
          </a:xfrm>
          <a:prstGeom prst="rect">
            <a:avLst/>
          </a:prstGeom>
          <a:noFill/>
          <a:ln w="0">
            <a:noFill/>
          </a:ln>
        </p:spPr>
        <p:txBody>
          <a:bodyPr wrap="square" lIns="0" tIns="0" rIns="0" bIns="0" anchor="ctr">
            <a:noAutofit/>
          </a:bodyPr>
          <a:lstStyle>
            <a:defPPr algn="l">
              <a:defRPr sz="1875" b="0">
                <a:solidFill>
                  <a:srgbClr val="17243A"/>
                </a:solidFill>
                <a:latin typeface="Arial"/>
                <a:ea typeface="Arial"/>
                <a:cs typeface="Arial"/>
              </a:defRPr>
            </a:defPPr>
            <a:lvl1pPr algn="l">
              <a:defRPr sz="1875" b="0">
                <a:solidFill>
                  <a:srgbClr val="17243A"/>
                </a:solidFill>
                <a:latin typeface="Arial"/>
                <a:ea typeface="Arial"/>
                <a:cs typeface="Arial"/>
              </a:defRPr>
            </a:lvl1pPr>
            <a:lvl2pPr algn="l">
              <a:defRPr sz="1875" b="0">
                <a:solidFill>
                  <a:srgbClr val="17243A"/>
                </a:solidFill>
                <a:latin typeface="Arial"/>
                <a:ea typeface="Arial"/>
                <a:cs typeface="Arial"/>
              </a:defRPr>
            </a:lvl2pPr>
            <a:lvl3pPr algn="l">
              <a:defRPr sz="1875" b="0">
                <a:solidFill>
                  <a:srgbClr val="17243A"/>
                </a:solidFill>
                <a:latin typeface="Arial"/>
                <a:ea typeface="Arial"/>
                <a:cs typeface="Arial"/>
              </a:defRPr>
            </a:lvl3pPr>
            <a:lvl4pPr algn="l">
              <a:defRPr sz="1875" b="0">
                <a:solidFill>
                  <a:srgbClr val="17243A"/>
                </a:solidFill>
                <a:latin typeface="Arial"/>
                <a:ea typeface="Arial"/>
                <a:cs typeface="Arial"/>
              </a:defRPr>
            </a:lvl4pPr>
            <a:lvl5pPr algn="l">
              <a:defRPr sz="1875" b="0">
                <a:solidFill>
                  <a:srgbClr val="17243A"/>
                </a:solidFill>
                <a:latin typeface="Arial"/>
                <a:ea typeface="Arial"/>
                <a:cs typeface="Arial"/>
              </a:defRPr>
            </a:lvl5pPr>
            <a:lvl6pPr algn="l">
              <a:defRPr sz="1875" b="0">
                <a:solidFill>
                  <a:srgbClr val="17243A"/>
                </a:solidFill>
                <a:latin typeface="Arial"/>
                <a:ea typeface="Arial"/>
                <a:cs typeface="Arial"/>
              </a:defRPr>
            </a:lvl6pPr>
            <a:lvl7pPr algn="l">
              <a:defRPr sz="1875" b="0">
                <a:solidFill>
                  <a:srgbClr val="17243A"/>
                </a:solidFill>
                <a:latin typeface="Arial"/>
                <a:ea typeface="Arial"/>
                <a:cs typeface="Arial"/>
              </a:defRPr>
            </a:lvl7pPr>
            <a:lvl8pPr algn="l">
              <a:defRPr sz="1875" b="0">
                <a:solidFill>
                  <a:srgbClr val="17243A"/>
                </a:solidFill>
                <a:latin typeface="Arial"/>
                <a:ea typeface="Arial"/>
                <a:cs typeface="Arial"/>
              </a:defRPr>
            </a:lvl8pPr>
            <a:lvl9pPr algn="l">
              <a:defRPr sz="1875" b="0">
                <a:solidFill>
                  <a:srgbClr val="17243A"/>
                </a:solidFill>
                <a:latin typeface="Arial"/>
                <a:ea typeface="Arial"/>
                <a:cs typeface="Arial"/>
              </a:defRPr>
            </a:lvl9pPr>
          </a:lstStyle>
          <a:p>
            <a:pPr algn="l">
              <a:defRPr sz="1875" b="0">
                <a:solidFill>
                  <a:srgbClr val="17243A"/>
                </a:solidFill>
                <a:latin typeface="Arial"/>
                <a:ea typeface="Arial"/>
                <a:cs typeface="Arial"/>
              </a:defRPr>
            </a:pPr>
            <a:r>
              <a:rPr sz="1875" b="0">
                <a:solidFill>
                  <a:srgbClr val="17243A"/>
                </a:solidFill>
                <a:latin typeface="Arial"/>
                <a:ea typeface="Arial"/>
                <a:cs typeface="Arial"/>
              </a:rPr>
              <a:t>Developer spans: model/tool version, latency, usage and error category</a:t>
            </a:r>
          </a:p>
        </p:txBody>
      </p:sp>
      <p:sp>
        <p:nvSpPr>
          <p:cNvPr id="15" name="Rectangle 14">
            <a:extLst>
              <a:ext uri="{FF2B5EF4-FFF2-40B4-BE49-F238E27FC236}">
                <a16:creationId xmlns:a16="http://schemas.microsoft.com/office/drawing/2014/main" id="{176C94FC-A5E9-4324-8969-7B19BFB4D3BF}"/>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FAILURE PATHS</a:t>
            </a:r>
          </a:p>
        </p:txBody>
      </p:sp>
      <p:sp>
        <p:nvSpPr>
          <p:cNvPr id="16" name="Rectangle 15">
            <a:extLst>
              <a:ext uri="{FF2B5EF4-FFF2-40B4-BE49-F238E27FC236}">
                <a16:creationId xmlns:a16="http://schemas.microsoft.com/office/drawing/2014/main" id="{640F9D31-FF39-46CF-83CD-1A0FE0849AAD}"/>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Weak retrieval gets recovery. Missing facts get clarification. Red flags pause.</a:t>
            </a:r>
          </a:p>
        </p:txBody>
      </p:sp>
      <p:sp>
        <p:nvSpPr>
          <p:cNvPr id="17" name="Rectangle: Rounded Corners 16">
            <a:extLst>
              <a:ext uri="{FF2B5EF4-FFF2-40B4-BE49-F238E27FC236}">
                <a16:creationId xmlns:a16="http://schemas.microsoft.com/office/drawing/2014/main" id="{38DBD7DA-574D-4749-B11F-7EC337BAECAF}"/>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8" name="Rectangle 17">
            <a:extLst>
              <a:ext uri="{FF2B5EF4-FFF2-40B4-BE49-F238E27FC236}">
                <a16:creationId xmlns:a16="http://schemas.microsoft.com/office/drawing/2014/main" id="{5C1D245E-3CE9-4508-9CFF-137D611A46AA}"/>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9" name="Rectangle: Rounded Corners 18">
            <a:extLst>
              <a:ext uri="{FF2B5EF4-FFF2-40B4-BE49-F238E27FC236}">
                <a16:creationId xmlns:a16="http://schemas.microsoft.com/office/drawing/2014/main" id="{F829BC13-B612-4AAF-A2F7-8E17CE9969F6}"/>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0" name="Rectangle 19">
            <a:extLst>
              <a:ext uri="{FF2B5EF4-FFF2-40B4-BE49-F238E27FC236}">
                <a16:creationId xmlns:a16="http://schemas.microsoft.com/office/drawing/2014/main" id="{A340FB85-394F-4A83-B847-26F24C8AEC09}"/>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1" name="Rectangle: Rounded Corners 20">
            <a:extLst>
              <a:ext uri="{FF2B5EF4-FFF2-40B4-BE49-F238E27FC236}">
                <a16:creationId xmlns:a16="http://schemas.microsoft.com/office/drawing/2014/main" id="{73E651A8-12FC-4C04-A3F5-3CDE289F0317}"/>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2" name="Rectangle 21">
            <a:extLst>
              <a:ext uri="{FF2B5EF4-FFF2-40B4-BE49-F238E27FC236}">
                <a16:creationId xmlns:a16="http://schemas.microsoft.com/office/drawing/2014/main" id="{FAE2F792-6F69-453E-B9F7-4D359BDF9E94}"/>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3" name="Rectangle: Rounded Corners 22">
            <a:extLst>
              <a:ext uri="{FF2B5EF4-FFF2-40B4-BE49-F238E27FC236}">
                <a16:creationId xmlns:a16="http://schemas.microsoft.com/office/drawing/2014/main" id="{79993485-F34E-4387-9065-0EB9E741499B}"/>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24" name="Rectangle 23">
            <a:extLst>
              <a:ext uri="{FF2B5EF4-FFF2-40B4-BE49-F238E27FC236}">
                <a16:creationId xmlns:a16="http://schemas.microsoft.com/office/drawing/2014/main" id="{E6A02117-79FF-4AAB-A4B0-D297798B7646}"/>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25" name="Rectangle: Rounded Corners 24">
            <a:extLst>
              <a:ext uri="{FF2B5EF4-FFF2-40B4-BE49-F238E27FC236}">
                <a16:creationId xmlns:a16="http://schemas.microsoft.com/office/drawing/2014/main" id="{8F5EFD0F-0222-400B-AF26-0F0F9DF3DC93}"/>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6" name="Rectangle 25">
            <a:extLst>
              <a:ext uri="{FF2B5EF4-FFF2-40B4-BE49-F238E27FC236}">
                <a16:creationId xmlns:a16="http://schemas.microsoft.com/office/drawing/2014/main" id="{5F80F6E9-1A70-402C-91DD-EF38141C3339}"/>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7" name="Rectangle 26">
            <a:extLst>
              <a:ext uri="{FF2B5EF4-FFF2-40B4-BE49-F238E27FC236}">
                <a16:creationId xmlns:a16="http://schemas.microsoft.com/office/drawing/2014/main" id="{E798BBB8-1DF0-4D5E-A36A-77D72BD8E34F}"/>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13</a:t>
            </a:r>
          </a:p>
        </p:txBody>
      </p:sp>
    </p:spTree>
    <p:extLst>
      <p:ext uri="{BB962C8B-B14F-4D97-AF65-F5344CB8AC3E}">
        <p14:creationId xmlns:p14="http://schemas.microsoft.com/office/powerpoint/2010/main" val="1431056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1917C47-65BC-4F46-B76E-CA14FBE2F8F9}"/>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AWS resources and model readiness</a:t>
            </a:r>
          </a:p>
        </p:txBody>
      </p:sp>
      <p:sp>
        <p:nvSpPr>
          <p:cNvPr id="2" name="Rectangle 1">
            <a:extLst>
              <a:ext uri="{FF2B5EF4-FFF2-40B4-BE49-F238E27FC236}">
                <a16:creationId xmlns:a16="http://schemas.microsoft.com/office/drawing/2014/main" id="{5D425C42-6C87-4205-B32F-C37C03500F01}"/>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Selected services are architecture choices; access and adapters still need testing</a:t>
            </a:r>
          </a:p>
        </p:txBody>
      </p:sp>
      <p:sp>
        <p:nvSpPr>
          <p:cNvPr id="3" name="Rectangle: Rounded Corners 2">
            <a:extLst>
              <a:ext uri="{FF2B5EF4-FFF2-40B4-BE49-F238E27FC236}">
                <a16:creationId xmlns:a16="http://schemas.microsoft.com/office/drawing/2014/main" id="{A03084A4-7438-42C6-8CFB-08F3AE9B78A8}"/>
              </a:ext>
            </a:extLst>
          </p:cNvPr>
          <p:cNvSpPr>
            <a:spLocks noGrp="1"/>
          </p:cNvSpPr>
          <p:nvPr/>
        </p:nvSpPr>
        <p:spPr>
          <a:xfrm>
            <a:off x="523875" y="1381125"/>
            <a:ext cx="1524000" cy="523875"/>
          </a:xfrm>
          <a:prstGeom prst="roundRect">
            <a:avLst>
              <a:gd name="adj" fmla="val 18182"/>
            </a:avLst>
          </a:prstGeom>
          <a:solidFill>
            <a:srgbClr val="F0E8FC"/>
          </a:solidFill>
          <a:ln w="14288">
            <a:solidFill>
              <a:srgbClr val="8B5FC7"/>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MODEL</a:t>
            </a:r>
          </a:p>
        </p:txBody>
      </p:sp>
      <p:sp>
        <p:nvSpPr>
          <p:cNvPr id="4" name="Rectangle: Rounded Corners 3">
            <a:extLst>
              <a:ext uri="{FF2B5EF4-FFF2-40B4-BE49-F238E27FC236}">
                <a16:creationId xmlns:a16="http://schemas.microsoft.com/office/drawing/2014/main" id="{9B24D45A-50D6-4BCD-A943-14FCA4B960EC}"/>
              </a:ext>
            </a:extLst>
          </p:cNvPr>
          <p:cNvSpPr>
            <a:spLocks noGrp="1"/>
          </p:cNvSpPr>
          <p:nvPr/>
        </p:nvSpPr>
        <p:spPr>
          <a:xfrm>
            <a:off x="523875" y="2038350"/>
            <a:ext cx="1524000" cy="523875"/>
          </a:xfrm>
          <a:prstGeom prst="roundRect">
            <a:avLst>
              <a:gd name="adj" fmla="val 18182"/>
            </a:avLst>
          </a:prstGeom>
          <a:solidFill>
            <a:srgbClr val="F0E8FC"/>
          </a:solidFill>
          <a:ln w="14288">
            <a:solidFill>
              <a:srgbClr val="8B5FC7"/>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EMBED</a:t>
            </a:r>
          </a:p>
        </p:txBody>
      </p:sp>
      <p:sp>
        <p:nvSpPr>
          <p:cNvPr id="5" name="Rectangle: Rounded Corners 4">
            <a:extLst>
              <a:ext uri="{FF2B5EF4-FFF2-40B4-BE49-F238E27FC236}">
                <a16:creationId xmlns:a16="http://schemas.microsoft.com/office/drawing/2014/main" id="{4ECAEA73-4D28-4966-B0C0-A097676E0D81}"/>
              </a:ext>
            </a:extLst>
          </p:cNvPr>
          <p:cNvSpPr>
            <a:spLocks noGrp="1"/>
          </p:cNvSpPr>
          <p:nvPr/>
        </p:nvSpPr>
        <p:spPr>
          <a:xfrm>
            <a:off x="523875" y="2695575"/>
            <a:ext cx="1524000" cy="523875"/>
          </a:xfrm>
          <a:prstGeom prst="roundRect">
            <a:avLst>
              <a:gd name="adj" fmla="val 18182"/>
            </a:avLst>
          </a:prstGeom>
          <a:solidFill>
            <a:srgbClr val="F0E8FC"/>
          </a:solidFill>
          <a:ln w="14288">
            <a:solidFill>
              <a:srgbClr val="8B5FC7"/>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RERANK</a:t>
            </a:r>
          </a:p>
        </p:txBody>
      </p:sp>
      <p:sp>
        <p:nvSpPr>
          <p:cNvPr id="6" name="Rectangle: Rounded Corners 5">
            <a:extLst>
              <a:ext uri="{FF2B5EF4-FFF2-40B4-BE49-F238E27FC236}">
                <a16:creationId xmlns:a16="http://schemas.microsoft.com/office/drawing/2014/main" id="{17167702-C308-4AD8-96A2-E329443C5D6B}"/>
              </a:ext>
            </a:extLst>
          </p:cNvPr>
          <p:cNvSpPr>
            <a:spLocks noGrp="1"/>
          </p:cNvSpPr>
          <p:nvPr/>
        </p:nvSpPr>
        <p:spPr>
          <a:xfrm>
            <a:off x="523875" y="3352800"/>
            <a:ext cx="1524000" cy="523875"/>
          </a:xfrm>
          <a:prstGeom prst="roundRect">
            <a:avLst>
              <a:gd name="adj" fmla="val 18182"/>
            </a:avLst>
          </a:prstGeom>
          <a:solidFill>
            <a:srgbClr val="E6F3F1"/>
          </a:solidFill>
          <a:ln w="14288">
            <a:solidFill>
              <a:srgbClr val="4D978E"/>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SEARCH</a:t>
            </a:r>
          </a:p>
        </p:txBody>
      </p:sp>
      <p:sp>
        <p:nvSpPr>
          <p:cNvPr id="7" name="Rectangle: Rounded Corners 6">
            <a:extLst>
              <a:ext uri="{FF2B5EF4-FFF2-40B4-BE49-F238E27FC236}">
                <a16:creationId xmlns:a16="http://schemas.microsoft.com/office/drawing/2014/main" id="{0E298127-239A-4993-8855-216C68A134F0}"/>
              </a:ext>
            </a:extLst>
          </p:cNvPr>
          <p:cNvSpPr>
            <a:spLocks noGrp="1"/>
          </p:cNvSpPr>
          <p:nvPr/>
        </p:nvSpPr>
        <p:spPr>
          <a:xfrm>
            <a:off x="523875" y="4010025"/>
            <a:ext cx="1524000" cy="523875"/>
          </a:xfrm>
          <a:prstGeom prst="roundRect">
            <a:avLst>
              <a:gd name="adj" fmla="val 18182"/>
            </a:avLst>
          </a:prstGeom>
          <a:solidFill>
            <a:srgbClr val="E6F3F1"/>
          </a:solidFill>
          <a:ln w="14288">
            <a:solidFill>
              <a:srgbClr val="4D978E"/>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STORAGE</a:t>
            </a:r>
          </a:p>
        </p:txBody>
      </p:sp>
      <p:sp>
        <p:nvSpPr>
          <p:cNvPr id="8" name="Rectangle: Rounded Corners 7">
            <a:extLst>
              <a:ext uri="{FF2B5EF4-FFF2-40B4-BE49-F238E27FC236}">
                <a16:creationId xmlns:a16="http://schemas.microsoft.com/office/drawing/2014/main" id="{D4F1ECB2-4B1A-4109-AA28-F689BA4382F8}"/>
              </a:ext>
            </a:extLst>
          </p:cNvPr>
          <p:cNvSpPr>
            <a:spLocks noGrp="1"/>
          </p:cNvSpPr>
          <p:nvPr/>
        </p:nvSpPr>
        <p:spPr>
          <a:xfrm>
            <a:off x="523875" y="4667250"/>
            <a:ext cx="1524000" cy="523875"/>
          </a:xfrm>
          <a:prstGeom prst="roundRect">
            <a:avLst>
              <a:gd name="adj" fmla="val 18182"/>
            </a:avLst>
          </a:prstGeom>
          <a:solidFill>
            <a:srgbClr val="FFF2DC"/>
          </a:solidFill>
          <a:ln w="14288">
            <a:solidFill>
              <a:srgbClr val="CD9648"/>
            </a:solidFill>
          </a:ln>
        </p:spPr>
        <p:txBody>
          <a:bodyPr wrap="square" lIns="95250" tIns="95250" rIns="95250" bIns="95250" anchor="ctr">
            <a:noAutofit/>
          </a:bodyPr>
          <a:lstStyle>
            <a:defPPr algn="ctr">
              <a:defRPr sz="1350" b="0">
                <a:solidFill>
                  <a:srgbClr val="17243A"/>
                </a:solidFill>
                <a:latin typeface="Arial"/>
                <a:ea typeface="Arial"/>
                <a:cs typeface="Arial"/>
              </a:defRPr>
            </a:defPPr>
            <a:lvl1pPr algn="ctr">
              <a:defRPr sz="1350" b="0">
                <a:solidFill>
                  <a:srgbClr val="17243A"/>
                </a:solidFill>
                <a:latin typeface="Arial"/>
                <a:ea typeface="Arial"/>
                <a:cs typeface="Arial"/>
              </a:defRPr>
            </a:lvl1pPr>
            <a:lvl2pPr algn="ctr">
              <a:defRPr sz="1350" b="0">
                <a:solidFill>
                  <a:srgbClr val="17243A"/>
                </a:solidFill>
                <a:latin typeface="Arial"/>
                <a:ea typeface="Arial"/>
                <a:cs typeface="Arial"/>
              </a:defRPr>
            </a:lvl2pPr>
            <a:lvl3pPr algn="ctr">
              <a:defRPr sz="1350" b="0">
                <a:solidFill>
                  <a:srgbClr val="17243A"/>
                </a:solidFill>
                <a:latin typeface="Arial"/>
                <a:ea typeface="Arial"/>
                <a:cs typeface="Arial"/>
              </a:defRPr>
            </a:lvl3pPr>
            <a:lvl4pPr algn="ctr">
              <a:defRPr sz="1350" b="0">
                <a:solidFill>
                  <a:srgbClr val="17243A"/>
                </a:solidFill>
                <a:latin typeface="Arial"/>
                <a:ea typeface="Arial"/>
                <a:cs typeface="Arial"/>
              </a:defRPr>
            </a:lvl4pPr>
            <a:lvl5pPr algn="ctr">
              <a:defRPr sz="1350" b="0">
                <a:solidFill>
                  <a:srgbClr val="17243A"/>
                </a:solidFill>
                <a:latin typeface="Arial"/>
                <a:ea typeface="Arial"/>
                <a:cs typeface="Arial"/>
              </a:defRPr>
            </a:lvl5pPr>
            <a:lvl6pPr algn="ctr">
              <a:defRPr sz="1350" b="0">
                <a:solidFill>
                  <a:srgbClr val="17243A"/>
                </a:solidFill>
                <a:latin typeface="Arial"/>
                <a:ea typeface="Arial"/>
                <a:cs typeface="Arial"/>
              </a:defRPr>
            </a:lvl6pPr>
            <a:lvl7pPr algn="ctr">
              <a:defRPr sz="1350" b="0">
                <a:solidFill>
                  <a:srgbClr val="17243A"/>
                </a:solidFill>
                <a:latin typeface="Arial"/>
                <a:ea typeface="Arial"/>
                <a:cs typeface="Arial"/>
              </a:defRPr>
            </a:lvl7pPr>
            <a:lvl8pPr algn="ctr">
              <a:defRPr sz="1350" b="0">
                <a:solidFill>
                  <a:srgbClr val="17243A"/>
                </a:solidFill>
                <a:latin typeface="Arial"/>
                <a:ea typeface="Arial"/>
                <a:cs typeface="Arial"/>
              </a:defRPr>
            </a:lvl8pPr>
            <a:lvl9pPr algn="ctr">
              <a:defRPr sz="1350" b="0">
                <a:solidFill>
                  <a:srgbClr val="17243A"/>
                </a:solidFill>
                <a:latin typeface="Arial"/>
                <a:ea typeface="Arial"/>
                <a:cs typeface="Arial"/>
              </a:defRPr>
            </a:lvl9pPr>
          </a:lstStyle>
          <a:p>
            <a:pPr algn="ctr">
              <a:defRPr sz="1350" b="0">
                <a:solidFill>
                  <a:srgbClr val="17243A"/>
                </a:solidFill>
                <a:latin typeface="Arial"/>
                <a:ea typeface="Arial"/>
                <a:cs typeface="Arial"/>
              </a:defRPr>
            </a:pPr>
            <a:r>
              <a:rPr sz="1350" b="0">
                <a:solidFill>
                  <a:srgbClr val="17243A"/>
                </a:solidFill>
                <a:latin typeface="Arial"/>
                <a:ea typeface="Arial"/>
                <a:cs typeface="Arial"/>
              </a:rPr>
              <a:t>CANDIDATES</a:t>
            </a:r>
          </a:p>
        </p:txBody>
      </p:sp>
      <p:sp>
        <p:nvSpPr>
          <p:cNvPr id="9" name="Rectangle 8">
            <a:extLst>
              <a:ext uri="{FF2B5EF4-FFF2-40B4-BE49-F238E27FC236}">
                <a16:creationId xmlns:a16="http://schemas.microsoft.com/office/drawing/2014/main" id="{34F57341-C74E-47DE-8397-AD40A7355853}"/>
              </a:ext>
            </a:extLst>
          </p:cNvPr>
          <p:cNvSpPr>
            <a:spLocks noGrp="1"/>
          </p:cNvSpPr>
          <p:nvPr/>
        </p:nvSpPr>
        <p:spPr>
          <a:xfrm>
            <a:off x="2333625" y="1419225"/>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Sonnet 4.6</a:t>
            </a:r>
          </a:p>
        </p:txBody>
      </p:sp>
      <p:sp>
        <p:nvSpPr>
          <p:cNvPr id="10" name="Rectangle 9">
            <a:extLst>
              <a:ext uri="{FF2B5EF4-FFF2-40B4-BE49-F238E27FC236}">
                <a16:creationId xmlns:a16="http://schemas.microsoft.com/office/drawing/2014/main" id="{B1805C28-4C97-4F59-A27B-D7F4E7AA3D7B}"/>
              </a:ext>
            </a:extLst>
          </p:cNvPr>
          <p:cNvSpPr>
            <a:spLocks noGrp="1"/>
          </p:cNvSpPr>
          <p:nvPr/>
        </p:nvSpPr>
        <p:spPr>
          <a:xfrm>
            <a:off x="6191250" y="1419225"/>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Interpretation, routing, review, generation</a:t>
            </a:r>
          </a:p>
        </p:txBody>
      </p:sp>
      <p:sp>
        <p:nvSpPr>
          <p:cNvPr id="11" name="Rectangle 10">
            <a:extLst>
              <a:ext uri="{FF2B5EF4-FFF2-40B4-BE49-F238E27FC236}">
                <a16:creationId xmlns:a16="http://schemas.microsoft.com/office/drawing/2014/main" id="{1FEFB1A3-4C53-4112-BB01-EF588A9FEA0C}"/>
              </a:ext>
            </a:extLst>
          </p:cNvPr>
          <p:cNvSpPr>
            <a:spLocks noGrp="1"/>
          </p:cNvSpPr>
          <p:nvPr/>
        </p:nvSpPr>
        <p:spPr>
          <a:xfrm>
            <a:off x="2333625" y="2076450"/>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Titan Text Embeddings V2</a:t>
            </a:r>
          </a:p>
        </p:txBody>
      </p:sp>
      <p:sp>
        <p:nvSpPr>
          <p:cNvPr id="12" name="Rectangle 11">
            <a:extLst>
              <a:ext uri="{FF2B5EF4-FFF2-40B4-BE49-F238E27FC236}">
                <a16:creationId xmlns:a16="http://schemas.microsoft.com/office/drawing/2014/main" id="{A49A5CC9-CA41-484E-87E4-9FA306AABD4F}"/>
              </a:ext>
            </a:extLst>
          </p:cNvPr>
          <p:cNvSpPr>
            <a:spLocks noGrp="1"/>
          </p:cNvSpPr>
          <p:nvPr/>
        </p:nvSpPr>
        <p:spPr>
          <a:xfrm>
            <a:off x="6191250" y="2076450"/>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Text vectors for chunks and queries</a:t>
            </a:r>
          </a:p>
        </p:txBody>
      </p:sp>
      <p:sp>
        <p:nvSpPr>
          <p:cNvPr id="13" name="Rectangle 12">
            <a:extLst>
              <a:ext uri="{FF2B5EF4-FFF2-40B4-BE49-F238E27FC236}">
                <a16:creationId xmlns:a16="http://schemas.microsoft.com/office/drawing/2014/main" id="{B8C5702C-8271-4C6D-B821-65411399060E}"/>
              </a:ext>
            </a:extLst>
          </p:cNvPr>
          <p:cNvSpPr>
            <a:spLocks noGrp="1"/>
          </p:cNvSpPr>
          <p:nvPr/>
        </p:nvSpPr>
        <p:spPr>
          <a:xfrm>
            <a:off x="2333625" y="2733675"/>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Cohere Rerank 3.5</a:t>
            </a:r>
          </a:p>
        </p:txBody>
      </p:sp>
      <p:sp>
        <p:nvSpPr>
          <p:cNvPr id="14" name="Rectangle 13">
            <a:extLst>
              <a:ext uri="{FF2B5EF4-FFF2-40B4-BE49-F238E27FC236}">
                <a16:creationId xmlns:a16="http://schemas.microsoft.com/office/drawing/2014/main" id="{1F6EE56E-08D7-4FB1-BC2C-05F03EF97A12}"/>
              </a:ext>
            </a:extLst>
          </p:cNvPr>
          <p:cNvSpPr>
            <a:spLocks noGrp="1"/>
          </p:cNvSpPr>
          <p:nvPr/>
        </p:nvSpPr>
        <p:spPr>
          <a:xfrm>
            <a:off x="6191250" y="2733675"/>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Merged passage and graph evidence</a:t>
            </a:r>
          </a:p>
        </p:txBody>
      </p:sp>
      <p:sp>
        <p:nvSpPr>
          <p:cNvPr id="15" name="Rectangle 14">
            <a:extLst>
              <a:ext uri="{FF2B5EF4-FFF2-40B4-BE49-F238E27FC236}">
                <a16:creationId xmlns:a16="http://schemas.microsoft.com/office/drawing/2014/main" id="{6B1C1A91-2321-4704-A405-CDE8DB503723}"/>
              </a:ext>
            </a:extLst>
          </p:cNvPr>
          <p:cNvSpPr>
            <a:spLocks noGrp="1"/>
          </p:cNvSpPr>
          <p:nvPr/>
        </p:nvSpPr>
        <p:spPr>
          <a:xfrm>
            <a:off x="2333625" y="3390900"/>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OpenSearch managed domain</a:t>
            </a:r>
          </a:p>
        </p:txBody>
      </p:sp>
      <p:sp>
        <p:nvSpPr>
          <p:cNvPr id="16" name="Rectangle 15">
            <a:extLst>
              <a:ext uri="{FF2B5EF4-FFF2-40B4-BE49-F238E27FC236}">
                <a16:creationId xmlns:a16="http://schemas.microsoft.com/office/drawing/2014/main" id="{893D29C0-B6EE-46DB-8BBF-BB18EDC009BC}"/>
              </a:ext>
            </a:extLst>
          </p:cNvPr>
          <p:cNvSpPr>
            <a:spLocks noGrp="1"/>
          </p:cNvSpPr>
          <p:nvPr/>
        </p:nvSpPr>
        <p:spPr>
          <a:xfrm>
            <a:off x="6191250" y="3390900"/>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Keyword + vector index, configured RRF</a:t>
            </a:r>
          </a:p>
        </p:txBody>
      </p:sp>
      <p:sp>
        <p:nvSpPr>
          <p:cNvPr id="17" name="Rectangle 16">
            <a:extLst>
              <a:ext uri="{FF2B5EF4-FFF2-40B4-BE49-F238E27FC236}">
                <a16:creationId xmlns:a16="http://schemas.microsoft.com/office/drawing/2014/main" id="{96974A2C-EDA0-4C7F-9A8A-631FFC5A174D}"/>
              </a:ext>
            </a:extLst>
          </p:cNvPr>
          <p:cNvSpPr>
            <a:spLocks noGrp="1"/>
          </p:cNvSpPr>
          <p:nvPr/>
        </p:nvSpPr>
        <p:spPr>
          <a:xfrm>
            <a:off x="2333625" y="4048125"/>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S3 + SQLite + local graph</a:t>
            </a:r>
          </a:p>
        </p:txBody>
      </p:sp>
      <p:sp>
        <p:nvSpPr>
          <p:cNvPr id="18" name="Rectangle 17">
            <a:extLst>
              <a:ext uri="{FF2B5EF4-FFF2-40B4-BE49-F238E27FC236}">
                <a16:creationId xmlns:a16="http://schemas.microsoft.com/office/drawing/2014/main" id="{D6D360F5-93E7-433A-A9EC-26777169239A}"/>
              </a:ext>
            </a:extLst>
          </p:cNvPr>
          <p:cNvSpPr>
            <a:spLocks noGrp="1"/>
          </p:cNvSpPr>
          <p:nvPr/>
        </p:nvSpPr>
        <p:spPr>
          <a:xfrm>
            <a:off x="6191250" y="4048125"/>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Artifacts, run state and reviewed relations</a:t>
            </a:r>
          </a:p>
        </p:txBody>
      </p:sp>
      <p:sp>
        <p:nvSpPr>
          <p:cNvPr id="19" name="Rectangle 18">
            <a:extLst>
              <a:ext uri="{FF2B5EF4-FFF2-40B4-BE49-F238E27FC236}">
                <a16:creationId xmlns:a16="http://schemas.microsoft.com/office/drawing/2014/main" id="{AD63F405-D62D-46A7-8B4B-2F981AA163C2}"/>
              </a:ext>
            </a:extLst>
          </p:cNvPr>
          <p:cNvSpPr>
            <a:spLocks noGrp="1"/>
          </p:cNvSpPr>
          <p:nvPr/>
        </p:nvSpPr>
        <p:spPr>
          <a:xfrm>
            <a:off x="2333625" y="4705350"/>
            <a:ext cx="3714750" cy="476250"/>
          </a:xfrm>
          <a:prstGeom prst="rect">
            <a:avLst/>
          </a:prstGeom>
          <a:noFill/>
          <a:ln w="0">
            <a:noFill/>
          </a:ln>
        </p:spPr>
        <p:txBody>
          <a:bodyPr wrap="square" lIns="0" tIns="0" rIns="0" bIns="0" anchor="ctr">
            <a:noAutofit/>
          </a:bodyPr>
          <a:lstStyle>
            <a:defPPr algn="l">
              <a:defRPr sz="1725" b="1">
                <a:solidFill>
                  <a:srgbClr val="17243A"/>
                </a:solidFill>
                <a:latin typeface="Arial"/>
                <a:ea typeface="Arial"/>
                <a:cs typeface="Arial"/>
              </a:defRPr>
            </a:defPPr>
            <a:lvl1pPr algn="l">
              <a:defRPr sz="1725" b="1">
                <a:solidFill>
                  <a:srgbClr val="17243A"/>
                </a:solidFill>
                <a:latin typeface="Arial"/>
                <a:ea typeface="Arial"/>
                <a:cs typeface="Arial"/>
              </a:defRPr>
            </a:lvl1pPr>
            <a:lvl2pPr algn="l">
              <a:defRPr sz="1725" b="1">
                <a:solidFill>
                  <a:srgbClr val="17243A"/>
                </a:solidFill>
                <a:latin typeface="Arial"/>
                <a:ea typeface="Arial"/>
                <a:cs typeface="Arial"/>
              </a:defRPr>
            </a:lvl2pPr>
            <a:lvl3pPr algn="l">
              <a:defRPr sz="1725" b="1">
                <a:solidFill>
                  <a:srgbClr val="17243A"/>
                </a:solidFill>
                <a:latin typeface="Arial"/>
                <a:ea typeface="Arial"/>
                <a:cs typeface="Arial"/>
              </a:defRPr>
            </a:lvl3pPr>
            <a:lvl4pPr algn="l">
              <a:defRPr sz="1725" b="1">
                <a:solidFill>
                  <a:srgbClr val="17243A"/>
                </a:solidFill>
                <a:latin typeface="Arial"/>
                <a:ea typeface="Arial"/>
                <a:cs typeface="Arial"/>
              </a:defRPr>
            </a:lvl4pPr>
            <a:lvl5pPr algn="l">
              <a:defRPr sz="1725" b="1">
                <a:solidFill>
                  <a:srgbClr val="17243A"/>
                </a:solidFill>
                <a:latin typeface="Arial"/>
                <a:ea typeface="Arial"/>
                <a:cs typeface="Arial"/>
              </a:defRPr>
            </a:lvl5pPr>
            <a:lvl6pPr algn="l">
              <a:defRPr sz="1725" b="1">
                <a:solidFill>
                  <a:srgbClr val="17243A"/>
                </a:solidFill>
                <a:latin typeface="Arial"/>
                <a:ea typeface="Arial"/>
                <a:cs typeface="Arial"/>
              </a:defRPr>
            </a:lvl6pPr>
            <a:lvl7pPr algn="l">
              <a:defRPr sz="1725" b="1">
                <a:solidFill>
                  <a:srgbClr val="17243A"/>
                </a:solidFill>
                <a:latin typeface="Arial"/>
                <a:ea typeface="Arial"/>
                <a:cs typeface="Arial"/>
              </a:defRPr>
            </a:lvl7pPr>
            <a:lvl8pPr algn="l">
              <a:defRPr sz="1725" b="1">
                <a:solidFill>
                  <a:srgbClr val="17243A"/>
                </a:solidFill>
                <a:latin typeface="Arial"/>
                <a:ea typeface="Arial"/>
                <a:cs typeface="Arial"/>
              </a:defRPr>
            </a:lvl8pPr>
            <a:lvl9pPr algn="l">
              <a:defRPr sz="1725" b="1">
                <a:solidFill>
                  <a:srgbClr val="17243A"/>
                </a:solidFill>
                <a:latin typeface="Arial"/>
                <a:ea typeface="Arial"/>
                <a:cs typeface="Arial"/>
              </a:defRPr>
            </a:lvl9pPr>
          </a:lstStyle>
          <a:p>
            <a:pPr algn="l">
              <a:defRPr sz="1725" b="1">
                <a:solidFill>
                  <a:srgbClr val="17243A"/>
                </a:solidFill>
                <a:latin typeface="Arial"/>
                <a:ea typeface="Arial"/>
                <a:cs typeface="Arial"/>
              </a:defRPr>
            </a:pPr>
            <a:r>
              <a:rPr sz="1725" b="1">
                <a:solidFill>
                  <a:srgbClr val="17243A"/>
                </a:solidFill>
                <a:latin typeface="Arial"/>
                <a:ea typeface="Arial"/>
                <a:cs typeface="Arial"/>
              </a:rPr>
              <a:t>MedGemma / ECG-FM / Neptune</a:t>
            </a:r>
          </a:p>
        </p:txBody>
      </p:sp>
      <p:sp>
        <p:nvSpPr>
          <p:cNvPr id="20" name="Rectangle 19">
            <a:extLst>
              <a:ext uri="{FF2B5EF4-FFF2-40B4-BE49-F238E27FC236}">
                <a16:creationId xmlns:a16="http://schemas.microsoft.com/office/drawing/2014/main" id="{6F462DC3-F275-43F0-BCE2-42BB0CB72586}"/>
              </a:ext>
            </a:extLst>
          </p:cNvPr>
          <p:cNvSpPr>
            <a:spLocks noGrp="1"/>
          </p:cNvSpPr>
          <p:nvPr/>
        </p:nvSpPr>
        <p:spPr>
          <a:xfrm>
            <a:off x="6191250" y="4705350"/>
            <a:ext cx="5476875" cy="476250"/>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Image evaluation / later waveform / managed graph</a:t>
            </a:r>
          </a:p>
        </p:txBody>
      </p:sp>
      <p:sp>
        <p:nvSpPr>
          <p:cNvPr id="21" name="Rectangle 20">
            <a:extLst>
              <a:ext uri="{FF2B5EF4-FFF2-40B4-BE49-F238E27FC236}">
                <a16:creationId xmlns:a16="http://schemas.microsoft.com/office/drawing/2014/main" id="{46561705-2754-4EA4-8E3A-FA93B1E61C92}"/>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OPTIONAL</a:t>
            </a:r>
          </a:p>
        </p:txBody>
      </p:sp>
      <p:sp>
        <p:nvSpPr>
          <p:cNvPr id="22" name="Rectangle 21">
            <a:extLst>
              <a:ext uri="{FF2B5EF4-FFF2-40B4-BE49-F238E27FC236}">
                <a16:creationId xmlns:a16="http://schemas.microsoft.com/office/drawing/2014/main" id="{C40E8B65-7AFB-45C4-8879-FC34C92829AD}"/>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Textract for scanned reports; ontology checks; managed graph deployment</a:t>
            </a:r>
          </a:p>
        </p:txBody>
      </p:sp>
      <p:sp>
        <p:nvSpPr>
          <p:cNvPr id="23" name="Rectangle: Rounded Corners 22">
            <a:extLst>
              <a:ext uri="{FF2B5EF4-FFF2-40B4-BE49-F238E27FC236}">
                <a16:creationId xmlns:a16="http://schemas.microsoft.com/office/drawing/2014/main" id="{86F71A73-21EC-4A8F-B595-EA6FAB714C22}"/>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24" name="Rectangle 23">
            <a:extLst>
              <a:ext uri="{FF2B5EF4-FFF2-40B4-BE49-F238E27FC236}">
                <a16:creationId xmlns:a16="http://schemas.microsoft.com/office/drawing/2014/main" id="{FB42E65F-435B-43C3-B34B-4047B0BFA818}"/>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25" name="Rectangle: Rounded Corners 24">
            <a:extLst>
              <a:ext uri="{FF2B5EF4-FFF2-40B4-BE49-F238E27FC236}">
                <a16:creationId xmlns:a16="http://schemas.microsoft.com/office/drawing/2014/main" id="{24F24F72-DF85-48F0-80A7-75BDAA0BDD0A}"/>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26" name="Rectangle 25">
            <a:extLst>
              <a:ext uri="{FF2B5EF4-FFF2-40B4-BE49-F238E27FC236}">
                <a16:creationId xmlns:a16="http://schemas.microsoft.com/office/drawing/2014/main" id="{2B129EFD-5220-4482-93FC-77F2864DDCA2}"/>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27" name="Rectangle: Rounded Corners 26">
            <a:extLst>
              <a:ext uri="{FF2B5EF4-FFF2-40B4-BE49-F238E27FC236}">
                <a16:creationId xmlns:a16="http://schemas.microsoft.com/office/drawing/2014/main" id="{64F281A8-523F-44E8-BDD6-BF5AFE76FF35}"/>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28" name="Rectangle 27">
            <a:extLst>
              <a:ext uri="{FF2B5EF4-FFF2-40B4-BE49-F238E27FC236}">
                <a16:creationId xmlns:a16="http://schemas.microsoft.com/office/drawing/2014/main" id="{8D1FC5F9-5246-4BA4-9E3B-C656A84EC266}"/>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29" name="Rectangle: Rounded Corners 28">
            <a:extLst>
              <a:ext uri="{FF2B5EF4-FFF2-40B4-BE49-F238E27FC236}">
                <a16:creationId xmlns:a16="http://schemas.microsoft.com/office/drawing/2014/main" id="{64F8551E-BAE8-472F-A1A0-84E0E0EC0B5B}"/>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30" name="Rectangle 29">
            <a:extLst>
              <a:ext uri="{FF2B5EF4-FFF2-40B4-BE49-F238E27FC236}">
                <a16:creationId xmlns:a16="http://schemas.microsoft.com/office/drawing/2014/main" id="{3DE25AE0-6E41-483D-B69C-4537ABE6B0ED}"/>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31" name="Rectangle: Rounded Corners 30">
            <a:extLst>
              <a:ext uri="{FF2B5EF4-FFF2-40B4-BE49-F238E27FC236}">
                <a16:creationId xmlns:a16="http://schemas.microsoft.com/office/drawing/2014/main" id="{EE926372-C061-4925-ABAB-046DCCF09D5C}"/>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32" name="Rectangle 31">
            <a:extLst>
              <a:ext uri="{FF2B5EF4-FFF2-40B4-BE49-F238E27FC236}">
                <a16:creationId xmlns:a16="http://schemas.microsoft.com/office/drawing/2014/main" id="{60B2BA54-45B9-4128-926D-D251F3697A5C}"/>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33" name="Rectangle 32">
            <a:extLst>
              <a:ext uri="{FF2B5EF4-FFF2-40B4-BE49-F238E27FC236}">
                <a16:creationId xmlns:a16="http://schemas.microsoft.com/office/drawing/2014/main" id="{9C8BE3E0-3251-4E52-86F9-5AE1B9F81060}"/>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14</a:t>
            </a:r>
          </a:p>
        </p:txBody>
      </p:sp>
    </p:spTree>
    <p:extLst>
      <p:ext uri="{BB962C8B-B14F-4D97-AF65-F5344CB8AC3E}">
        <p14:creationId xmlns:p14="http://schemas.microsoft.com/office/powerpoint/2010/main" val="1036192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F3D6F9B-AFB5-4863-8011-89F49CDCE5E9}"/>
              </a:ext>
            </a:extLst>
          </p:cNvPr>
          <p:cNvSpPr>
            <a:spLocks noGrp="1"/>
          </p:cNvSpPr>
          <p:nvPr/>
        </p:nvSpPr>
        <p:spPr>
          <a:xfrm>
            <a:off x="476250" y="285750"/>
            <a:ext cx="11191875" cy="523875"/>
          </a:xfrm>
          <a:prstGeom prst="rect">
            <a:avLst/>
          </a:prstGeom>
          <a:noFill/>
          <a:ln w="0">
            <a:noFill/>
          </a:ln>
        </p:spPr>
        <p:txBody>
          <a:bodyPr wrap="square" lIns="0" tIns="0" rIns="0" bIns="0" anchor="ctr">
            <a:noAutofit/>
          </a:bodyPr>
          <a:lstStyle>
            <a:defPPr algn="l">
              <a:defRPr sz="3150" b="1">
                <a:solidFill>
                  <a:srgbClr val="17243A"/>
                </a:solidFill>
                <a:latin typeface="Arial"/>
                <a:ea typeface="Arial"/>
                <a:cs typeface="Arial"/>
              </a:defRPr>
            </a:defPPr>
            <a:lvl1pPr algn="l">
              <a:defRPr sz="3150" b="1">
                <a:solidFill>
                  <a:srgbClr val="17243A"/>
                </a:solidFill>
                <a:latin typeface="Arial"/>
                <a:ea typeface="Arial"/>
                <a:cs typeface="Arial"/>
              </a:defRPr>
            </a:lvl1pPr>
            <a:lvl2pPr algn="l">
              <a:defRPr sz="3150" b="1">
                <a:solidFill>
                  <a:srgbClr val="17243A"/>
                </a:solidFill>
                <a:latin typeface="Arial"/>
                <a:ea typeface="Arial"/>
                <a:cs typeface="Arial"/>
              </a:defRPr>
            </a:lvl2pPr>
            <a:lvl3pPr algn="l">
              <a:defRPr sz="3150" b="1">
                <a:solidFill>
                  <a:srgbClr val="17243A"/>
                </a:solidFill>
                <a:latin typeface="Arial"/>
                <a:ea typeface="Arial"/>
                <a:cs typeface="Arial"/>
              </a:defRPr>
            </a:lvl3pPr>
            <a:lvl4pPr algn="l">
              <a:defRPr sz="3150" b="1">
                <a:solidFill>
                  <a:srgbClr val="17243A"/>
                </a:solidFill>
                <a:latin typeface="Arial"/>
                <a:ea typeface="Arial"/>
                <a:cs typeface="Arial"/>
              </a:defRPr>
            </a:lvl4pPr>
            <a:lvl5pPr algn="l">
              <a:defRPr sz="3150" b="1">
                <a:solidFill>
                  <a:srgbClr val="17243A"/>
                </a:solidFill>
                <a:latin typeface="Arial"/>
                <a:ea typeface="Arial"/>
                <a:cs typeface="Arial"/>
              </a:defRPr>
            </a:lvl5pPr>
            <a:lvl6pPr algn="l">
              <a:defRPr sz="3150" b="1">
                <a:solidFill>
                  <a:srgbClr val="17243A"/>
                </a:solidFill>
                <a:latin typeface="Arial"/>
                <a:ea typeface="Arial"/>
                <a:cs typeface="Arial"/>
              </a:defRPr>
            </a:lvl6pPr>
            <a:lvl7pPr algn="l">
              <a:defRPr sz="3150" b="1">
                <a:solidFill>
                  <a:srgbClr val="17243A"/>
                </a:solidFill>
                <a:latin typeface="Arial"/>
                <a:ea typeface="Arial"/>
                <a:cs typeface="Arial"/>
              </a:defRPr>
            </a:lvl7pPr>
            <a:lvl8pPr algn="l">
              <a:defRPr sz="3150" b="1">
                <a:solidFill>
                  <a:srgbClr val="17243A"/>
                </a:solidFill>
                <a:latin typeface="Arial"/>
                <a:ea typeface="Arial"/>
                <a:cs typeface="Arial"/>
              </a:defRPr>
            </a:lvl8pPr>
            <a:lvl9pPr algn="l">
              <a:defRPr sz="3150" b="1">
                <a:solidFill>
                  <a:srgbClr val="17243A"/>
                </a:solidFill>
                <a:latin typeface="Arial"/>
                <a:ea typeface="Arial"/>
                <a:cs typeface="Arial"/>
              </a:defRPr>
            </a:lvl9pPr>
          </a:lstStyle>
          <a:p>
            <a:pPr algn="l">
              <a:defRPr sz="3150" b="1">
                <a:solidFill>
                  <a:srgbClr val="17243A"/>
                </a:solidFill>
                <a:latin typeface="Arial"/>
                <a:ea typeface="Arial"/>
                <a:cs typeface="Arial"/>
              </a:defRPr>
            </a:pPr>
            <a:r>
              <a:rPr sz="3150" b="1">
                <a:solidFill>
                  <a:srgbClr val="17243A"/>
                </a:solidFill>
                <a:latin typeface="Arial"/>
                <a:ea typeface="Arial"/>
                <a:cs typeface="Arial"/>
              </a:rPr>
              <a:t>Demo scope and build priorities</a:t>
            </a:r>
          </a:p>
        </p:txBody>
      </p:sp>
      <p:sp>
        <p:nvSpPr>
          <p:cNvPr id="2" name="Rectangle 1">
            <a:extLst>
              <a:ext uri="{FF2B5EF4-FFF2-40B4-BE49-F238E27FC236}">
                <a16:creationId xmlns:a16="http://schemas.microsoft.com/office/drawing/2014/main" id="{78CB9E86-AF25-4018-9A8D-25D0E515CB2C}"/>
              </a:ext>
            </a:extLst>
          </p:cNvPr>
          <p:cNvSpPr>
            <a:spLocks noGrp="1"/>
          </p:cNvSpPr>
          <p:nvPr/>
        </p:nvSpPr>
        <p:spPr>
          <a:xfrm>
            <a:off x="495300" y="885825"/>
            <a:ext cx="11191875" cy="361950"/>
          </a:xfrm>
          <a:prstGeom prst="rect">
            <a:avLst/>
          </a:prstGeom>
          <a:noFill/>
          <a:ln w="0">
            <a:noFill/>
          </a:ln>
        </p:spPr>
        <p:txBody>
          <a:bodyPr wrap="square" lIns="0" tIns="0" rIns="0" bIns="0" anchor="ctr">
            <a:noAutofit/>
          </a:bodyPr>
          <a:lstStyle>
            <a:defPPr algn="l">
              <a:defRPr sz="1725" b="0">
                <a:solidFill>
                  <a:srgbClr val="53647B"/>
                </a:solidFill>
                <a:latin typeface="Arial"/>
                <a:ea typeface="Arial"/>
                <a:cs typeface="Arial"/>
              </a:defRPr>
            </a:defPPr>
            <a:lvl1pPr algn="l">
              <a:defRPr sz="1725" b="0">
                <a:solidFill>
                  <a:srgbClr val="53647B"/>
                </a:solidFill>
                <a:latin typeface="Arial"/>
                <a:ea typeface="Arial"/>
                <a:cs typeface="Arial"/>
              </a:defRPr>
            </a:lvl1pPr>
            <a:lvl2pPr algn="l">
              <a:defRPr sz="1725" b="0">
                <a:solidFill>
                  <a:srgbClr val="53647B"/>
                </a:solidFill>
                <a:latin typeface="Arial"/>
                <a:ea typeface="Arial"/>
                <a:cs typeface="Arial"/>
              </a:defRPr>
            </a:lvl2pPr>
            <a:lvl3pPr algn="l">
              <a:defRPr sz="1725" b="0">
                <a:solidFill>
                  <a:srgbClr val="53647B"/>
                </a:solidFill>
                <a:latin typeface="Arial"/>
                <a:ea typeface="Arial"/>
                <a:cs typeface="Arial"/>
              </a:defRPr>
            </a:lvl3pPr>
            <a:lvl4pPr algn="l">
              <a:defRPr sz="1725" b="0">
                <a:solidFill>
                  <a:srgbClr val="53647B"/>
                </a:solidFill>
                <a:latin typeface="Arial"/>
                <a:ea typeface="Arial"/>
                <a:cs typeface="Arial"/>
              </a:defRPr>
            </a:lvl4pPr>
            <a:lvl5pPr algn="l">
              <a:defRPr sz="1725" b="0">
                <a:solidFill>
                  <a:srgbClr val="53647B"/>
                </a:solidFill>
                <a:latin typeface="Arial"/>
                <a:ea typeface="Arial"/>
                <a:cs typeface="Arial"/>
              </a:defRPr>
            </a:lvl5pPr>
            <a:lvl6pPr algn="l">
              <a:defRPr sz="1725" b="0">
                <a:solidFill>
                  <a:srgbClr val="53647B"/>
                </a:solidFill>
                <a:latin typeface="Arial"/>
                <a:ea typeface="Arial"/>
                <a:cs typeface="Arial"/>
              </a:defRPr>
            </a:lvl6pPr>
            <a:lvl7pPr algn="l">
              <a:defRPr sz="1725" b="0">
                <a:solidFill>
                  <a:srgbClr val="53647B"/>
                </a:solidFill>
                <a:latin typeface="Arial"/>
                <a:ea typeface="Arial"/>
                <a:cs typeface="Arial"/>
              </a:defRPr>
            </a:lvl7pPr>
            <a:lvl8pPr algn="l">
              <a:defRPr sz="1725" b="0">
                <a:solidFill>
                  <a:srgbClr val="53647B"/>
                </a:solidFill>
                <a:latin typeface="Arial"/>
                <a:ea typeface="Arial"/>
                <a:cs typeface="Arial"/>
              </a:defRPr>
            </a:lvl8pPr>
            <a:lvl9pPr algn="l">
              <a:defRPr sz="1725" b="0">
                <a:solidFill>
                  <a:srgbClr val="53647B"/>
                </a:solidFill>
                <a:latin typeface="Arial"/>
                <a:ea typeface="Arial"/>
                <a:cs typeface="Arial"/>
              </a:defRPr>
            </a:lvl9pPr>
          </a:lstStyle>
          <a:p>
            <a:pPr algn="l">
              <a:defRPr sz="1725" b="0">
                <a:solidFill>
                  <a:srgbClr val="53647B"/>
                </a:solidFill>
                <a:latin typeface="Arial"/>
                <a:ea typeface="Arial"/>
                <a:cs typeface="Arial"/>
              </a:defRPr>
            </a:pPr>
            <a:r>
              <a:rPr sz="1725" b="0">
                <a:solidFill>
                  <a:srgbClr val="53647B"/>
                </a:solidFill>
                <a:latin typeface="Arial"/>
                <a:ea typeface="Arial"/>
                <a:cs typeface="Arial"/>
              </a:rPr>
              <a:t>A coherent synthetic patient demonstrates the full workflow</a:t>
            </a:r>
          </a:p>
        </p:txBody>
      </p:sp>
      <p:sp>
        <p:nvSpPr>
          <p:cNvPr id="3" name="Rectangle: Rounded Corners 2">
            <a:extLst>
              <a:ext uri="{FF2B5EF4-FFF2-40B4-BE49-F238E27FC236}">
                <a16:creationId xmlns:a16="http://schemas.microsoft.com/office/drawing/2014/main" id="{507D5A34-A567-4D98-B102-8B06F0F40FBA}"/>
              </a:ext>
            </a:extLst>
          </p:cNvPr>
          <p:cNvSpPr>
            <a:spLocks noGrp="1"/>
          </p:cNvSpPr>
          <p:nvPr/>
        </p:nvSpPr>
        <p:spPr>
          <a:xfrm>
            <a:off x="619125" y="4857750"/>
            <a:ext cx="3429000" cy="619125"/>
          </a:xfrm>
          <a:prstGeom prst="roundRect">
            <a:avLst>
              <a:gd name="adj" fmla="val 15385"/>
            </a:avLst>
          </a:prstGeom>
          <a:solidFill>
            <a:srgbClr val="EDF5E8"/>
          </a:solidFill>
          <a:ln w="14288">
            <a:solidFill>
              <a:srgbClr val="71A266"/>
            </a:solidFill>
          </a:ln>
        </p:spPr>
        <p:txBody>
          <a:bodyPr wrap="square" lIns="95250" tIns="95250" rIns="95250" bIns="95250" anchor="ctr">
            <a:noAutofit/>
          </a:bodyPr>
          <a:lstStyle>
            <a:defPPr algn="ctr">
              <a:defRPr sz="1875" b="0">
                <a:solidFill>
                  <a:srgbClr val="17243A"/>
                </a:solidFill>
                <a:latin typeface="Arial"/>
                <a:ea typeface="Arial"/>
                <a:cs typeface="Arial"/>
              </a:defRPr>
            </a:defPPr>
            <a:lvl1pPr algn="ctr">
              <a:defRPr sz="1875" b="0">
                <a:solidFill>
                  <a:srgbClr val="17243A"/>
                </a:solidFill>
                <a:latin typeface="Arial"/>
                <a:ea typeface="Arial"/>
                <a:cs typeface="Arial"/>
              </a:defRPr>
            </a:lvl1pPr>
            <a:lvl2pPr algn="ctr">
              <a:defRPr sz="1875" b="0">
                <a:solidFill>
                  <a:srgbClr val="17243A"/>
                </a:solidFill>
                <a:latin typeface="Arial"/>
                <a:ea typeface="Arial"/>
                <a:cs typeface="Arial"/>
              </a:defRPr>
            </a:lvl2pPr>
            <a:lvl3pPr algn="ctr">
              <a:defRPr sz="1875" b="0">
                <a:solidFill>
                  <a:srgbClr val="17243A"/>
                </a:solidFill>
                <a:latin typeface="Arial"/>
                <a:ea typeface="Arial"/>
                <a:cs typeface="Arial"/>
              </a:defRPr>
            </a:lvl3pPr>
            <a:lvl4pPr algn="ctr">
              <a:defRPr sz="1875" b="0">
                <a:solidFill>
                  <a:srgbClr val="17243A"/>
                </a:solidFill>
                <a:latin typeface="Arial"/>
                <a:ea typeface="Arial"/>
                <a:cs typeface="Arial"/>
              </a:defRPr>
            </a:lvl4pPr>
            <a:lvl5pPr algn="ctr">
              <a:defRPr sz="1875" b="0">
                <a:solidFill>
                  <a:srgbClr val="17243A"/>
                </a:solidFill>
                <a:latin typeface="Arial"/>
                <a:ea typeface="Arial"/>
                <a:cs typeface="Arial"/>
              </a:defRPr>
            </a:lvl5pPr>
            <a:lvl6pPr algn="ctr">
              <a:defRPr sz="1875" b="0">
                <a:solidFill>
                  <a:srgbClr val="17243A"/>
                </a:solidFill>
                <a:latin typeface="Arial"/>
                <a:ea typeface="Arial"/>
                <a:cs typeface="Arial"/>
              </a:defRPr>
            </a:lvl6pPr>
            <a:lvl7pPr algn="ctr">
              <a:defRPr sz="1875" b="0">
                <a:solidFill>
                  <a:srgbClr val="17243A"/>
                </a:solidFill>
                <a:latin typeface="Arial"/>
                <a:ea typeface="Arial"/>
                <a:cs typeface="Arial"/>
              </a:defRPr>
            </a:lvl7pPr>
            <a:lvl8pPr algn="ctr">
              <a:defRPr sz="1875" b="0">
                <a:solidFill>
                  <a:srgbClr val="17243A"/>
                </a:solidFill>
                <a:latin typeface="Arial"/>
                <a:ea typeface="Arial"/>
                <a:cs typeface="Arial"/>
              </a:defRPr>
            </a:lvl8pPr>
            <a:lvl9pPr algn="ctr">
              <a:defRPr sz="1875" b="0">
                <a:solidFill>
                  <a:srgbClr val="17243A"/>
                </a:solidFill>
                <a:latin typeface="Arial"/>
                <a:ea typeface="Arial"/>
                <a:cs typeface="Arial"/>
              </a:defRPr>
            </a:lvl9pPr>
          </a:lstStyle>
          <a:p>
            <a:pPr algn="ctr">
              <a:defRPr sz="1875" b="0">
                <a:solidFill>
                  <a:srgbClr val="17243A"/>
                </a:solidFill>
                <a:latin typeface="Arial"/>
                <a:ea typeface="Arial"/>
                <a:cs typeface="Arial"/>
              </a:defRPr>
            </a:pPr>
            <a:r>
              <a:rPr sz="1875" b="0">
                <a:solidFill>
                  <a:srgbClr val="17243A"/>
                </a:solidFill>
                <a:latin typeface="Arial"/>
                <a:ea typeface="Arial"/>
                <a:cs typeface="Arial"/>
              </a:rPr>
              <a:t>Architecture documented</a:t>
            </a:r>
          </a:p>
        </p:txBody>
      </p:sp>
      <p:sp>
        <p:nvSpPr>
          <p:cNvPr id="4" name="Rectangle: Rounded Corners 3">
            <a:extLst>
              <a:ext uri="{FF2B5EF4-FFF2-40B4-BE49-F238E27FC236}">
                <a16:creationId xmlns:a16="http://schemas.microsoft.com/office/drawing/2014/main" id="{7D98FAB7-8A82-4876-8551-0956B15C2884}"/>
              </a:ext>
            </a:extLst>
          </p:cNvPr>
          <p:cNvSpPr>
            <a:spLocks noGrp="1"/>
          </p:cNvSpPr>
          <p:nvPr/>
        </p:nvSpPr>
        <p:spPr>
          <a:xfrm>
            <a:off x="4953000" y="4857750"/>
            <a:ext cx="6619875" cy="619125"/>
          </a:xfrm>
          <a:prstGeom prst="roundRect">
            <a:avLst>
              <a:gd name="adj" fmla="val 15385"/>
            </a:avLst>
          </a:prstGeom>
          <a:solidFill>
            <a:srgbClr val="FFF2DC"/>
          </a:solidFill>
          <a:ln w="14288">
            <a:solidFill>
              <a:srgbClr val="CD9648"/>
            </a:solidFill>
          </a:ln>
        </p:spPr>
        <p:txBody>
          <a:bodyPr wrap="square" lIns="95250" tIns="95250" rIns="95250" bIns="95250" anchor="ctr">
            <a:noAutofit/>
          </a:bodyPr>
          <a:lstStyle>
            <a:defPPr algn="ctr">
              <a:defRPr sz="1875" b="0">
                <a:solidFill>
                  <a:srgbClr val="17243A"/>
                </a:solidFill>
                <a:latin typeface="Arial"/>
                <a:ea typeface="Arial"/>
                <a:cs typeface="Arial"/>
              </a:defRPr>
            </a:defPPr>
            <a:lvl1pPr algn="ctr">
              <a:defRPr sz="1875" b="0">
                <a:solidFill>
                  <a:srgbClr val="17243A"/>
                </a:solidFill>
                <a:latin typeface="Arial"/>
                <a:ea typeface="Arial"/>
                <a:cs typeface="Arial"/>
              </a:defRPr>
            </a:lvl1pPr>
            <a:lvl2pPr algn="ctr">
              <a:defRPr sz="1875" b="0">
                <a:solidFill>
                  <a:srgbClr val="17243A"/>
                </a:solidFill>
                <a:latin typeface="Arial"/>
                <a:ea typeface="Arial"/>
                <a:cs typeface="Arial"/>
              </a:defRPr>
            </a:lvl2pPr>
            <a:lvl3pPr algn="ctr">
              <a:defRPr sz="1875" b="0">
                <a:solidFill>
                  <a:srgbClr val="17243A"/>
                </a:solidFill>
                <a:latin typeface="Arial"/>
                <a:ea typeface="Arial"/>
                <a:cs typeface="Arial"/>
              </a:defRPr>
            </a:lvl3pPr>
            <a:lvl4pPr algn="ctr">
              <a:defRPr sz="1875" b="0">
                <a:solidFill>
                  <a:srgbClr val="17243A"/>
                </a:solidFill>
                <a:latin typeface="Arial"/>
                <a:ea typeface="Arial"/>
                <a:cs typeface="Arial"/>
              </a:defRPr>
            </a:lvl4pPr>
            <a:lvl5pPr algn="ctr">
              <a:defRPr sz="1875" b="0">
                <a:solidFill>
                  <a:srgbClr val="17243A"/>
                </a:solidFill>
                <a:latin typeface="Arial"/>
                <a:ea typeface="Arial"/>
                <a:cs typeface="Arial"/>
              </a:defRPr>
            </a:lvl5pPr>
            <a:lvl6pPr algn="ctr">
              <a:defRPr sz="1875" b="0">
                <a:solidFill>
                  <a:srgbClr val="17243A"/>
                </a:solidFill>
                <a:latin typeface="Arial"/>
                <a:ea typeface="Arial"/>
                <a:cs typeface="Arial"/>
              </a:defRPr>
            </a:lvl6pPr>
            <a:lvl7pPr algn="ctr">
              <a:defRPr sz="1875" b="0">
                <a:solidFill>
                  <a:srgbClr val="17243A"/>
                </a:solidFill>
                <a:latin typeface="Arial"/>
                <a:ea typeface="Arial"/>
                <a:cs typeface="Arial"/>
              </a:defRPr>
            </a:lvl7pPr>
            <a:lvl8pPr algn="ctr">
              <a:defRPr sz="1875" b="0">
                <a:solidFill>
                  <a:srgbClr val="17243A"/>
                </a:solidFill>
                <a:latin typeface="Arial"/>
                <a:ea typeface="Arial"/>
                <a:cs typeface="Arial"/>
              </a:defRPr>
            </a:lvl8pPr>
            <a:lvl9pPr algn="ctr">
              <a:defRPr sz="1875" b="0">
                <a:solidFill>
                  <a:srgbClr val="17243A"/>
                </a:solidFill>
                <a:latin typeface="Arial"/>
                <a:ea typeface="Arial"/>
                <a:cs typeface="Arial"/>
              </a:defRPr>
            </a:lvl9pPr>
          </a:lstStyle>
          <a:p>
            <a:pPr algn="ctr">
              <a:defRPr sz="1875" b="0">
                <a:solidFill>
                  <a:srgbClr val="17243A"/>
                </a:solidFill>
                <a:latin typeface="Arial"/>
                <a:ea typeface="Arial"/>
                <a:cs typeface="Arial"/>
              </a:defRPr>
            </a:pPr>
            <a:r>
              <a:rPr sz="1875" b="0">
                <a:solidFill>
                  <a:srgbClr val="17243A"/>
                </a:solidFill>
                <a:latin typeface="Arial"/>
                <a:ea typeface="Arial"/>
                <a:cs typeface="Arial"/>
              </a:rPr>
              <a:t>Implementation and evaluation next</a:t>
            </a:r>
          </a:p>
        </p:txBody>
      </p:sp>
      <p:sp>
        <p:nvSpPr>
          <p:cNvPr id="5" name="Rectangle 4">
            <a:extLst>
              <a:ext uri="{FF2B5EF4-FFF2-40B4-BE49-F238E27FC236}">
                <a16:creationId xmlns:a16="http://schemas.microsoft.com/office/drawing/2014/main" id="{4168A391-6A28-417D-9EA7-62FD528F2C3D}"/>
              </a:ext>
            </a:extLst>
          </p:cNvPr>
          <p:cNvSpPr>
            <a:spLocks noGrp="1"/>
          </p:cNvSpPr>
          <p:nvPr/>
        </p:nvSpPr>
        <p:spPr>
          <a:xfrm>
            <a:off x="619125" y="1571625"/>
            <a:ext cx="4953000" cy="428625"/>
          </a:xfrm>
          <a:prstGeom prst="rect">
            <a:avLst/>
          </a:prstGeom>
          <a:noFill/>
          <a:ln w="0">
            <a:noFill/>
          </a:ln>
        </p:spPr>
        <p:txBody>
          <a:bodyPr wrap="square" lIns="0" tIns="0" rIns="0" bIns="0" anchor="ctr">
            <a:noAutofit/>
          </a:bodyPr>
          <a:lstStyle>
            <a:defPPr algn="l">
              <a:defRPr sz="2250" b="1">
                <a:solidFill>
                  <a:srgbClr val="17243A"/>
                </a:solidFill>
                <a:latin typeface="Arial"/>
                <a:ea typeface="Arial"/>
                <a:cs typeface="Arial"/>
              </a:defRPr>
            </a:defPPr>
            <a:lvl1pPr algn="l">
              <a:defRPr sz="2250" b="1">
                <a:solidFill>
                  <a:srgbClr val="17243A"/>
                </a:solidFill>
                <a:latin typeface="Arial"/>
                <a:ea typeface="Arial"/>
                <a:cs typeface="Arial"/>
              </a:defRPr>
            </a:lvl1pPr>
            <a:lvl2pPr algn="l">
              <a:defRPr sz="2250" b="1">
                <a:solidFill>
                  <a:srgbClr val="17243A"/>
                </a:solidFill>
                <a:latin typeface="Arial"/>
                <a:ea typeface="Arial"/>
                <a:cs typeface="Arial"/>
              </a:defRPr>
            </a:lvl2pPr>
            <a:lvl3pPr algn="l">
              <a:defRPr sz="2250" b="1">
                <a:solidFill>
                  <a:srgbClr val="17243A"/>
                </a:solidFill>
                <a:latin typeface="Arial"/>
                <a:ea typeface="Arial"/>
                <a:cs typeface="Arial"/>
              </a:defRPr>
            </a:lvl3pPr>
            <a:lvl4pPr algn="l">
              <a:defRPr sz="2250" b="1">
                <a:solidFill>
                  <a:srgbClr val="17243A"/>
                </a:solidFill>
                <a:latin typeface="Arial"/>
                <a:ea typeface="Arial"/>
                <a:cs typeface="Arial"/>
              </a:defRPr>
            </a:lvl4pPr>
            <a:lvl5pPr algn="l">
              <a:defRPr sz="2250" b="1">
                <a:solidFill>
                  <a:srgbClr val="17243A"/>
                </a:solidFill>
                <a:latin typeface="Arial"/>
                <a:ea typeface="Arial"/>
                <a:cs typeface="Arial"/>
              </a:defRPr>
            </a:lvl5pPr>
            <a:lvl6pPr algn="l">
              <a:defRPr sz="2250" b="1">
                <a:solidFill>
                  <a:srgbClr val="17243A"/>
                </a:solidFill>
                <a:latin typeface="Arial"/>
                <a:ea typeface="Arial"/>
                <a:cs typeface="Arial"/>
              </a:defRPr>
            </a:lvl6pPr>
            <a:lvl7pPr algn="l">
              <a:defRPr sz="2250" b="1">
                <a:solidFill>
                  <a:srgbClr val="17243A"/>
                </a:solidFill>
                <a:latin typeface="Arial"/>
                <a:ea typeface="Arial"/>
                <a:cs typeface="Arial"/>
              </a:defRPr>
            </a:lvl7pPr>
            <a:lvl8pPr algn="l">
              <a:defRPr sz="2250" b="1">
                <a:solidFill>
                  <a:srgbClr val="17243A"/>
                </a:solidFill>
                <a:latin typeface="Arial"/>
                <a:ea typeface="Arial"/>
                <a:cs typeface="Arial"/>
              </a:defRPr>
            </a:lvl8pPr>
            <a:lvl9pPr algn="l">
              <a:defRPr sz="2250" b="1">
                <a:solidFill>
                  <a:srgbClr val="17243A"/>
                </a:solidFill>
                <a:latin typeface="Arial"/>
                <a:ea typeface="Arial"/>
                <a:cs typeface="Arial"/>
              </a:defRPr>
            </a:lvl9pPr>
          </a:lstStyle>
          <a:p>
            <a:pPr algn="l">
              <a:defRPr sz="2250" b="1">
                <a:solidFill>
                  <a:srgbClr val="17243A"/>
                </a:solidFill>
                <a:latin typeface="Arial"/>
                <a:ea typeface="Arial"/>
                <a:cs typeface="Arial"/>
              </a:defRPr>
            </a:pPr>
            <a:r>
              <a:rPr sz="2250" b="1">
                <a:solidFill>
                  <a:srgbClr val="17243A"/>
                </a:solidFill>
                <a:latin typeface="Arial"/>
                <a:ea typeface="Arial"/>
                <a:cs typeface="Arial"/>
              </a:rPr>
              <a:t>Baseline scenario</a:t>
            </a:r>
          </a:p>
        </p:txBody>
      </p:sp>
      <p:sp>
        <p:nvSpPr>
          <p:cNvPr id="6" name="Rectangle 5">
            <a:extLst>
              <a:ext uri="{FF2B5EF4-FFF2-40B4-BE49-F238E27FC236}">
                <a16:creationId xmlns:a16="http://schemas.microsoft.com/office/drawing/2014/main" id="{2926B347-F076-450D-889D-3E056D4F965C}"/>
              </a:ext>
            </a:extLst>
          </p:cNvPr>
          <p:cNvSpPr>
            <a:spLocks noGrp="1"/>
          </p:cNvSpPr>
          <p:nvPr/>
        </p:nvSpPr>
        <p:spPr>
          <a:xfrm>
            <a:off x="619125" y="2190750"/>
            <a:ext cx="5238750" cy="2095500"/>
          </a:xfrm>
          <a:prstGeom prst="rect">
            <a:avLst/>
          </a:prstGeom>
          <a:noFill/>
          <a:ln w="0">
            <a:noFill/>
          </a:ln>
        </p:spPr>
        <p:txBody>
          <a:bodyPr wrap="square" lIns="0" tIns="0" rIns="0" bIns="0" anchor="ctr">
            <a:noAutofit/>
          </a:bodyPr>
          <a:lstStyle>
            <a:defPPr algn="l">
              <a:defRPr sz="2025" b="0">
                <a:solidFill>
                  <a:srgbClr val="17243A"/>
                </a:solidFill>
                <a:latin typeface="Arial"/>
                <a:ea typeface="Arial"/>
                <a:cs typeface="Arial"/>
              </a:defRPr>
            </a:defPPr>
            <a:lvl1pPr algn="l">
              <a:defRPr sz="2025" b="0">
                <a:solidFill>
                  <a:srgbClr val="17243A"/>
                </a:solidFill>
                <a:latin typeface="Arial"/>
                <a:ea typeface="Arial"/>
                <a:cs typeface="Arial"/>
              </a:defRPr>
            </a:lvl1pPr>
            <a:lvl2pPr algn="l">
              <a:defRPr sz="2025" b="0">
                <a:solidFill>
                  <a:srgbClr val="17243A"/>
                </a:solidFill>
                <a:latin typeface="Arial"/>
                <a:ea typeface="Arial"/>
                <a:cs typeface="Arial"/>
              </a:defRPr>
            </a:lvl2pPr>
            <a:lvl3pPr algn="l">
              <a:defRPr sz="2025" b="0">
                <a:solidFill>
                  <a:srgbClr val="17243A"/>
                </a:solidFill>
                <a:latin typeface="Arial"/>
                <a:ea typeface="Arial"/>
                <a:cs typeface="Arial"/>
              </a:defRPr>
            </a:lvl3pPr>
            <a:lvl4pPr algn="l">
              <a:defRPr sz="2025" b="0">
                <a:solidFill>
                  <a:srgbClr val="17243A"/>
                </a:solidFill>
                <a:latin typeface="Arial"/>
                <a:ea typeface="Arial"/>
                <a:cs typeface="Arial"/>
              </a:defRPr>
            </a:lvl4pPr>
            <a:lvl5pPr algn="l">
              <a:defRPr sz="2025" b="0">
                <a:solidFill>
                  <a:srgbClr val="17243A"/>
                </a:solidFill>
                <a:latin typeface="Arial"/>
                <a:ea typeface="Arial"/>
                <a:cs typeface="Arial"/>
              </a:defRPr>
            </a:lvl5pPr>
            <a:lvl6pPr algn="l">
              <a:defRPr sz="2025" b="0">
                <a:solidFill>
                  <a:srgbClr val="17243A"/>
                </a:solidFill>
                <a:latin typeface="Arial"/>
                <a:ea typeface="Arial"/>
                <a:cs typeface="Arial"/>
              </a:defRPr>
            </a:lvl6pPr>
            <a:lvl7pPr algn="l">
              <a:defRPr sz="2025" b="0">
                <a:solidFill>
                  <a:srgbClr val="17243A"/>
                </a:solidFill>
                <a:latin typeface="Arial"/>
                <a:ea typeface="Arial"/>
                <a:cs typeface="Arial"/>
              </a:defRPr>
            </a:lvl7pPr>
            <a:lvl8pPr algn="l">
              <a:defRPr sz="2025" b="0">
                <a:solidFill>
                  <a:srgbClr val="17243A"/>
                </a:solidFill>
                <a:latin typeface="Arial"/>
                <a:ea typeface="Arial"/>
                <a:cs typeface="Arial"/>
              </a:defRPr>
            </a:lvl8pPr>
            <a:lvl9pPr algn="l">
              <a:defRPr sz="2025" b="0">
                <a:solidFill>
                  <a:srgbClr val="17243A"/>
                </a:solidFill>
                <a:latin typeface="Arial"/>
                <a:ea typeface="Arial"/>
                <a:cs typeface="Arial"/>
              </a:defRPr>
            </a:lvl9pPr>
          </a:lstStyle>
          <a:p>
            <a:pPr algn="l">
              <a:defRPr sz="2025" b="0">
                <a:solidFill>
                  <a:srgbClr val="17243A"/>
                </a:solidFill>
                <a:latin typeface="Arial"/>
                <a:ea typeface="Arial"/>
                <a:cs typeface="Arial"/>
              </a:defRPr>
            </a:pPr>
            <a:r>
              <a:rPr sz="2025" b="0">
                <a:solidFill>
                  <a:srgbClr val="17243A"/>
                </a:solidFill>
                <a:latin typeface="Arial"/>
                <a:ea typeface="Arial"/>
                <a:cs typeface="Arial"/>
              </a:rPr>
              <a:t>Synthetic patient text and lab-report image</a:t>
            </a:r>
          </a:p>
          <a:p>
            <a:pPr algn="l">
              <a:defRPr sz="2025" b="0">
                <a:solidFill>
                  <a:srgbClr val="17243A"/>
                </a:solidFill>
                <a:latin typeface="Arial"/>
                <a:ea typeface="Arial"/>
                <a:cs typeface="Arial"/>
              </a:defRPr>
            </a:pPr>
            <a:r>
              <a:rPr sz="2025" b="0">
                <a:solidFill>
                  <a:srgbClr val="17243A"/>
                </a:solidFill>
                <a:latin typeface="Arial"/>
                <a:ea typeface="Arial"/>
                <a:cs typeface="Arial"/>
              </a:rPr>
              <a:t>Radiology and ECG report explanation</a:t>
            </a:r>
          </a:p>
          <a:p>
            <a:pPr algn="l">
              <a:defRPr sz="2025" b="0">
                <a:solidFill>
                  <a:srgbClr val="17243A"/>
                </a:solidFill>
                <a:latin typeface="Arial"/>
                <a:ea typeface="Arial"/>
                <a:cs typeface="Arial"/>
              </a:defRPr>
            </a:pPr>
            <a:r>
              <a:rPr sz="2025" b="0">
                <a:solidFill>
                  <a:srgbClr val="17243A"/>
                </a:solidFill>
                <a:latin typeface="Arial"/>
                <a:ea typeface="Arial"/>
                <a:cs typeface="Arial"/>
              </a:rPr>
              <a:t>At least two visible specialist handoffs</a:t>
            </a:r>
          </a:p>
          <a:p>
            <a:pPr algn="l">
              <a:defRPr sz="2025" b="0">
                <a:solidFill>
                  <a:srgbClr val="17243A"/>
                </a:solidFill>
                <a:latin typeface="Arial"/>
                <a:ea typeface="Arial"/>
                <a:cs typeface="Arial"/>
              </a:defRPr>
            </a:pPr>
            <a:r>
              <a:rPr sz="2025" b="0">
                <a:solidFill>
                  <a:srgbClr val="17243A"/>
                </a:solidFill>
                <a:latin typeface="Arial"/>
                <a:ea typeface="Arial"/>
                <a:cs typeface="Arial"/>
              </a:rPr>
              <a:t>Sources, limitations and a review gate</a:t>
            </a:r>
          </a:p>
        </p:txBody>
      </p:sp>
      <p:sp>
        <p:nvSpPr>
          <p:cNvPr id="7" name="Rectangle 6">
            <a:extLst>
              <a:ext uri="{FF2B5EF4-FFF2-40B4-BE49-F238E27FC236}">
                <a16:creationId xmlns:a16="http://schemas.microsoft.com/office/drawing/2014/main" id="{64E249ED-4985-4B94-B98C-6F0A14177745}"/>
              </a:ext>
            </a:extLst>
          </p:cNvPr>
          <p:cNvSpPr>
            <a:spLocks noGrp="1"/>
          </p:cNvSpPr>
          <p:nvPr/>
        </p:nvSpPr>
        <p:spPr>
          <a:xfrm>
            <a:off x="6715125" y="1571625"/>
            <a:ext cx="4857750" cy="428625"/>
          </a:xfrm>
          <a:prstGeom prst="rect">
            <a:avLst/>
          </a:prstGeom>
          <a:noFill/>
          <a:ln w="0">
            <a:noFill/>
          </a:ln>
        </p:spPr>
        <p:txBody>
          <a:bodyPr wrap="square" lIns="0" tIns="0" rIns="0" bIns="0" anchor="ctr">
            <a:noAutofit/>
          </a:bodyPr>
          <a:lstStyle>
            <a:defPPr algn="l">
              <a:defRPr sz="2250" b="1">
                <a:solidFill>
                  <a:srgbClr val="17243A"/>
                </a:solidFill>
                <a:latin typeface="Arial"/>
                <a:ea typeface="Arial"/>
                <a:cs typeface="Arial"/>
              </a:defRPr>
            </a:defPPr>
            <a:lvl1pPr algn="l">
              <a:defRPr sz="2250" b="1">
                <a:solidFill>
                  <a:srgbClr val="17243A"/>
                </a:solidFill>
                <a:latin typeface="Arial"/>
                <a:ea typeface="Arial"/>
                <a:cs typeface="Arial"/>
              </a:defRPr>
            </a:lvl1pPr>
            <a:lvl2pPr algn="l">
              <a:defRPr sz="2250" b="1">
                <a:solidFill>
                  <a:srgbClr val="17243A"/>
                </a:solidFill>
                <a:latin typeface="Arial"/>
                <a:ea typeface="Arial"/>
                <a:cs typeface="Arial"/>
              </a:defRPr>
            </a:lvl2pPr>
            <a:lvl3pPr algn="l">
              <a:defRPr sz="2250" b="1">
                <a:solidFill>
                  <a:srgbClr val="17243A"/>
                </a:solidFill>
                <a:latin typeface="Arial"/>
                <a:ea typeface="Arial"/>
                <a:cs typeface="Arial"/>
              </a:defRPr>
            </a:lvl3pPr>
            <a:lvl4pPr algn="l">
              <a:defRPr sz="2250" b="1">
                <a:solidFill>
                  <a:srgbClr val="17243A"/>
                </a:solidFill>
                <a:latin typeface="Arial"/>
                <a:ea typeface="Arial"/>
                <a:cs typeface="Arial"/>
              </a:defRPr>
            </a:lvl4pPr>
            <a:lvl5pPr algn="l">
              <a:defRPr sz="2250" b="1">
                <a:solidFill>
                  <a:srgbClr val="17243A"/>
                </a:solidFill>
                <a:latin typeface="Arial"/>
                <a:ea typeface="Arial"/>
                <a:cs typeface="Arial"/>
              </a:defRPr>
            </a:lvl5pPr>
            <a:lvl6pPr algn="l">
              <a:defRPr sz="2250" b="1">
                <a:solidFill>
                  <a:srgbClr val="17243A"/>
                </a:solidFill>
                <a:latin typeface="Arial"/>
                <a:ea typeface="Arial"/>
                <a:cs typeface="Arial"/>
              </a:defRPr>
            </a:lvl6pPr>
            <a:lvl7pPr algn="l">
              <a:defRPr sz="2250" b="1">
                <a:solidFill>
                  <a:srgbClr val="17243A"/>
                </a:solidFill>
                <a:latin typeface="Arial"/>
                <a:ea typeface="Arial"/>
                <a:cs typeface="Arial"/>
              </a:defRPr>
            </a:lvl7pPr>
            <a:lvl8pPr algn="l">
              <a:defRPr sz="2250" b="1">
                <a:solidFill>
                  <a:srgbClr val="17243A"/>
                </a:solidFill>
                <a:latin typeface="Arial"/>
                <a:ea typeface="Arial"/>
                <a:cs typeface="Arial"/>
              </a:defRPr>
            </a:lvl8pPr>
            <a:lvl9pPr algn="l">
              <a:defRPr sz="2250" b="1">
                <a:solidFill>
                  <a:srgbClr val="17243A"/>
                </a:solidFill>
                <a:latin typeface="Arial"/>
                <a:ea typeface="Arial"/>
                <a:cs typeface="Arial"/>
              </a:defRPr>
            </a:lvl9pPr>
          </a:lstStyle>
          <a:p>
            <a:pPr algn="l">
              <a:defRPr sz="2250" b="1">
                <a:solidFill>
                  <a:srgbClr val="17243A"/>
                </a:solidFill>
                <a:latin typeface="Arial"/>
                <a:ea typeface="Arial"/>
                <a:cs typeface="Arial"/>
              </a:defRPr>
            </a:pPr>
            <a:r>
              <a:rPr sz="2250" b="1">
                <a:solidFill>
                  <a:srgbClr val="17243A"/>
                </a:solidFill>
                <a:latin typeface="Arial"/>
                <a:ea typeface="Arial"/>
                <a:cs typeface="Arial"/>
              </a:rPr>
              <a:t>Harness implementation</a:t>
            </a:r>
          </a:p>
        </p:txBody>
      </p:sp>
      <p:sp>
        <p:nvSpPr>
          <p:cNvPr id="8" name="Rectangle 7">
            <a:extLst>
              <a:ext uri="{FF2B5EF4-FFF2-40B4-BE49-F238E27FC236}">
                <a16:creationId xmlns:a16="http://schemas.microsoft.com/office/drawing/2014/main" id="{3EAD0BA5-899E-4FFF-ABEB-7BEBA5F48086}"/>
              </a:ext>
            </a:extLst>
          </p:cNvPr>
          <p:cNvSpPr>
            <a:spLocks noGrp="1"/>
          </p:cNvSpPr>
          <p:nvPr/>
        </p:nvSpPr>
        <p:spPr>
          <a:xfrm>
            <a:off x="6715125" y="2190750"/>
            <a:ext cx="4857750" cy="2095500"/>
          </a:xfrm>
          <a:prstGeom prst="rect">
            <a:avLst/>
          </a:prstGeom>
          <a:noFill/>
          <a:ln w="0">
            <a:noFill/>
          </a:ln>
        </p:spPr>
        <p:txBody>
          <a:bodyPr wrap="square" lIns="0" tIns="0" rIns="0" bIns="0" anchor="ctr">
            <a:noAutofit/>
          </a:bodyPr>
          <a:lstStyle>
            <a:defPPr algn="l">
              <a:defRPr sz="2025" b="0">
                <a:solidFill>
                  <a:srgbClr val="17243A"/>
                </a:solidFill>
                <a:latin typeface="Arial"/>
                <a:ea typeface="Arial"/>
                <a:cs typeface="Arial"/>
              </a:defRPr>
            </a:defPPr>
            <a:lvl1pPr algn="l">
              <a:defRPr sz="2025" b="0">
                <a:solidFill>
                  <a:srgbClr val="17243A"/>
                </a:solidFill>
                <a:latin typeface="Arial"/>
                <a:ea typeface="Arial"/>
                <a:cs typeface="Arial"/>
              </a:defRPr>
            </a:lvl1pPr>
            <a:lvl2pPr algn="l">
              <a:defRPr sz="2025" b="0">
                <a:solidFill>
                  <a:srgbClr val="17243A"/>
                </a:solidFill>
                <a:latin typeface="Arial"/>
                <a:ea typeface="Arial"/>
                <a:cs typeface="Arial"/>
              </a:defRPr>
            </a:lvl2pPr>
            <a:lvl3pPr algn="l">
              <a:defRPr sz="2025" b="0">
                <a:solidFill>
                  <a:srgbClr val="17243A"/>
                </a:solidFill>
                <a:latin typeface="Arial"/>
                <a:ea typeface="Arial"/>
                <a:cs typeface="Arial"/>
              </a:defRPr>
            </a:lvl3pPr>
            <a:lvl4pPr algn="l">
              <a:defRPr sz="2025" b="0">
                <a:solidFill>
                  <a:srgbClr val="17243A"/>
                </a:solidFill>
                <a:latin typeface="Arial"/>
                <a:ea typeface="Arial"/>
                <a:cs typeface="Arial"/>
              </a:defRPr>
            </a:lvl4pPr>
            <a:lvl5pPr algn="l">
              <a:defRPr sz="2025" b="0">
                <a:solidFill>
                  <a:srgbClr val="17243A"/>
                </a:solidFill>
                <a:latin typeface="Arial"/>
                <a:ea typeface="Arial"/>
                <a:cs typeface="Arial"/>
              </a:defRPr>
            </a:lvl5pPr>
            <a:lvl6pPr algn="l">
              <a:defRPr sz="2025" b="0">
                <a:solidFill>
                  <a:srgbClr val="17243A"/>
                </a:solidFill>
                <a:latin typeface="Arial"/>
                <a:ea typeface="Arial"/>
                <a:cs typeface="Arial"/>
              </a:defRPr>
            </a:lvl6pPr>
            <a:lvl7pPr algn="l">
              <a:defRPr sz="2025" b="0">
                <a:solidFill>
                  <a:srgbClr val="17243A"/>
                </a:solidFill>
                <a:latin typeface="Arial"/>
                <a:ea typeface="Arial"/>
                <a:cs typeface="Arial"/>
              </a:defRPr>
            </a:lvl7pPr>
            <a:lvl8pPr algn="l">
              <a:defRPr sz="2025" b="0">
                <a:solidFill>
                  <a:srgbClr val="17243A"/>
                </a:solidFill>
                <a:latin typeface="Arial"/>
                <a:ea typeface="Arial"/>
                <a:cs typeface="Arial"/>
              </a:defRPr>
            </a:lvl8pPr>
            <a:lvl9pPr algn="l">
              <a:defRPr sz="2025" b="0">
                <a:solidFill>
                  <a:srgbClr val="17243A"/>
                </a:solidFill>
                <a:latin typeface="Arial"/>
                <a:ea typeface="Arial"/>
                <a:cs typeface="Arial"/>
              </a:defRPr>
            </a:lvl9pPr>
          </a:lstStyle>
          <a:p>
            <a:pPr algn="l">
              <a:defRPr sz="2025" b="0">
                <a:solidFill>
                  <a:srgbClr val="17243A"/>
                </a:solidFill>
                <a:latin typeface="Arial"/>
                <a:ea typeface="Arial"/>
                <a:cs typeface="Arial"/>
              </a:defRPr>
            </a:pPr>
            <a:r>
              <a:rPr sz="2025" b="0">
                <a:solidFill>
                  <a:srgbClr val="17243A"/>
                </a:solidFill>
                <a:latin typeface="Arial"/>
                <a:ea typeface="Arial"/>
                <a:cs typeface="Arial"/>
              </a:rPr>
              <a:t>Typed state and deterministic mock workers</a:t>
            </a:r>
          </a:p>
          <a:p>
            <a:pPr algn="l">
              <a:defRPr sz="2025" b="0">
                <a:solidFill>
                  <a:srgbClr val="17243A"/>
                </a:solidFill>
                <a:latin typeface="Arial"/>
                <a:ea typeface="Arial"/>
                <a:cs typeface="Arial"/>
              </a:defRPr>
            </a:pPr>
            <a:r>
              <a:rPr sz="2025" b="0">
                <a:solidFill>
                  <a:srgbClr val="17243A"/>
                </a:solidFill>
                <a:latin typeface="Arial"/>
                <a:ea typeface="Arial"/>
                <a:cs typeface="Arial"/>
              </a:rPr>
              <a:t>Ingestion, retrieval and model adapters</a:t>
            </a:r>
          </a:p>
          <a:p>
            <a:pPr algn="l">
              <a:defRPr sz="2025" b="0">
                <a:solidFill>
                  <a:srgbClr val="17243A"/>
                </a:solidFill>
                <a:latin typeface="Arial"/>
                <a:ea typeface="Arial"/>
                <a:cs typeface="Arial"/>
              </a:defRPr>
            </a:pPr>
            <a:r>
              <a:rPr sz="2025" b="0">
                <a:solidFill>
                  <a:srgbClr val="17243A"/>
                </a:solidFill>
                <a:latin typeface="Arial"/>
                <a:ea typeface="Arial"/>
                <a:cs typeface="Arial"/>
              </a:rPr>
              <a:t>Bounded recovery and guidance checks</a:t>
            </a:r>
          </a:p>
          <a:p>
            <a:pPr algn="l">
              <a:defRPr sz="2025" b="0">
                <a:solidFill>
                  <a:srgbClr val="17243A"/>
                </a:solidFill>
                <a:latin typeface="Arial"/>
                <a:ea typeface="Arial"/>
                <a:cs typeface="Arial"/>
              </a:defRPr>
            </a:pPr>
            <a:r>
              <a:rPr sz="2025" b="0">
                <a:solidFill>
                  <a:srgbClr val="17243A"/>
                </a:solidFill>
                <a:latin typeface="Arial"/>
                <a:ea typeface="Arial"/>
                <a:cs typeface="Arial"/>
              </a:rPr>
              <a:t>SSE timeline with durable trace export</a:t>
            </a:r>
          </a:p>
        </p:txBody>
      </p:sp>
      <p:sp>
        <p:nvSpPr>
          <p:cNvPr id="9" name="Rectangle 8">
            <a:extLst>
              <a:ext uri="{FF2B5EF4-FFF2-40B4-BE49-F238E27FC236}">
                <a16:creationId xmlns:a16="http://schemas.microsoft.com/office/drawing/2014/main" id="{82869CD6-BAE4-435A-9EA4-6E5596DFE05E}"/>
              </a:ext>
            </a:extLst>
          </p:cNvPr>
          <p:cNvSpPr>
            <a:spLocks noGrp="1"/>
          </p:cNvSpPr>
          <p:nvPr/>
        </p:nvSpPr>
        <p:spPr>
          <a:xfrm>
            <a:off x="495300" y="5657850"/>
            <a:ext cx="1666875" cy="266700"/>
          </a:xfrm>
          <a:prstGeom prst="rect">
            <a:avLst/>
          </a:prstGeom>
          <a:noFill/>
          <a:ln w="0">
            <a:noFill/>
          </a:ln>
        </p:spPr>
        <p:txBody>
          <a:bodyPr wrap="square" lIns="0" tIns="0" rIns="0" bIns="0" anchor="ctr">
            <a:noAutofit/>
          </a:bodyPr>
          <a:lstStyle>
            <a:defPPr algn="l">
              <a:defRPr sz="1200" b="1">
                <a:solidFill>
                  <a:srgbClr val="53647B"/>
                </a:solidFill>
                <a:latin typeface="Arial"/>
                <a:ea typeface="Arial"/>
                <a:cs typeface="Arial"/>
              </a:defRPr>
            </a:defPPr>
            <a:lvl1pPr algn="l">
              <a:defRPr sz="1200" b="1">
                <a:solidFill>
                  <a:srgbClr val="53647B"/>
                </a:solidFill>
                <a:latin typeface="Arial"/>
                <a:ea typeface="Arial"/>
                <a:cs typeface="Arial"/>
              </a:defRPr>
            </a:lvl1pPr>
            <a:lvl2pPr algn="l">
              <a:defRPr sz="1200" b="1">
                <a:solidFill>
                  <a:srgbClr val="53647B"/>
                </a:solidFill>
                <a:latin typeface="Arial"/>
                <a:ea typeface="Arial"/>
                <a:cs typeface="Arial"/>
              </a:defRPr>
            </a:lvl2pPr>
            <a:lvl3pPr algn="l">
              <a:defRPr sz="1200" b="1">
                <a:solidFill>
                  <a:srgbClr val="53647B"/>
                </a:solidFill>
                <a:latin typeface="Arial"/>
                <a:ea typeface="Arial"/>
                <a:cs typeface="Arial"/>
              </a:defRPr>
            </a:lvl3pPr>
            <a:lvl4pPr algn="l">
              <a:defRPr sz="1200" b="1">
                <a:solidFill>
                  <a:srgbClr val="53647B"/>
                </a:solidFill>
                <a:latin typeface="Arial"/>
                <a:ea typeface="Arial"/>
                <a:cs typeface="Arial"/>
              </a:defRPr>
            </a:lvl4pPr>
            <a:lvl5pPr algn="l">
              <a:defRPr sz="1200" b="1">
                <a:solidFill>
                  <a:srgbClr val="53647B"/>
                </a:solidFill>
                <a:latin typeface="Arial"/>
                <a:ea typeface="Arial"/>
                <a:cs typeface="Arial"/>
              </a:defRPr>
            </a:lvl5pPr>
            <a:lvl6pPr algn="l">
              <a:defRPr sz="1200" b="1">
                <a:solidFill>
                  <a:srgbClr val="53647B"/>
                </a:solidFill>
                <a:latin typeface="Arial"/>
                <a:ea typeface="Arial"/>
                <a:cs typeface="Arial"/>
              </a:defRPr>
            </a:lvl6pPr>
            <a:lvl7pPr algn="l">
              <a:defRPr sz="1200" b="1">
                <a:solidFill>
                  <a:srgbClr val="53647B"/>
                </a:solidFill>
                <a:latin typeface="Arial"/>
                <a:ea typeface="Arial"/>
                <a:cs typeface="Arial"/>
              </a:defRPr>
            </a:lvl7pPr>
            <a:lvl8pPr algn="l">
              <a:defRPr sz="1200" b="1">
                <a:solidFill>
                  <a:srgbClr val="53647B"/>
                </a:solidFill>
                <a:latin typeface="Arial"/>
                <a:ea typeface="Arial"/>
                <a:cs typeface="Arial"/>
              </a:defRPr>
            </a:lvl8pPr>
            <a:lvl9pPr algn="l">
              <a:defRPr sz="1200" b="1">
                <a:solidFill>
                  <a:srgbClr val="53647B"/>
                </a:solidFill>
                <a:latin typeface="Arial"/>
                <a:ea typeface="Arial"/>
                <a:cs typeface="Arial"/>
              </a:defRPr>
            </a:lvl9pPr>
          </a:lstStyle>
          <a:p>
            <a:pPr algn="l">
              <a:defRPr sz="1200" b="1">
                <a:solidFill>
                  <a:srgbClr val="53647B"/>
                </a:solidFill>
                <a:latin typeface="Arial"/>
                <a:ea typeface="Arial"/>
                <a:cs typeface="Arial"/>
              </a:defRPr>
            </a:pPr>
            <a:r>
              <a:rPr sz="1200" b="1">
                <a:solidFill>
                  <a:srgbClr val="53647B"/>
                </a:solidFill>
                <a:latin typeface="Arial"/>
                <a:ea typeface="Arial"/>
                <a:cs typeface="Arial"/>
              </a:rPr>
              <a:t>HONEST DEMO</a:t>
            </a:r>
          </a:p>
        </p:txBody>
      </p:sp>
      <p:sp>
        <p:nvSpPr>
          <p:cNvPr id="10" name="Rectangle 9">
            <a:extLst>
              <a:ext uri="{FF2B5EF4-FFF2-40B4-BE49-F238E27FC236}">
                <a16:creationId xmlns:a16="http://schemas.microsoft.com/office/drawing/2014/main" id="{28E3078B-F31C-47AE-8624-89C165448927}"/>
              </a:ext>
            </a:extLst>
          </p:cNvPr>
          <p:cNvSpPr>
            <a:spLocks noGrp="1"/>
          </p:cNvSpPr>
          <p:nvPr/>
        </p:nvSpPr>
        <p:spPr>
          <a:xfrm>
            <a:off x="2238375" y="5619750"/>
            <a:ext cx="9334500" cy="619125"/>
          </a:xfrm>
          <a:prstGeom prst="rect">
            <a:avLst/>
          </a:prstGeom>
          <a:noFill/>
          <a:ln w="0">
            <a:noFill/>
          </a:ln>
        </p:spPr>
        <p:txBody>
          <a:bodyPr wrap="square" lIns="0" tIns="0" rIns="0" bIns="0" anchor="ctr">
            <a:noAutofit/>
          </a:bodyPr>
          <a:lstStyle>
            <a:defPPr algn="l">
              <a:defRPr sz="1650" b="0">
                <a:solidFill>
                  <a:srgbClr val="17243A"/>
                </a:solidFill>
                <a:latin typeface="Arial"/>
                <a:ea typeface="Arial"/>
                <a:cs typeface="Arial"/>
              </a:defRPr>
            </a:defPPr>
            <a:lvl1pPr algn="l">
              <a:defRPr sz="1650" b="0">
                <a:solidFill>
                  <a:srgbClr val="17243A"/>
                </a:solidFill>
                <a:latin typeface="Arial"/>
                <a:ea typeface="Arial"/>
                <a:cs typeface="Arial"/>
              </a:defRPr>
            </a:lvl1pPr>
            <a:lvl2pPr algn="l">
              <a:defRPr sz="1650" b="0">
                <a:solidFill>
                  <a:srgbClr val="17243A"/>
                </a:solidFill>
                <a:latin typeface="Arial"/>
                <a:ea typeface="Arial"/>
                <a:cs typeface="Arial"/>
              </a:defRPr>
            </a:lvl2pPr>
            <a:lvl3pPr algn="l">
              <a:defRPr sz="1650" b="0">
                <a:solidFill>
                  <a:srgbClr val="17243A"/>
                </a:solidFill>
                <a:latin typeface="Arial"/>
                <a:ea typeface="Arial"/>
                <a:cs typeface="Arial"/>
              </a:defRPr>
            </a:lvl3pPr>
            <a:lvl4pPr algn="l">
              <a:defRPr sz="1650" b="0">
                <a:solidFill>
                  <a:srgbClr val="17243A"/>
                </a:solidFill>
                <a:latin typeface="Arial"/>
                <a:ea typeface="Arial"/>
                <a:cs typeface="Arial"/>
              </a:defRPr>
            </a:lvl4pPr>
            <a:lvl5pPr algn="l">
              <a:defRPr sz="1650" b="0">
                <a:solidFill>
                  <a:srgbClr val="17243A"/>
                </a:solidFill>
                <a:latin typeface="Arial"/>
                <a:ea typeface="Arial"/>
                <a:cs typeface="Arial"/>
              </a:defRPr>
            </a:lvl5pPr>
            <a:lvl6pPr algn="l">
              <a:defRPr sz="1650" b="0">
                <a:solidFill>
                  <a:srgbClr val="17243A"/>
                </a:solidFill>
                <a:latin typeface="Arial"/>
                <a:ea typeface="Arial"/>
                <a:cs typeface="Arial"/>
              </a:defRPr>
            </a:lvl6pPr>
            <a:lvl7pPr algn="l">
              <a:defRPr sz="1650" b="0">
                <a:solidFill>
                  <a:srgbClr val="17243A"/>
                </a:solidFill>
                <a:latin typeface="Arial"/>
                <a:ea typeface="Arial"/>
                <a:cs typeface="Arial"/>
              </a:defRPr>
            </a:lvl7pPr>
            <a:lvl8pPr algn="l">
              <a:defRPr sz="1650" b="0">
                <a:solidFill>
                  <a:srgbClr val="17243A"/>
                </a:solidFill>
                <a:latin typeface="Arial"/>
                <a:ea typeface="Arial"/>
                <a:cs typeface="Arial"/>
              </a:defRPr>
            </a:lvl8pPr>
            <a:lvl9pPr algn="l">
              <a:defRPr sz="1650" b="0">
                <a:solidFill>
                  <a:srgbClr val="17243A"/>
                </a:solidFill>
                <a:latin typeface="Arial"/>
                <a:ea typeface="Arial"/>
                <a:cs typeface="Arial"/>
              </a:defRPr>
            </a:lvl9pPr>
          </a:lstStyle>
          <a:p>
            <a:pPr algn="l">
              <a:defRPr sz="1650" b="0">
                <a:solidFill>
                  <a:srgbClr val="17243A"/>
                </a:solidFill>
                <a:latin typeface="Arial"/>
                <a:ea typeface="Arial"/>
                <a:cs typeface="Arial"/>
              </a:defRPr>
            </a:pPr>
            <a:r>
              <a:rPr sz="1650" b="0">
                <a:solidFill>
                  <a:srgbClr val="17243A"/>
                </a:solidFill>
                <a:latin typeface="Arial"/>
                <a:ea typeface="Arial"/>
                <a:cs typeface="Arial"/>
              </a:rPr>
              <a:t>Label fixtures, report-derived findings, unverified models and replayed runs.</a:t>
            </a:r>
          </a:p>
        </p:txBody>
      </p:sp>
      <p:sp>
        <p:nvSpPr>
          <p:cNvPr id="11" name="Rectangle: Rounded Corners 10">
            <a:extLst>
              <a:ext uri="{FF2B5EF4-FFF2-40B4-BE49-F238E27FC236}">
                <a16:creationId xmlns:a16="http://schemas.microsoft.com/office/drawing/2014/main" id="{55A2C012-F74D-4700-A7F4-DAFDF70055DA}"/>
              </a:ext>
            </a:extLst>
          </p:cNvPr>
          <p:cNvSpPr>
            <a:spLocks noGrp="1"/>
          </p:cNvSpPr>
          <p:nvPr/>
        </p:nvSpPr>
        <p:spPr>
          <a:xfrm>
            <a:off x="495300" y="6429375"/>
            <a:ext cx="142875" cy="142875"/>
          </a:xfrm>
          <a:prstGeom prst="roundRect">
            <a:avLst>
              <a:gd name="adj" fmla="val 50000"/>
            </a:avLst>
          </a:prstGeom>
          <a:solidFill>
            <a:srgbClr val="F0E8FC"/>
          </a:solidFill>
          <a:ln w="14288">
            <a:solidFill>
              <a:srgbClr val="8B5FC7"/>
            </a:solidFill>
          </a:ln>
        </p:spPr>
        <p:txBody>
          <a:bodyPr/>
          <a:lstStyle/>
          <a:p>
            <a:endParaRPr lang="en-US"/>
          </a:p>
        </p:txBody>
      </p:sp>
      <p:sp>
        <p:nvSpPr>
          <p:cNvPr id="12" name="Rectangle 11">
            <a:extLst>
              <a:ext uri="{FF2B5EF4-FFF2-40B4-BE49-F238E27FC236}">
                <a16:creationId xmlns:a16="http://schemas.microsoft.com/office/drawing/2014/main" id="{B8F35059-0416-428D-9174-332DE95A3E84}"/>
              </a:ext>
            </a:extLst>
          </p:cNvPr>
          <p:cNvSpPr>
            <a:spLocks noGrp="1"/>
          </p:cNvSpPr>
          <p:nvPr/>
        </p:nvSpPr>
        <p:spPr>
          <a:xfrm>
            <a:off x="714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Model call</a:t>
            </a:r>
          </a:p>
        </p:txBody>
      </p:sp>
      <p:sp>
        <p:nvSpPr>
          <p:cNvPr id="13" name="Rectangle: Rounded Corners 12">
            <a:extLst>
              <a:ext uri="{FF2B5EF4-FFF2-40B4-BE49-F238E27FC236}">
                <a16:creationId xmlns:a16="http://schemas.microsoft.com/office/drawing/2014/main" id="{E52D0605-B834-42B2-B0CF-6BA50049BCA8}"/>
              </a:ext>
            </a:extLst>
          </p:cNvPr>
          <p:cNvSpPr>
            <a:spLocks noGrp="1"/>
          </p:cNvSpPr>
          <p:nvPr/>
        </p:nvSpPr>
        <p:spPr>
          <a:xfrm>
            <a:off x="2686050" y="6429375"/>
            <a:ext cx="142875" cy="142875"/>
          </a:xfrm>
          <a:prstGeom prst="roundRect">
            <a:avLst>
              <a:gd name="adj" fmla="val 50000"/>
            </a:avLst>
          </a:prstGeom>
          <a:solidFill>
            <a:srgbClr val="EAF1FB"/>
          </a:solidFill>
          <a:ln w="14288">
            <a:solidFill>
              <a:srgbClr val="6D91C9"/>
            </a:solidFill>
          </a:ln>
        </p:spPr>
        <p:txBody>
          <a:bodyPr/>
          <a:lstStyle/>
          <a:p>
            <a:endParaRPr lang="en-US"/>
          </a:p>
        </p:txBody>
      </p:sp>
      <p:sp>
        <p:nvSpPr>
          <p:cNvPr id="14" name="Rectangle 13">
            <a:extLst>
              <a:ext uri="{FF2B5EF4-FFF2-40B4-BE49-F238E27FC236}">
                <a16:creationId xmlns:a16="http://schemas.microsoft.com/office/drawing/2014/main" id="{443E8DC8-7050-4028-96DF-35548A080EF7}"/>
              </a:ext>
            </a:extLst>
          </p:cNvPr>
          <p:cNvSpPr>
            <a:spLocks noGrp="1"/>
          </p:cNvSpPr>
          <p:nvPr/>
        </p:nvSpPr>
        <p:spPr>
          <a:xfrm>
            <a:off x="29051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Runtime / code</a:t>
            </a:r>
          </a:p>
        </p:txBody>
      </p:sp>
      <p:sp>
        <p:nvSpPr>
          <p:cNvPr id="15" name="Rectangle: Rounded Corners 14">
            <a:extLst>
              <a:ext uri="{FF2B5EF4-FFF2-40B4-BE49-F238E27FC236}">
                <a16:creationId xmlns:a16="http://schemas.microsoft.com/office/drawing/2014/main" id="{98597883-8711-4756-A12A-CC0FA64DD667}"/>
              </a:ext>
            </a:extLst>
          </p:cNvPr>
          <p:cNvSpPr>
            <a:spLocks noGrp="1"/>
          </p:cNvSpPr>
          <p:nvPr/>
        </p:nvSpPr>
        <p:spPr>
          <a:xfrm>
            <a:off x="4876800" y="6429375"/>
            <a:ext cx="142875" cy="142875"/>
          </a:xfrm>
          <a:prstGeom prst="roundRect">
            <a:avLst>
              <a:gd name="adj" fmla="val 50000"/>
            </a:avLst>
          </a:prstGeom>
          <a:solidFill>
            <a:srgbClr val="E6F3F1"/>
          </a:solidFill>
          <a:ln w="14288">
            <a:solidFill>
              <a:srgbClr val="4D978E"/>
            </a:solidFill>
          </a:ln>
        </p:spPr>
        <p:txBody>
          <a:bodyPr/>
          <a:lstStyle/>
          <a:p>
            <a:endParaRPr lang="en-US"/>
          </a:p>
        </p:txBody>
      </p:sp>
      <p:sp>
        <p:nvSpPr>
          <p:cNvPr id="16" name="Rectangle 15">
            <a:extLst>
              <a:ext uri="{FF2B5EF4-FFF2-40B4-BE49-F238E27FC236}">
                <a16:creationId xmlns:a16="http://schemas.microsoft.com/office/drawing/2014/main" id="{4885FF45-1AE8-4772-8B32-2B88C80EA7E9}"/>
              </a:ext>
            </a:extLst>
          </p:cNvPr>
          <p:cNvSpPr>
            <a:spLocks noGrp="1"/>
          </p:cNvSpPr>
          <p:nvPr/>
        </p:nvSpPr>
        <p:spPr>
          <a:xfrm>
            <a:off x="50958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Data / store</a:t>
            </a:r>
          </a:p>
        </p:txBody>
      </p:sp>
      <p:sp>
        <p:nvSpPr>
          <p:cNvPr id="17" name="Rectangle: Rounded Corners 16">
            <a:extLst>
              <a:ext uri="{FF2B5EF4-FFF2-40B4-BE49-F238E27FC236}">
                <a16:creationId xmlns:a16="http://schemas.microsoft.com/office/drawing/2014/main" id="{4434FC54-0F92-4EB4-A3D6-9179E8C0903D}"/>
              </a:ext>
            </a:extLst>
          </p:cNvPr>
          <p:cNvSpPr>
            <a:spLocks noGrp="1"/>
          </p:cNvSpPr>
          <p:nvPr/>
        </p:nvSpPr>
        <p:spPr>
          <a:xfrm>
            <a:off x="7067550" y="6429375"/>
            <a:ext cx="142875" cy="142875"/>
          </a:xfrm>
          <a:prstGeom prst="roundRect">
            <a:avLst>
              <a:gd name="adj" fmla="val 50000"/>
            </a:avLst>
          </a:prstGeom>
          <a:solidFill>
            <a:srgbClr val="EDF5E8"/>
          </a:solidFill>
          <a:ln w="14288">
            <a:solidFill>
              <a:srgbClr val="71A266"/>
            </a:solidFill>
          </a:ln>
        </p:spPr>
        <p:txBody>
          <a:bodyPr/>
          <a:lstStyle/>
          <a:p>
            <a:endParaRPr lang="en-US"/>
          </a:p>
        </p:txBody>
      </p:sp>
      <p:sp>
        <p:nvSpPr>
          <p:cNvPr id="18" name="Rectangle 17">
            <a:extLst>
              <a:ext uri="{FF2B5EF4-FFF2-40B4-BE49-F238E27FC236}">
                <a16:creationId xmlns:a16="http://schemas.microsoft.com/office/drawing/2014/main" id="{28F5CF35-E74A-40DB-AF93-977107B4BC41}"/>
              </a:ext>
            </a:extLst>
          </p:cNvPr>
          <p:cNvSpPr>
            <a:spLocks noGrp="1"/>
          </p:cNvSpPr>
          <p:nvPr/>
        </p:nvSpPr>
        <p:spPr>
          <a:xfrm>
            <a:off x="728662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Gate / approved scope</a:t>
            </a:r>
          </a:p>
        </p:txBody>
      </p:sp>
      <p:sp>
        <p:nvSpPr>
          <p:cNvPr id="19" name="Rectangle: Rounded Corners 18">
            <a:extLst>
              <a:ext uri="{FF2B5EF4-FFF2-40B4-BE49-F238E27FC236}">
                <a16:creationId xmlns:a16="http://schemas.microsoft.com/office/drawing/2014/main" id="{5A06F03F-2416-4165-9C5A-B962A4B7530F}"/>
              </a:ext>
            </a:extLst>
          </p:cNvPr>
          <p:cNvSpPr>
            <a:spLocks noGrp="1"/>
          </p:cNvSpPr>
          <p:nvPr/>
        </p:nvSpPr>
        <p:spPr>
          <a:xfrm>
            <a:off x="9258300" y="6429375"/>
            <a:ext cx="142875" cy="142875"/>
          </a:xfrm>
          <a:prstGeom prst="roundRect">
            <a:avLst>
              <a:gd name="adj" fmla="val 50000"/>
            </a:avLst>
          </a:prstGeom>
          <a:solidFill>
            <a:srgbClr val="FFF2DC"/>
          </a:solidFill>
          <a:ln w="14288">
            <a:solidFill>
              <a:srgbClr val="CD9648"/>
            </a:solidFill>
          </a:ln>
        </p:spPr>
        <p:txBody>
          <a:bodyPr/>
          <a:lstStyle/>
          <a:p>
            <a:endParaRPr lang="en-US"/>
          </a:p>
        </p:txBody>
      </p:sp>
      <p:sp>
        <p:nvSpPr>
          <p:cNvPr id="20" name="Rectangle 19">
            <a:extLst>
              <a:ext uri="{FF2B5EF4-FFF2-40B4-BE49-F238E27FC236}">
                <a16:creationId xmlns:a16="http://schemas.microsoft.com/office/drawing/2014/main" id="{55A736C1-852E-4FAE-9952-8E753EEF4DC8}"/>
              </a:ext>
            </a:extLst>
          </p:cNvPr>
          <p:cNvSpPr>
            <a:spLocks noGrp="1"/>
          </p:cNvSpPr>
          <p:nvPr/>
        </p:nvSpPr>
        <p:spPr>
          <a:xfrm>
            <a:off x="9477375" y="6372225"/>
            <a:ext cx="1952625" cy="257175"/>
          </a:xfrm>
          <a:prstGeom prst="rect">
            <a:avLst/>
          </a:prstGeom>
          <a:noFill/>
          <a:ln w="0">
            <a:noFill/>
          </a:ln>
        </p:spPr>
        <p:txBody>
          <a:bodyPr wrap="square" lIns="0" tIns="0" rIns="0" bIns="0" anchor="ctr">
            <a:noAutofit/>
          </a:bodyPr>
          <a:lstStyle>
            <a:defPPr algn="l">
              <a:defRPr sz="1125" b="0">
                <a:solidFill>
                  <a:srgbClr val="53647B"/>
                </a:solidFill>
                <a:latin typeface="Arial"/>
                <a:ea typeface="Arial"/>
                <a:cs typeface="Arial"/>
              </a:defRPr>
            </a:defPPr>
            <a:lvl1pPr algn="l">
              <a:defRPr sz="1125" b="0">
                <a:solidFill>
                  <a:srgbClr val="53647B"/>
                </a:solidFill>
                <a:latin typeface="Arial"/>
                <a:ea typeface="Arial"/>
                <a:cs typeface="Arial"/>
              </a:defRPr>
            </a:lvl1pPr>
            <a:lvl2pPr algn="l">
              <a:defRPr sz="1125" b="0">
                <a:solidFill>
                  <a:srgbClr val="53647B"/>
                </a:solidFill>
                <a:latin typeface="Arial"/>
                <a:ea typeface="Arial"/>
                <a:cs typeface="Arial"/>
              </a:defRPr>
            </a:lvl2pPr>
            <a:lvl3pPr algn="l">
              <a:defRPr sz="1125" b="0">
                <a:solidFill>
                  <a:srgbClr val="53647B"/>
                </a:solidFill>
                <a:latin typeface="Arial"/>
                <a:ea typeface="Arial"/>
                <a:cs typeface="Arial"/>
              </a:defRPr>
            </a:lvl3pPr>
            <a:lvl4pPr algn="l">
              <a:defRPr sz="1125" b="0">
                <a:solidFill>
                  <a:srgbClr val="53647B"/>
                </a:solidFill>
                <a:latin typeface="Arial"/>
                <a:ea typeface="Arial"/>
                <a:cs typeface="Arial"/>
              </a:defRPr>
            </a:lvl4pPr>
            <a:lvl5pPr algn="l">
              <a:defRPr sz="1125" b="0">
                <a:solidFill>
                  <a:srgbClr val="53647B"/>
                </a:solidFill>
                <a:latin typeface="Arial"/>
                <a:ea typeface="Arial"/>
                <a:cs typeface="Arial"/>
              </a:defRPr>
            </a:lvl5pPr>
            <a:lvl6pPr algn="l">
              <a:defRPr sz="1125" b="0">
                <a:solidFill>
                  <a:srgbClr val="53647B"/>
                </a:solidFill>
                <a:latin typeface="Arial"/>
                <a:ea typeface="Arial"/>
                <a:cs typeface="Arial"/>
              </a:defRPr>
            </a:lvl6pPr>
            <a:lvl7pPr algn="l">
              <a:defRPr sz="1125" b="0">
                <a:solidFill>
                  <a:srgbClr val="53647B"/>
                </a:solidFill>
                <a:latin typeface="Arial"/>
                <a:ea typeface="Arial"/>
                <a:cs typeface="Arial"/>
              </a:defRPr>
            </a:lvl7pPr>
            <a:lvl8pPr algn="l">
              <a:defRPr sz="1125" b="0">
                <a:solidFill>
                  <a:srgbClr val="53647B"/>
                </a:solidFill>
                <a:latin typeface="Arial"/>
                <a:ea typeface="Arial"/>
                <a:cs typeface="Arial"/>
              </a:defRPr>
            </a:lvl8pPr>
            <a:lvl9pPr algn="l">
              <a:defRPr sz="1125" b="0">
                <a:solidFill>
                  <a:srgbClr val="53647B"/>
                </a:solidFill>
                <a:latin typeface="Arial"/>
                <a:ea typeface="Arial"/>
                <a:cs typeface="Arial"/>
              </a:defRPr>
            </a:lvl9pPr>
          </a:lstStyle>
          <a:p>
            <a:pPr algn="l">
              <a:defRPr sz="1125" b="0">
                <a:solidFill>
                  <a:srgbClr val="53647B"/>
                </a:solidFill>
                <a:latin typeface="Arial"/>
                <a:ea typeface="Arial"/>
                <a:cs typeface="Arial"/>
              </a:defRPr>
            </a:pPr>
            <a:r>
              <a:rPr sz="1125" b="0">
                <a:solidFill>
                  <a:srgbClr val="53647B"/>
                </a:solidFill>
                <a:latin typeface="Arial"/>
                <a:ea typeface="Arial"/>
                <a:cs typeface="Arial"/>
              </a:rPr>
              <a:t>Pause / optional</a:t>
            </a:r>
          </a:p>
        </p:txBody>
      </p:sp>
      <p:sp>
        <p:nvSpPr>
          <p:cNvPr id="21" name="Rectangle 20">
            <a:extLst>
              <a:ext uri="{FF2B5EF4-FFF2-40B4-BE49-F238E27FC236}">
                <a16:creationId xmlns:a16="http://schemas.microsoft.com/office/drawing/2014/main" id="{5323CBB0-B40A-47F7-8CBC-F8089076C603}"/>
              </a:ext>
            </a:extLst>
          </p:cNvPr>
          <p:cNvSpPr>
            <a:spLocks noGrp="1"/>
          </p:cNvSpPr>
          <p:nvPr/>
        </p:nvSpPr>
        <p:spPr>
          <a:xfrm>
            <a:off x="11382375" y="6381750"/>
            <a:ext cx="381000" cy="266700"/>
          </a:xfrm>
          <a:prstGeom prst="rect">
            <a:avLst/>
          </a:prstGeom>
          <a:noFill/>
          <a:ln w="0">
            <a:noFill/>
          </a:ln>
        </p:spPr>
        <p:txBody>
          <a:bodyPr wrap="square" lIns="0" tIns="0" rIns="0" bIns="0" anchor="ctr">
            <a:noAutofit/>
          </a:bodyPr>
          <a:lstStyle>
            <a:defPPr algn="ctr">
              <a:defRPr sz="1200" b="0">
                <a:solidFill>
                  <a:srgbClr val="53647B"/>
                </a:solidFill>
                <a:latin typeface="Arial"/>
                <a:ea typeface="Arial"/>
                <a:cs typeface="Arial"/>
              </a:defRPr>
            </a:defPPr>
            <a:lvl1pPr algn="ctr">
              <a:defRPr sz="1200" b="0">
                <a:solidFill>
                  <a:srgbClr val="53647B"/>
                </a:solidFill>
                <a:latin typeface="Arial"/>
                <a:ea typeface="Arial"/>
                <a:cs typeface="Arial"/>
              </a:defRPr>
            </a:lvl1pPr>
            <a:lvl2pPr algn="ctr">
              <a:defRPr sz="1200" b="0">
                <a:solidFill>
                  <a:srgbClr val="53647B"/>
                </a:solidFill>
                <a:latin typeface="Arial"/>
                <a:ea typeface="Arial"/>
                <a:cs typeface="Arial"/>
              </a:defRPr>
            </a:lvl2pPr>
            <a:lvl3pPr algn="ctr">
              <a:defRPr sz="1200" b="0">
                <a:solidFill>
                  <a:srgbClr val="53647B"/>
                </a:solidFill>
                <a:latin typeface="Arial"/>
                <a:ea typeface="Arial"/>
                <a:cs typeface="Arial"/>
              </a:defRPr>
            </a:lvl3pPr>
            <a:lvl4pPr algn="ctr">
              <a:defRPr sz="1200" b="0">
                <a:solidFill>
                  <a:srgbClr val="53647B"/>
                </a:solidFill>
                <a:latin typeface="Arial"/>
                <a:ea typeface="Arial"/>
                <a:cs typeface="Arial"/>
              </a:defRPr>
            </a:lvl4pPr>
            <a:lvl5pPr algn="ctr">
              <a:defRPr sz="1200" b="0">
                <a:solidFill>
                  <a:srgbClr val="53647B"/>
                </a:solidFill>
                <a:latin typeface="Arial"/>
                <a:ea typeface="Arial"/>
                <a:cs typeface="Arial"/>
              </a:defRPr>
            </a:lvl5pPr>
            <a:lvl6pPr algn="ctr">
              <a:defRPr sz="1200" b="0">
                <a:solidFill>
                  <a:srgbClr val="53647B"/>
                </a:solidFill>
                <a:latin typeface="Arial"/>
                <a:ea typeface="Arial"/>
                <a:cs typeface="Arial"/>
              </a:defRPr>
            </a:lvl6pPr>
            <a:lvl7pPr algn="ctr">
              <a:defRPr sz="1200" b="0">
                <a:solidFill>
                  <a:srgbClr val="53647B"/>
                </a:solidFill>
                <a:latin typeface="Arial"/>
                <a:ea typeface="Arial"/>
                <a:cs typeface="Arial"/>
              </a:defRPr>
            </a:lvl7pPr>
            <a:lvl8pPr algn="ctr">
              <a:defRPr sz="1200" b="0">
                <a:solidFill>
                  <a:srgbClr val="53647B"/>
                </a:solidFill>
                <a:latin typeface="Arial"/>
                <a:ea typeface="Arial"/>
                <a:cs typeface="Arial"/>
              </a:defRPr>
            </a:lvl8pPr>
            <a:lvl9pPr algn="ctr">
              <a:defRPr sz="1200" b="0">
                <a:solidFill>
                  <a:srgbClr val="53647B"/>
                </a:solidFill>
                <a:latin typeface="Arial"/>
                <a:ea typeface="Arial"/>
                <a:cs typeface="Arial"/>
              </a:defRPr>
            </a:lvl9pPr>
          </a:lstStyle>
          <a:p>
            <a:pPr algn="ctr">
              <a:defRPr sz="1200" b="0">
                <a:solidFill>
                  <a:srgbClr val="53647B"/>
                </a:solidFill>
                <a:latin typeface="Arial"/>
                <a:ea typeface="Arial"/>
                <a:cs typeface="Arial"/>
              </a:defRPr>
            </a:pPr>
            <a:r>
              <a:rPr sz="1200" b="0">
                <a:solidFill>
                  <a:srgbClr val="53647B"/>
                </a:solidFill>
                <a:latin typeface="Arial"/>
                <a:ea typeface="Arial"/>
                <a:cs typeface="Arial"/>
              </a:rPr>
              <a:t>15</a:t>
            </a:r>
          </a:p>
        </p:txBody>
      </p:sp>
    </p:spTree>
    <p:extLst>
      <p:ext uri="{BB962C8B-B14F-4D97-AF65-F5344CB8AC3E}">
        <p14:creationId xmlns:p14="http://schemas.microsoft.com/office/powerpoint/2010/main" val="263612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2985</Words>
  <Application>Microsoft Office PowerPoint</Application>
  <DocSecurity>0</DocSecurity>
  <PresentationFormat>Widescreen</PresentationFormat>
  <Paragraphs>398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Zhu, Daniel</cp:lastModifiedBy>
  <cp:revision>1</cp:revision>
  <dcterms:created xsi:type="dcterms:W3CDTF">2026-10-23T08:01:23Z</dcterms:created>
  <dcterms:modified xsi:type="dcterms:W3CDTF">2026-10-23T15:44:54Z</dcterms:modified>
</cp:coreProperties>
</file>